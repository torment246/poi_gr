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67" r:id="rId4"/>
    <p:sldId id="268" r:id="rId5"/>
    <p:sldId id="269" r:id="rId6"/>
    <p:sldId id="270" r:id="rId7"/>
    <p:sldId id="271" r:id="rId8"/>
    <p:sldId id="273" r:id="rId9"/>
    <p:sldId id="274" r:id="rId10"/>
    <p:sldId id="275" r:id="rId11"/>
    <p:sldId id="276" r:id="rId12"/>
    <p:sldId id="258" r:id="rId13"/>
    <p:sldId id="259" r:id="rId14"/>
    <p:sldId id="260" r:id="rId15"/>
    <p:sldId id="261" r:id="rId16"/>
    <p:sldId id="262" r:id="rId17"/>
    <p:sldId id="263" r:id="rId18"/>
    <p:sldId id="266" r:id="rId19"/>
    <p:sldId id="278" r:id="rId20"/>
  </p:sldIdLst>
  <p:sldSz cx="12192000" cy="6858000"/>
  <p:notesSz cx="6858000" cy="9144000"/>
  <p:custDataLst>
    <p:tags r:id="rId2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6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F4FF"/>
    <a:srgbClr val="F8FBFD"/>
    <a:srgbClr val="2E7CF6"/>
    <a:srgbClr val="9ECCFD"/>
    <a:srgbClr val="93C5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85"/>
    <p:restoredTop sz="84211"/>
  </p:normalViewPr>
  <p:slideViewPr>
    <p:cSldViewPr snapToGrid="0" snapToObjects="1" showGuides="1">
      <p:cViewPr varScale="1">
        <p:scale>
          <a:sx n="99" d="100"/>
          <a:sy n="99" d="100"/>
        </p:scale>
        <p:origin x="1016" y="176"/>
      </p:cViewPr>
      <p:guideLst>
        <p:guide orient="horz" pos="2226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85016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53966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b="0" dirty="0">
              <a:solidFill>
                <a:srgbClr val="111827"/>
              </a:solidFill>
              <a:latin typeface="Microsoft YaHei"/>
              <a:ea typeface="微软雅黑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3405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2557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61206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35814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74605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44420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60203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0756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83479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30095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02312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34477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88324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34075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81639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9904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6489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F8015-DF84-41FA-9E94-BA51DE2E4658}" type="datetime1">
              <a:rPr lang="en-US" altLang="zh-CN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3B06F-833C-4282-8B21-93F195BE9DCF}" type="datetime1">
              <a:rPr lang="en-US" altLang="zh-CN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21281-1D44-441C-9DDE-B4936627E1FE}" type="datetime1">
              <a:rPr lang="en-US" altLang="zh-CN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997AF-337D-4308-80A8-0E4FAAFEF77A}" type="datetime1">
              <a:rPr lang="en-US" altLang="zh-CN" smtClean="0"/>
              <a:t>9/13/26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0E11C-AF29-404B-84BD-C97916AD109A}" type="datetime1">
              <a:rPr lang="en-US" altLang="zh-CN" smtClean="0"/>
              <a:t>9/13/26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8B016-4D35-4FFA-AAB2-911F490527D3}" type="datetime1">
              <a:rPr lang="en-US" altLang="zh-CN" smtClean="0"/>
              <a:t>9/13/26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8FBFD-206E-4DB4-97C7-5AD8A1A0F586}" type="datetime1">
              <a:rPr lang="en-US" altLang="zh-CN" smtClean="0"/>
              <a:t>9/13/26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5EDB8-0579-4265-A8F4-6EA70868C754}" type="datetime1">
              <a:rPr lang="en-US" altLang="zh-CN" smtClean="0"/>
              <a:t>9/13/26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23B87-9435-4C0A-8A1E-F5BBFA32C3C5}" type="datetime1">
              <a:rPr lang="en-US" altLang="zh-CN" smtClean="0"/>
              <a:t>9/13/26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62101-079D-4F99-B83B-6106A3082DC1}" type="datetime1">
              <a:rPr lang="en-US" altLang="zh-CN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6800F-0336-42AD-AB4C-E188E73DB4FB}" type="datetime1">
              <a:rPr lang="en-US" altLang="zh-CN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结束页">
    <p:bg>
      <p:bgPr>
        <a:solidFill>
          <a:srgbClr val="0252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-5259" y="6586256"/>
            <a:ext cx="12192001" cy="23495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5" name="图像" descr="图像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8311" y="6615448"/>
            <a:ext cx="207699" cy="176566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46" y="6473952"/>
            <a:ext cx="11201983" cy="0"/>
          </a:xfrm>
          <a:prstGeom prst="line">
            <a:avLst/>
          </a:prstGeom>
          <a:noFill/>
          <a:ln w="9525">
            <a:solidFill>
              <a:srgbClr val="E6ED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93145" y="6519672"/>
            <a:ext cx="2011785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C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MobilityBench POI, N=109385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9207" y="6519672"/>
            <a:ext cx="800042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9AA8B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/>
          <p:nvPr userDrawn="1"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A3A6B"/>
              </a:gs>
              <a:gs pos="100000">
                <a:srgbClr val="2E7CF6"/>
              </a:gs>
            </a:gsLst>
            <a:lin ang="0" scaled="1"/>
          </a:gradFill>
          <a:ln>
            <a:noFill/>
          </a:ln>
        </p:spPr>
      </p:sp>
      <p:sp>
        <p:nvSpPr>
          <p:cNvPr id="8" name="Rectangle 4"/>
          <p:cNvSpPr/>
          <p:nvPr userDrawn="1"/>
        </p:nvSpPr>
        <p:spPr>
          <a:xfrm>
            <a:off x="0" y="0"/>
            <a:ext cx="57150" cy="762000"/>
          </a:xfrm>
          <a:prstGeom prst="rect">
            <a:avLst/>
          </a:prstGeom>
          <a:solidFill>
            <a:srgbClr val="00C2A8"/>
          </a:solidFill>
          <a:ln>
            <a:noFill/>
          </a:ln>
        </p:spPr>
      </p:sp>
      <p:sp>
        <p:nvSpPr>
          <p:cNvPr id="9" name="Rectangle 8"/>
          <p:cNvSpPr/>
          <p:nvPr userDrawn="1"/>
        </p:nvSpPr>
        <p:spPr>
          <a:xfrm>
            <a:off x="0" y="762000"/>
            <a:ext cx="12192000" cy="38100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150" y="0"/>
            <a:ext cx="82296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3614C7-14EB-4084-AC4C-AAFA56794DEF}" type="datetime1">
              <a:rPr lang="en-US" altLang="zh-CN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584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1" kern="1200" baseline="0">
          <a:solidFill>
            <a:schemeClr val="bg1"/>
          </a:solidFill>
          <a:latin typeface="Times New Roman" panose="02020603050405020304" pitchFamily="18" charset="0"/>
          <a:ea typeface="微软雅黑" panose="020B0503020204020204" pitchFamily="34" charset="-122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749039" y="2897463"/>
            <a:ext cx="4700016" cy="56015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sz="3400" b="1" dirty="0" err="1">
                <a:solidFill>
                  <a:srgbClr val="000000"/>
                </a:solidFill>
                <a:latin typeface="微软雅黑"/>
              </a:rPr>
              <a:t>组会汇报</a:t>
            </a:r>
            <a:endParaRPr sz="3400" b="1" dirty="0">
              <a:solidFill>
                <a:srgbClr val="111827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54A94-21D4-EEF2-16DD-B62503A73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10" y="91441"/>
            <a:ext cx="3516367" cy="576072"/>
          </a:xfrm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CN" altLang="en-US" sz="2800" dirty="0">
                <a:solidFill>
                  <a:srgbClr val="FFFFFF"/>
                </a:solidFill>
                <a:latin typeface="Microsoft YaHei"/>
                <a:ea typeface="微软雅黑"/>
              </a:rPr>
              <a:t>生成式检索存在问题</a:t>
            </a:r>
            <a:endParaRPr sz="2800" dirty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6" name="method_node"/>
          <p:cNvSpPr/>
          <p:nvPr/>
        </p:nvSpPr>
        <p:spPr>
          <a:xfrm>
            <a:off x="603504" y="1611762"/>
            <a:ext cx="2441448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b="0" dirty="0">
                <a:solidFill>
                  <a:srgbClr val="111827"/>
                </a:solidFill>
                <a:latin typeface="Microsoft YaHei"/>
                <a:ea typeface="微软雅黑"/>
              </a:rPr>
              <a:t>POI </a:t>
            </a:r>
            <a:r>
              <a:rPr b="0" dirty="0" err="1">
                <a:solidFill>
                  <a:srgbClr val="111827"/>
                </a:solidFill>
                <a:latin typeface="Microsoft YaHei"/>
                <a:ea typeface="微软雅黑"/>
              </a:rPr>
              <a:t>文本</a:t>
            </a:r>
            <a:r>
              <a:rPr lang="zh-CN" altLang="en-US" dirty="0">
                <a:solidFill>
                  <a:srgbClr val="111827"/>
                </a:solidFill>
                <a:latin typeface="Microsoft YaHei"/>
                <a:ea typeface="微软雅黑"/>
              </a:rPr>
              <a:t>向量</a:t>
            </a:r>
            <a:endParaRPr b="0" dirty="0">
              <a:solidFill>
                <a:srgbClr val="111827"/>
              </a:solidFill>
              <a:latin typeface="Microsoft YaHei"/>
              <a:ea typeface="微软雅黑"/>
            </a:endParaRPr>
          </a:p>
        </p:txBody>
      </p:sp>
      <p:sp>
        <p:nvSpPr>
          <p:cNvPr id="7" name="method_node"/>
          <p:cNvSpPr/>
          <p:nvPr/>
        </p:nvSpPr>
        <p:spPr>
          <a:xfrm>
            <a:off x="3447288" y="1611762"/>
            <a:ext cx="2441448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b="0">
                <a:solidFill>
                  <a:srgbClr val="111827"/>
                </a:solidFill>
                <a:latin typeface="Microsoft YaHei"/>
                <a:ea typeface="微软雅黑"/>
              </a:rPr>
              <a:t>SID Tokenizer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b="0">
                <a:solidFill>
                  <a:srgbClr val="111827"/>
                </a:solidFill>
                <a:latin typeface="Microsoft YaHei"/>
                <a:ea typeface="微软雅黑"/>
              </a:rPr>
              <a:t>S1 → S2 → S3</a:t>
            </a:r>
          </a:p>
        </p:txBody>
      </p:sp>
      <p:cxnSp>
        <p:nvCxnSpPr>
          <p:cNvPr id="8" name="method_edge"/>
          <p:cNvCxnSpPr/>
          <p:nvPr/>
        </p:nvCxnSpPr>
        <p:spPr>
          <a:xfrm>
            <a:off x="3090672" y="2023243"/>
            <a:ext cx="310896" cy="0"/>
          </a:xfrm>
          <a:prstGeom prst="line">
            <a:avLst/>
          </a:prstGeom>
          <a:ln w="14604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method_node"/>
          <p:cNvSpPr/>
          <p:nvPr/>
        </p:nvSpPr>
        <p:spPr>
          <a:xfrm>
            <a:off x="6291072" y="1611762"/>
            <a:ext cx="2441448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b="0">
                <a:solidFill>
                  <a:srgbClr val="111827"/>
                </a:solidFill>
                <a:latin typeface="Microsoft YaHei"/>
                <a:ea typeface="微软雅黑"/>
              </a:rPr>
              <a:t>Query + 位置 + 历史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b="0">
                <a:solidFill>
                  <a:srgbClr val="111827"/>
                </a:solidFill>
                <a:latin typeface="Microsoft YaHei"/>
                <a:ea typeface="微软雅黑"/>
              </a:rPr>
              <a:t>生成模型 SFT</a:t>
            </a:r>
          </a:p>
        </p:txBody>
      </p:sp>
      <p:cxnSp>
        <p:nvCxnSpPr>
          <p:cNvPr id="10" name="method_edge"/>
          <p:cNvCxnSpPr/>
          <p:nvPr/>
        </p:nvCxnSpPr>
        <p:spPr>
          <a:xfrm>
            <a:off x="5934455" y="2023243"/>
            <a:ext cx="310897" cy="0"/>
          </a:xfrm>
          <a:prstGeom prst="line">
            <a:avLst/>
          </a:prstGeom>
          <a:ln w="14604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method_node"/>
          <p:cNvSpPr/>
          <p:nvPr/>
        </p:nvSpPr>
        <p:spPr>
          <a:xfrm>
            <a:off x="9134856" y="1611762"/>
            <a:ext cx="2441448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b="0">
                <a:solidFill>
                  <a:srgbClr val="111827"/>
                </a:solidFill>
                <a:latin typeface="Microsoft YaHei"/>
                <a:ea typeface="微软雅黑"/>
              </a:rPr>
              <a:t>Beam Search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b="0">
                <a:solidFill>
                  <a:srgbClr val="111827"/>
                </a:solidFill>
                <a:latin typeface="Microsoft YaHei"/>
                <a:ea typeface="微软雅黑"/>
              </a:rPr>
              <a:t>Top-K POI</a:t>
            </a:r>
          </a:p>
        </p:txBody>
      </p:sp>
      <p:cxnSp>
        <p:nvCxnSpPr>
          <p:cNvPr id="12" name="method_edge"/>
          <p:cNvCxnSpPr/>
          <p:nvPr/>
        </p:nvCxnSpPr>
        <p:spPr>
          <a:xfrm>
            <a:off x="8778240" y="2023243"/>
            <a:ext cx="310896" cy="0"/>
          </a:xfrm>
          <a:prstGeom prst="line">
            <a:avLst/>
          </a:prstGeom>
          <a:ln w="14604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method_edge"/>
          <p:cNvCxnSpPr/>
          <p:nvPr/>
        </p:nvCxnSpPr>
        <p:spPr>
          <a:xfrm>
            <a:off x="3456432" y="2498731"/>
            <a:ext cx="0" cy="384048"/>
          </a:xfrm>
          <a:prstGeom prst="line">
            <a:avLst/>
          </a:prstGeom>
          <a:ln w="14604">
            <a:solidFill>
              <a:srgbClr val="1A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method_edge"/>
          <p:cNvCxnSpPr/>
          <p:nvPr/>
        </p:nvCxnSpPr>
        <p:spPr>
          <a:xfrm flipH="1">
            <a:off x="1956816" y="2882779"/>
            <a:ext cx="1499616" cy="0"/>
          </a:xfrm>
          <a:prstGeom prst="line">
            <a:avLst/>
          </a:prstGeom>
          <a:ln w="14604">
            <a:solidFill>
              <a:srgbClr val="1A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method_edge"/>
          <p:cNvCxnSpPr/>
          <p:nvPr/>
        </p:nvCxnSpPr>
        <p:spPr>
          <a:xfrm>
            <a:off x="1956816" y="2882779"/>
            <a:ext cx="0" cy="310896"/>
          </a:xfrm>
          <a:prstGeom prst="line">
            <a:avLst/>
          </a:prstGeom>
          <a:ln w="14604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method_node"/>
          <p:cNvSpPr/>
          <p:nvPr/>
        </p:nvSpPr>
        <p:spPr>
          <a:xfrm>
            <a:off x="594360" y="3211963"/>
            <a:ext cx="4160520" cy="932688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zh-CN" altLang="en-US" dirty="0">
                <a:solidFill>
                  <a:srgbClr val="111827"/>
                </a:solidFill>
                <a:latin typeface="Microsoft YaHei"/>
                <a:ea typeface="微软雅黑"/>
              </a:rPr>
              <a:t>问题一</a:t>
            </a:r>
            <a:r>
              <a:rPr b="0" dirty="0">
                <a:solidFill>
                  <a:srgbClr val="111827"/>
                </a:solidFill>
                <a:latin typeface="Microsoft YaHei"/>
                <a:ea typeface="微软雅黑"/>
              </a:rPr>
              <a:t>：</a:t>
            </a:r>
            <a:r>
              <a:rPr lang="en-US" altLang="zh-CN" dirty="0">
                <a:solidFill>
                  <a:srgbClr val="111827"/>
                </a:solidFill>
                <a:latin typeface="Microsoft YaHei"/>
                <a:ea typeface="微软雅黑"/>
              </a:rPr>
              <a:t>SID</a:t>
            </a:r>
            <a:r>
              <a:rPr lang="zh-CN" altLang="en-US" dirty="0">
                <a:solidFill>
                  <a:srgbClr val="111827"/>
                </a:solidFill>
                <a:latin typeface="Microsoft YaHei"/>
                <a:ea typeface="微软雅黑"/>
              </a:rPr>
              <a:t> 表达</a:t>
            </a:r>
            <a:r>
              <a:rPr b="0" dirty="0">
                <a:solidFill>
                  <a:srgbClr val="111827"/>
                </a:solidFill>
                <a:latin typeface="Microsoft YaHei"/>
                <a:ea typeface="微软雅黑"/>
              </a:rPr>
              <a:t> POI </a:t>
            </a:r>
            <a:r>
              <a:rPr lang="zh-CN" altLang="en-US" dirty="0">
                <a:solidFill>
                  <a:srgbClr val="111827"/>
                </a:solidFill>
                <a:latin typeface="Microsoft YaHei"/>
                <a:ea typeface="微软雅黑"/>
              </a:rPr>
              <a:t>内容</a:t>
            </a:r>
            <a:endParaRPr b="0" dirty="0">
              <a:solidFill>
                <a:srgbClr val="111827"/>
              </a:solidFill>
              <a:latin typeface="Microsoft YaHei"/>
              <a:ea typeface="微软雅黑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b="0" dirty="0" err="1">
                <a:solidFill>
                  <a:srgbClr val="111827"/>
                </a:solidFill>
                <a:latin typeface="Microsoft YaHei"/>
                <a:ea typeface="微软雅黑"/>
              </a:rPr>
              <a:t>但</a:t>
            </a:r>
            <a:r>
              <a:rPr lang="zh-CN" altLang="en-US" b="0" dirty="0">
                <a:solidFill>
                  <a:srgbClr val="111827"/>
                </a:solidFill>
                <a:latin typeface="Microsoft YaHei"/>
                <a:ea typeface="微软雅黑"/>
              </a:rPr>
              <a:t>忽略</a:t>
            </a:r>
            <a:r>
              <a:rPr lang="en-US" altLang="zh-CN" b="0" dirty="0">
                <a:solidFill>
                  <a:srgbClr val="111827"/>
                </a:solidFill>
                <a:latin typeface="Microsoft YaHei"/>
                <a:ea typeface="微软雅黑"/>
              </a:rPr>
              <a:t>Query</a:t>
            </a:r>
            <a:r>
              <a:rPr lang="zh-CN" altLang="en-US" dirty="0">
                <a:solidFill>
                  <a:srgbClr val="111827"/>
                </a:solidFill>
                <a:latin typeface="Microsoft YaHei"/>
                <a:ea typeface="微软雅黑"/>
              </a:rPr>
              <a:t>表征和地理因素</a:t>
            </a:r>
            <a:endParaRPr b="0" dirty="0">
              <a:solidFill>
                <a:srgbClr val="111827"/>
              </a:solidFill>
              <a:latin typeface="Microsoft YaHei"/>
              <a:ea typeface="微软雅黑"/>
            </a:endParaRPr>
          </a:p>
        </p:txBody>
      </p:sp>
      <p:cxnSp>
        <p:nvCxnSpPr>
          <p:cNvPr id="17" name="method_edge"/>
          <p:cNvCxnSpPr/>
          <p:nvPr/>
        </p:nvCxnSpPr>
        <p:spPr>
          <a:xfrm>
            <a:off x="8622792" y="2498731"/>
            <a:ext cx="0" cy="384048"/>
          </a:xfrm>
          <a:prstGeom prst="line">
            <a:avLst/>
          </a:prstGeom>
          <a:ln w="14604">
            <a:solidFill>
              <a:srgbClr val="1A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method_edge"/>
          <p:cNvCxnSpPr/>
          <p:nvPr/>
        </p:nvCxnSpPr>
        <p:spPr>
          <a:xfrm>
            <a:off x="8622792" y="2882779"/>
            <a:ext cx="1088136" cy="0"/>
          </a:xfrm>
          <a:prstGeom prst="line">
            <a:avLst/>
          </a:prstGeom>
          <a:ln w="14604">
            <a:solidFill>
              <a:srgbClr val="1A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method_edge"/>
          <p:cNvCxnSpPr/>
          <p:nvPr/>
        </p:nvCxnSpPr>
        <p:spPr>
          <a:xfrm>
            <a:off x="9710928" y="2882779"/>
            <a:ext cx="0" cy="310896"/>
          </a:xfrm>
          <a:prstGeom prst="line">
            <a:avLst/>
          </a:prstGeom>
          <a:ln w="14604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method_node"/>
          <p:cNvSpPr/>
          <p:nvPr/>
        </p:nvSpPr>
        <p:spPr>
          <a:xfrm>
            <a:off x="7388352" y="3211963"/>
            <a:ext cx="4160520" cy="932688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zh-CN" altLang="en-US" dirty="0">
                <a:solidFill>
                  <a:srgbClr val="111827"/>
                </a:solidFill>
                <a:latin typeface="Microsoft YaHei"/>
                <a:ea typeface="微软雅黑"/>
              </a:rPr>
              <a:t>问题二</a:t>
            </a:r>
            <a:r>
              <a:rPr b="0" dirty="0">
                <a:solidFill>
                  <a:srgbClr val="111827"/>
                </a:solidFill>
                <a:latin typeface="Microsoft YaHei"/>
                <a:ea typeface="微软雅黑"/>
              </a:rPr>
              <a:t>：SFT </a:t>
            </a:r>
            <a:r>
              <a:rPr b="0" dirty="0" err="1">
                <a:solidFill>
                  <a:srgbClr val="111827"/>
                </a:solidFill>
                <a:latin typeface="Microsoft YaHei"/>
                <a:ea typeface="微软雅黑"/>
              </a:rPr>
              <a:t>优化</a:t>
            </a:r>
            <a:r>
              <a:rPr b="0" dirty="0">
                <a:solidFill>
                  <a:srgbClr val="111827"/>
                </a:solidFill>
                <a:latin typeface="Microsoft YaHei"/>
                <a:ea typeface="微软雅黑"/>
              </a:rPr>
              <a:t> gold-prefix CE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b="0" dirty="0" err="1">
                <a:solidFill>
                  <a:srgbClr val="111827"/>
                </a:solidFill>
                <a:latin typeface="Microsoft YaHei"/>
                <a:ea typeface="微软雅黑"/>
              </a:rPr>
              <a:t>但评测</a:t>
            </a:r>
            <a:r>
              <a:rPr lang="zh-CN" altLang="en-US" b="0" dirty="0">
                <a:solidFill>
                  <a:srgbClr val="111827"/>
                </a:solidFill>
                <a:latin typeface="Microsoft YaHei"/>
                <a:ea typeface="微软雅黑"/>
              </a:rPr>
              <a:t>是模型</a:t>
            </a:r>
            <a:r>
              <a:rPr b="0" dirty="0" err="1">
                <a:solidFill>
                  <a:srgbClr val="111827"/>
                </a:solidFill>
                <a:latin typeface="Microsoft YaHei"/>
                <a:ea typeface="微软雅黑"/>
              </a:rPr>
              <a:t>自身</a:t>
            </a:r>
            <a:r>
              <a:rPr b="0" dirty="0">
                <a:solidFill>
                  <a:srgbClr val="111827"/>
                </a:solidFill>
                <a:latin typeface="Microsoft YaHei"/>
                <a:ea typeface="微软雅黑"/>
              </a:rPr>
              <a:t> Beam </a:t>
            </a:r>
            <a:r>
              <a:rPr lang="en-US" altLang="zh-CN" b="0" dirty="0">
                <a:solidFill>
                  <a:srgbClr val="111827"/>
                </a:solidFill>
                <a:latin typeface="Microsoft YaHei"/>
                <a:ea typeface="微软雅黑"/>
              </a:rPr>
              <a:t>Search</a:t>
            </a:r>
            <a:r>
              <a:rPr lang="zh-CN" altLang="en-US" dirty="0">
                <a:solidFill>
                  <a:srgbClr val="111827"/>
                </a:solidFill>
                <a:latin typeface="Microsoft YaHei"/>
                <a:ea typeface="微软雅黑"/>
              </a:rPr>
              <a:t>生成</a:t>
            </a:r>
            <a:endParaRPr b="0" dirty="0">
              <a:solidFill>
                <a:srgbClr val="111827"/>
              </a:solidFill>
              <a:latin typeface="Microsoft YaHei"/>
              <a:ea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4360" y="4364107"/>
            <a:ext cx="5166360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b="1" dirty="0">
                <a:solidFill>
                  <a:srgbClr val="000000"/>
                </a:solidFill>
                <a:latin typeface="Microsoft YaHei"/>
                <a:ea typeface="微软雅黑"/>
              </a:rPr>
              <a:t>QG-</a:t>
            </a:r>
            <a:r>
              <a:rPr lang="en-US" altLang="zh-CN" b="1" dirty="0">
                <a:solidFill>
                  <a:srgbClr val="000000"/>
                </a:solidFill>
                <a:latin typeface="Microsoft YaHei"/>
                <a:ea typeface="微软雅黑"/>
              </a:rPr>
              <a:t>HR</a:t>
            </a:r>
            <a:r>
              <a:rPr b="1" dirty="0">
                <a:solidFill>
                  <a:srgbClr val="000000"/>
                </a:solidFill>
                <a:latin typeface="Microsoft YaHei"/>
                <a:ea typeface="微软雅黑"/>
              </a:rPr>
              <a:t>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59" y="4821307"/>
            <a:ext cx="3735903" cy="594359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b="0" dirty="0" err="1">
                <a:solidFill>
                  <a:srgbClr val="111827"/>
                </a:solidFill>
                <a:latin typeface="Microsoft YaHei"/>
                <a:ea typeface="微软雅黑"/>
              </a:rPr>
              <a:t>在离线</a:t>
            </a:r>
            <a:r>
              <a:rPr b="0" dirty="0">
                <a:solidFill>
                  <a:srgbClr val="111827"/>
                </a:solidFill>
                <a:latin typeface="Microsoft YaHei"/>
                <a:ea typeface="微软雅黑"/>
              </a:rPr>
              <a:t> SID </a:t>
            </a:r>
            <a:r>
              <a:rPr b="0" dirty="0" err="1">
                <a:solidFill>
                  <a:srgbClr val="111827"/>
                </a:solidFill>
                <a:latin typeface="Microsoft YaHei"/>
                <a:ea typeface="微软雅黑"/>
              </a:rPr>
              <a:t>构建中加入</a:t>
            </a:r>
            <a:r>
              <a:rPr b="0" dirty="0">
                <a:solidFill>
                  <a:srgbClr val="111827"/>
                </a:solidFill>
                <a:latin typeface="Microsoft YaHei"/>
                <a:ea typeface="微软雅黑"/>
              </a:rPr>
              <a:t> Query </a:t>
            </a:r>
            <a:r>
              <a:rPr b="0" dirty="0" err="1">
                <a:solidFill>
                  <a:srgbClr val="111827"/>
                </a:solidFill>
                <a:latin typeface="Microsoft YaHei"/>
                <a:ea typeface="微软雅黑"/>
              </a:rPr>
              <a:t>粒度、类别层次与局部地理</a:t>
            </a:r>
            <a:r>
              <a:rPr b="0" dirty="0">
                <a:solidFill>
                  <a:srgbClr val="111827"/>
                </a:solidFill>
                <a:latin typeface="Microsoft YaHei"/>
                <a:ea typeface="微软雅黑"/>
              </a:rPr>
              <a:t>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4364107"/>
            <a:ext cx="5166360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b="1">
                <a:solidFill>
                  <a:srgbClr val="000000"/>
                </a:solidFill>
                <a:latin typeface="Microsoft YaHei"/>
                <a:ea typeface="微软雅黑"/>
              </a:rPr>
              <a:t>BeamRisk-SFT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4821307"/>
            <a:ext cx="5075710" cy="594359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b="0" dirty="0" err="1">
                <a:solidFill>
                  <a:srgbClr val="111827"/>
                </a:solidFill>
                <a:latin typeface="Microsoft YaHei"/>
                <a:ea typeface="微软雅黑"/>
              </a:rPr>
              <a:t>固定</a:t>
            </a:r>
            <a:r>
              <a:rPr b="0" dirty="0">
                <a:solidFill>
                  <a:srgbClr val="111827"/>
                </a:solidFill>
                <a:latin typeface="Microsoft YaHei"/>
                <a:ea typeface="微软雅黑"/>
              </a:rPr>
              <a:t> </a:t>
            </a:r>
            <a:r>
              <a:rPr b="0" dirty="0" err="1">
                <a:solidFill>
                  <a:srgbClr val="111827"/>
                </a:solidFill>
                <a:latin typeface="Microsoft YaHei"/>
                <a:ea typeface="微软雅黑"/>
              </a:rPr>
              <a:t>SID，使用</a:t>
            </a:r>
            <a:r>
              <a:rPr lang="en-US" b="0" dirty="0">
                <a:solidFill>
                  <a:srgbClr val="111827"/>
                </a:solidFill>
                <a:latin typeface="Microsoft YaHei"/>
                <a:ea typeface="微软雅黑"/>
              </a:rPr>
              <a:t> </a:t>
            </a:r>
            <a:r>
              <a:rPr b="0" dirty="0">
                <a:solidFill>
                  <a:srgbClr val="111827"/>
                </a:solidFill>
                <a:latin typeface="Microsoft YaHei"/>
                <a:ea typeface="微软雅黑"/>
              </a:rPr>
              <a:t>Beam </a:t>
            </a:r>
            <a:r>
              <a:rPr b="0" dirty="0" err="1">
                <a:solidFill>
                  <a:srgbClr val="111827"/>
                </a:solidFill>
                <a:latin typeface="Microsoft YaHei"/>
                <a:ea typeface="微软雅黑"/>
              </a:rPr>
              <a:t>轨迹</a:t>
            </a:r>
            <a:r>
              <a:rPr lang="en-US" dirty="0" err="1">
                <a:solidFill>
                  <a:srgbClr val="111827"/>
                </a:solidFill>
                <a:latin typeface="Microsoft YaHei"/>
                <a:ea typeface="微软雅黑"/>
              </a:rPr>
              <a:t>对齐生成</a:t>
            </a:r>
            <a:r>
              <a:rPr b="0" dirty="0" err="1">
                <a:solidFill>
                  <a:srgbClr val="111827"/>
                </a:solidFill>
                <a:latin typeface="Microsoft YaHei"/>
                <a:ea typeface="微软雅黑"/>
              </a:rPr>
              <a:t>边界和最终排序</a:t>
            </a:r>
            <a:r>
              <a:rPr b="0" dirty="0">
                <a:solidFill>
                  <a:srgbClr val="111827"/>
                </a:solidFill>
                <a:latin typeface="Microsoft YaHei"/>
                <a:ea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43128" y="1719073"/>
            <a:ext cx="2267712" cy="6035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b="1" dirty="0" err="1">
                <a:solidFill>
                  <a:srgbClr val="000000"/>
                </a:solidFill>
                <a:latin typeface="Microsoft YaHei"/>
                <a:ea typeface="微软雅黑"/>
              </a:rPr>
              <a:t>静态碰撞减少</a:t>
            </a:r>
            <a:endParaRPr b="1" dirty="0">
              <a:solidFill>
                <a:srgbClr val="000000"/>
              </a:solidFill>
              <a:latin typeface="Microsoft YaHei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36577" y="1778226"/>
            <a:ext cx="2843784" cy="5760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b="0" dirty="0" err="1">
                <a:solidFill>
                  <a:srgbClr val="111827"/>
                </a:solidFill>
                <a:latin typeface="Microsoft YaHei"/>
                <a:ea typeface="微软雅黑"/>
              </a:rPr>
              <a:t>但</a:t>
            </a:r>
            <a:r>
              <a:rPr b="0" dirty="0">
                <a:solidFill>
                  <a:srgbClr val="111827"/>
                </a:solidFill>
                <a:latin typeface="Microsoft YaHei"/>
                <a:ea typeface="微软雅黑"/>
              </a:rPr>
              <a:t> SFT </a:t>
            </a:r>
            <a:r>
              <a:rPr b="0" dirty="0" err="1">
                <a:solidFill>
                  <a:srgbClr val="111827"/>
                </a:solidFill>
                <a:latin typeface="Microsoft YaHei"/>
                <a:ea typeface="微软雅黑"/>
              </a:rPr>
              <a:t>未同步提升</a:t>
            </a:r>
            <a:endParaRPr b="0" dirty="0">
              <a:solidFill>
                <a:srgbClr val="111827"/>
              </a:solidFill>
              <a:latin typeface="Microsoft YaHei"/>
              <a:ea typeface="微软雅黑"/>
            </a:endParaRPr>
          </a:p>
        </p:txBody>
      </p:sp>
      <p:sp>
        <p:nvSpPr>
          <p:cNvPr id="9" name="method_node"/>
          <p:cNvSpPr/>
          <p:nvPr/>
        </p:nvSpPr>
        <p:spPr>
          <a:xfrm>
            <a:off x="6400800" y="1636776"/>
            <a:ext cx="5148072" cy="804672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b="0">
                <a:solidFill>
                  <a:srgbClr val="111827"/>
                </a:solidFill>
                <a:latin typeface="Microsoft YaHei"/>
                <a:ea typeface="微软雅黑"/>
              </a:rPr>
              <a:t>SID 目标必须显式考虑 Query 可预测性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81308"/>
            <a:ext cx="2135486" cy="6035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b="1" dirty="0">
                <a:solidFill>
                  <a:srgbClr val="000000"/>
                </a:solidFill>
                <a:latin typeface="Microsoft YaHei"/>
                <a:ea typeface="微软雅黑"/>
              </a:rPr>
              <a:t>Query </a:t>
            </a:r>
            <a:r>
              <a:rPr b="1" dirty="0" err="1">
                <a:solidFill>
                  <a:srgbClr val="000000"/>
                </a:solidFill>
                <a:latin typeface="Microsoft YaHei"/>
                <a:ea typeface="微软雅黑"/>
              </a:rPr>
              <a:t>聚合能改善连续召回</a:t>
            </a:r>
            <a:endParaRPr b="1" dirty="0">
              <a:solidFill>
                <a:srgbClr val="000000"/>
              </a:solidFill>
              <a:latin typeface="Microsoft YaHei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52216" y="2734056"/>
            <a:ext cx="2843784" cy="5760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b="0" dirty="0" err="1">
                <a:solidFill>
                  <a:srgbClr val="111827"/>
                </a:solidFill>
                <a:latin typeface="Microsoft YaHei"/>
                <a:ea typeface="微软雅黑"/>
              </a:rPr>
              <a:t>但逐</a:t>
            </a:r>
            <a:r>
              <a:rPr b="0" dirty="0">
                <a:solidFill>
                  <a:srgbClr val="111827"/>
                </a:solidFill>
                <a:latin typeface="Microsoft YaHei"/>
                <a:ea typeface="微软雅黑"/>
              </a:rPr>
              <a:t> POI </a:t>
            </a:r>
            <a:r>
              <a:rPr b="0" dirty="0" err="1">
                <a:solidFill>
                  <a:srgbClr val="111827"/>
                </a:solidFill>
                <a:latin typeface="Microsoft YaHei"/>
                <a:ea typeface="微软雅黑"/>
              </a:rPr>
              <a:t>动态融合不稳定</a:t>
            </a:r>
            <a:endParaRPr b="0" dirty="0">
              <a:solidFill>
                <a:srgbClr val="111827"/>
              </a:solidFill>
              <a:latin typeface="Microsoft YaHei"/>
              <a:ea typeface="微软雅黑"/>
            </a:endParaRPr>
          </a:p>
        </p:txBody>
      </p:sp>
      <p:sp>
        <p:nvSpPr>
          <p:cNvPr id="13" name="method_node"/>
          <p:cNvSpPr/>
          <p:nvPr/>
        </p:nvSpPr>
        <p:spPr>
          <a:xfrm>
            <a:off x="6400800" y="2615184"/>
            <a:ext cx="5148072" cy="804672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b="0">
                <a:solidFill>
                  <a:srgbClr val="111827"/>
                </a:solidFill>
                <a:latin typeface="Microsoft YaHei"/>
                <a:ea typeface="微软雅黑"/>
              </a:rPr>
              <a:t>保留独立 Query view，不覆盖 POI 向量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96276"/>
            <a:ext cx="2267712" cy="459627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b="1" dirty="0">
                <a:solidFill>
                  <a:srgbClr val="000000"/>
                </a:solidFill>
                <a:latin typeface="Microsoft YaHei"/>
                <a:ea typeface="微软雅黑"/>
              </a:rPr>
              <a:t>S1 </a:t>
            </a:r>
            <a:r>
              <a:rPr b="1" dirty="0" err="1">
                <a:solidFill>
                  <a:srgbClr val="000000"/>
                </a:solidFill>
                <a:latin typeface="Microsoft YaHei"/>
                <a:ea typeface="微软雅黑"/>
              </a:rPr>
              <a:t>硬绑定</a:t>
            </a:r>
            <a:r>
              <a:rPr b="1" dirty="0">
                <a:solidFill>
                  <a:srgbClr val="000000"/>
                </a:solidFill>
                <a:latin typeface="Microsoft YaHei"/>
                <a:ea typeface="微软雅黑"/>
              </a:rPr>
              <a:t> category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2088" y="3689322"/>
            <a:ext cx="2764223" cy="5760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b="0" dirty="0" err="1">
                <a:solidFill>
                  <a:srgbClr val="111827"/>
                </a:solidFill>
                <a:latin typeface="Microsoft YaHei"/>
                <a:ea typeface="微软雅黑"/>
              </a:rPr>
              <a:t>大类被压进一个根节点，路径坍塌</a:t>
            </a:r>
            <a:endParaRPr b="0" dirty="0">
              <a:solidFill>
                <a:srgbClr val="111827"/>
              </a:solidFill>
              <a:latin typeface="Microsoft YaHei"/>
              <a:ea typeface="微软雅黑"/>
            </a:endParaRPr>
          </a:p>
        </p:txBody>
      </p:sp>
      <p:sp>
        <p:nvSpPr>
          <p:cNvPr id="17" name="method_node"/>
          <p:cNvSpPr/>
          <p:nvPr/>
        </p:nvSpPr>
        <p:spPr>
          <a:xfrm>
            <a:off x="6400800" y="3593592"/>
            <a:ext cx="5148072" cy="804672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b="0" dirty="0" err="1">
                <a:solidFill>
                  <a:srgbClr val="111827"/>
                </a:solidFill>
                <a:latin typeface="Microsoft YaHei"/>
                <a:ea typeface="微软雅黑"/>
              </a:rPr>
              <a:t>类别只做可分裂的软结构锚点</a:t>
            </a:r>
            <a:endParaRPr b="0" dirty="0">
              <a:solidFill>
                <a:srgbClr val="111827"/>
              </a:solidFill>
              <a:latin typeface="Microsoft YaHei"/>
              <a:ea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4360" y="4942361"/>
            <a:ext cx="2267712" cy="459627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b="1" dirty="0" err="1">
                <a:solidFill>
                  <a:srgbClr val="000000"/>
                </a:solidFill>
                <a:latin typeface="Microsoft YaHei"/>
                <a:ea typeface="微软雅黑"/>
              </a:rPr>
              <a:t>Poi语义</a:t>
            </a:r>
            <a:r>
              <a:rPr b="1" dirty="0" err="1">
                <a:solidFill>
                  <a:srgbClr val="000000"/>
                </a:solidFill>
                <a:latin typeface="Microsoft YaHei"/>
                <a:ea typeface="微软雅黑"/>
              </a:rPr>
              <a:t>加入地理</a:t>
            </a:r>
            <a:r>
              <a:rPr lang="zh-CN" altLang="en-US" b="1" dirty="0">
                <a:solidFill>
                  <a:srgbClr val="000000"/>
                </a:solidFill>
                <a:latin typeface="Microsoft YaHei"/>
                <a:ea typeface="微软雅黑"/>
              </a:rPr>
              <a:t>表征</a:t>
            </a:r>
            <a:endParaRPr b="1" dirty="0">
              <a:solidFill>
                <a:srgbClr val="000000"/>
              </a:solidFill>
              <a:latin typeface="Microsoft YaHei"/>
              <a:ea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342527" y="4933188"/>
            <a:ext cx="2843784" cy="5760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b="0" dirty="0" err="1">
                <a:solidFill>
                  <a:srgbClr val="111827"/>
                </a:solidFill>
                <a:latin typeface="Microsoft YaHei"/>
                <a:ea typeface="微软雅黑"/>
              </a:rPr>
              <a:t>会干扰跨区域语义组织</a:t>
            </a:r>
            <a:endParaRPr b="0" dirty="0">
              <a:solidFill>
                <a:srgbClr val="111827"/>
              </a:solidFill>
              <a:latin typeface="Microsoft YaHei"/>
              <a:ea typeface="微软雅黑"/>
            </a:endParaRPr>
          </a:p>
        </p:txBody>
      </p:sp>
      <p:sp>
        <p:nvSpPr>
          <p:cNvPr id="21" name="method_node"/>
          <p:cNvSpPr/>
          <p:nvPr/>
        </p:nvSpPr>
        <p:spPr>
          <a:xfrm>
            <a:off x="6400800" y="4572000"/>
            <a:ext cx="5148072" cy="804672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b="0" dirty="0">
                <a:solidFill>
                  <a:srgbClr val="111827"/>
                </a:solidFill>
                <a:latin typeface="Microsoft YaHei"/>
                <a:ea typeface="微软雅黑"/>
              </a:rPr>
              <a:t>Geo </a:t>
            </a:r>
            <a:r>
              <a:rPr b="0" dirty="0" err="1">
                <a:solidFill>
                  <a:srgbClr val="111827"/>
                </a:solidFill>
                <a:latin typeface="Microsoft YaHei"/>
                <a:ea typeface="微软雅黑"/>
              </a:rPr>
              <a:t>只在给定</a:t>
            </a:r>
            <a:r>
              <a:rPr b="0" dirty="0">
                <a:solidFill>
                  <a:srgbClr val="111827"/>
                </a:solidFill>
                <a:latin typeface="Microsoft YaHei"/>
                <a:ea typeface="微软雅黑"/>
              </a:rPr>
              <a:t> GID/S1/S2 </a:t>
            </a:r>
            <a:r>
              <a:rPr b="0" dirty="0" err="1">
                <a:solidFill>
                  <a:srgbClr val="111827"/>
                </a:solidFill>
                <a:latin typeface="Microsoft YaHei"/>
                <a:ea typeface="微软雅黑"/>
              </a:rPr>
              <a:t>的</a:t>
            </a:r>
            <a:r>
              <a:rPr b="0" dirty="0">
                <a:solidFill>
                  <a:srgbClr val="111827"/>
                </a:solidFill>
                <a:latin typeface="Microsoft YaHei"/>
                <a:ea typeface="微软雅黑"/>
              </a:rPr>
              <a:t> S3 </a:t>
            </a:r>
            <a:r>
              <a:rPr b="0" dirty="0" err="1">
                <a:solidFill>
                  <a:srgbClr val="111827"/>
                </a:solidFill>
                <a:latin typeface="Microsoft YaHei"/>
                <a:ea typeface="微软雅黑"/>
              </a:rPr>
              <a:t>局部消歧</a:t>
            </a:r>
            <a:endParaRPr b="0" dirty="0">
              <a:solidFill>
                <a:srgbClr val="111827"/>
              </a:solidFill>
              <a:latin typeface="Microsoft YaHei"/>
              <a:ea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94360" y="5751576"/>
            <a:ext cx="10972800" cy="6035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endParaRPr sz="1600" b="0" dirty="0">
              <a:solidFill>
                <a:srgbClr val="111827"/>
              </a:solidFill>
              <a:latin typeface="Microsoft YaHei"/>
              <a:ea typeface="微软雅黑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402C40C3-0A3E-8D98-BB57-D5C8F0B1DE74}"/>
              </a:ext>
            </a:extLst>
          </p:cNvPr>
          <p:cNvSpPr txBox="1">
            <a:spLocks/>
          </p:cNvSpPr>
          <p:nvPr/>
        </p:nvSpPr>
        <p:spPr>
          <a:xfrm>
            <a:off x="120210" y="91441"/>
            <a:ext cx="3516367" cy="576072"/>
          </a:xfrm>
          <a:prstGeom prst="rect">
            <a:avLst/>
          </a:prstGeom>
        </p:spPr>
        <p:txBody>
          <a:bodyPr vert="horz" wrap="square" lIns="27432" tIns="18288" rIns="27432" bIns="18288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1" kern="1200" baseline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j-cs"/>
              </a:defRPr>
            </a:lvl1pPr>
          </a:lstStyle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altLang="zh-CN" sz="2800" dirty="0">
                <a:solidFill>
                  <a:srgbClr val="FFFFFF"/>
                </a:solidFill>
                <a:latin typeface="Microsoft YaHei"/>
                <a:ea typeface="微软雅黑"/>
              </a:rPr>
              <a:t>SID</a:t>
            </a:r>
            <a:r>
              <a:rPr lang="zh-CN" altLang="en-US" sz="2800" dirty="0">
                <a:solidFill>
                  <a:srgbClr val="FFFFFF"/>
                </a:solidFill>
                <a:latin typeface="Microsoft YaHei"/>
                <a:ea typeface="微软雅黑"/>
              </a:rPr>
              <a:t> 问题</a:t>
            </a:r>
            <a:endParaRPr lang="zh-CN" altLang="en-US" sz="2800" dirty="0">
              <a:solidFill>
                <a:srgbClr val="FFFFFF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43128" y="1408905"/>
            <a:ext cx="1609344" cy="3383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 dirty="0">
                <a:solidFill>
                  <a:srgbClr val="000000"/>
                </a:solidFill>
                <a:latin typeface="Microsoft YaHei"/>
                <a:ea typeface="微软雅黑"/>
              </a:rPr>
              <a:t>TIGER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1399822"/>
            <a:ext cx="3803904" cy="48677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POI </a:t>
            </a: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内容</a:t>
            </a: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 → RQ-VAE → </a:t>
            </a: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分层</a:t>
            </a: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 SID</a:t>
            </a:r>
          </a:p>
        </p:txBody>
      </p:sp>
      <p:cxnSp>
        <p:nvCxnSpPr>
          <p:cNvPr id="8" name="method_edge"/>
          <p:cNvCxnSpPr/>
          <p:nvPr/>
        </p:nvCxnSpPr>
        <p:spPr>
          <a:xfrm>
            <a:off x="6153912" y="1584844"/>
            <a:ext cx="466344" cy="0"/>
          </a:xfrm>
          <a:prstGeom prst="line">
            <a:avLst/>
          </a:prstGeom>
          <a:ln w="14604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21424" y="1399822"/>
            <a:ext cx="4727448" cy="486773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Tokenizer </a:t>
            </a: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不看真实</a:t>
            </a: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 Query </a:t>
            </a: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分布</a:t>
            </a:r>
            <a:endParaRPr sz="1600" b="0" dirty="0">
              <a:solidFill>
                <a:srgbClr val="111827"/>
              </a:solidFill>
              <a:latin typeface="Microsoft YaHei"/>
              <a:ea typeface="微软雅黑"/>
            </a:endParaRPr>
          </a:p>
        </p:txBody>
      </p:sp>
      <p:cxnSp>
        <p:nvCxnSpPr>
          <p:cNvPr id="10" name="method_edge"/>
          <p:cNvCxnSpPr/>
          <p:nvPr/>
        </p:nvCxnSpPr>
        <p:spPr>
          <a:xfrm>
            <a:off x="594360" y="2023756"/>
            <a:ext cx="10954512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360" y="2310946"/>
            <a:ext cx="1609344" cy="3383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 dirty="0">
                <a:solidFill>
                  <a:srgbClr val="000000"/>
                </a:solidFill>
                <a:latin typeface="Microsoft YaHei"/>
                <a:ea typeface="微软雅黑"/>
              </a:rPr>
              <a:t>PRQ-</a:t>
            </a:r>
            <a:r>
              <a:rPr sz="1600" b="1" dirty="0" err="1">
                <a:solidFill>
                  <a:srgbClr val="000000"/>
                </a:solidFill>
                <a:latin typeface="Microsoft YaHei"/>
                <a:ea typeface="微软雅黑"/>
              </a:rPr>
              <a:t>KMeans</a:t>
            </a:r>
            <a:endParaRPr sz="1600" b="1" dirty="0">
              <a:solidFill>
                <a:srgbClr val="000000"/>
              </a:solidFill>
              <a:latin typeface="Microsoft YaHei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04288" y="2243212"/>
            <a:ext cx="3648456" cy="5852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去全局方向</a:t>
            </a: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 + soft centroid + projection residual</a:t>
            </a:r>
          </a:p>
        </p:txBody>
      </p:sp>
      <p:cxnSp>
        <p:nvCxnSpPr>
          <p:cNvPr id="13" name="method_edge"/>
          <p:cNvCxnSpPr/>
          <p:nvPr/>
        </p:nvCxnSpPr>
        <p:spPr>
          <a:xfrm>
            <a:off x="6153912" y="2526676"/>
            <a:ext cx="466344" cy="0"/>
          </a:xfrm>
          <a:prstGeom prst="line">
            <a:avLst/>
          </a:prstGeom>
          <a:ln w="14604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21424" y="2325506"/>
            <a:ext cx="4727448" cy="50292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只建模单一实体视图，不对齐</a:t>
            </a: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 Query token</a:t>
            </a:r>
          </a:p>
        </p:txBody>
      </p:sp>
      <p:cxnSp>
        <p:nvCxnSpPr>
          <p:cNvPr id="15" name="method_edge"/>
          <p:cNvCxnSpPr/>
          <p:nvPr/>
        </p:nvCxnSpPr>
        <p:spPr>
          <a:xfrm>
            <a:off x="594360" y="2965588"/>
            <a:ext cx="10954512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95961" y="3267281"/>
            <a:ext cx="996696" cy="3383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 dirty="0">
                <a:solidFill>
                  <a:srgbClr val="000000"/>
                </a:solidFill>
                <a:latin typeface="Microsoft YaHei"/>
                <a:ea typeface="微软雅黑"/>
              </a:rPr>
              <a:t>CQ-SID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04288" y="3185044"/>
            <a:ext cx="3803904" cy="5852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首层类别约束</a:t>
            </a: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 + </a:t>
            </a: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高置信</a:t>
            </a: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 Query–Item Bi-</a:t>
            </a: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InfoNCE</a:t>
            </a:r>
            <a:endParaRPr sz="1600" b="0" dirty="0">
              <a:solidFill>
                <a:srgbClr val="111827"/>
              </a:solidFill>
              <a:latin typeface="Microsoft YaHei"/>
              <a:ea typeface="微软雅黑"/>
            </a:endParaRPr>
          </a:p>
        </p:txBody>
      </p:sp>
      <p:cxnSp>
        <p:nvCxnSpPr>
          <p:cNvPr id="18" name="method_edge"/>
          <p:cNvCxnSpPr/>
          <p:nvPr/>
        </p:nvCxnSpPr>
        <p:spPr>
          <a:xfrm>
            <a:off x="6153912" y="3468508"/>
            <a:ext cx="466344" cy="0"/>
          </a:xfrm>
          <a:prstGeom prst="line">
            <a:avLst/>
          </a:prstGeom>
          <a:ln w="14604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21424" y="3267338"/>
            <a:ext cx="4727448" cy="502921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硬</a:t>
            </a: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 category </a:t>
            </a: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index；Query</a:t>
            </a: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对都按精确监督处理</a:t>
            </a:r>
            <a:endParaRPr sz="1600" b="0" dirty="0">
              <a:solidFill>
                <a:srgbClr val="111827"/>
              </a:solidFill>
              <a:latin typeface="Microsoft YaHei"/>
              <a:ea typeface="微软雅黑"/>
            </a:endParaRPr>
          </a:p>
        </p:txBody>
      </p:sp>
      <p:cxnSp>
        <p:nvCxnSpPr>
          <p:cNvPr id="20" name="method_edge"/>
          <p:cNvCxnSpPr/>
          <p:nvPr/>
        </p:nvCxnSpPr>
        <p:spPr>
          <a:xfrm>
            <a:off x="594360" y="3907420"/>
            <a:ext cx="10954512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94944" y="4243032"/>
            <a:ext cx="1609344" cy="3383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 dirty="0" err="1">
                <a:solidFill>
                  <a:srgbClr val="000000"/>
                </a:solidFill>
                <a:latin typeface="Microsoft YaHei"/>
                <a:ea typeface="微软雅黑"/>
              </a:rPr>
              <a:t>GenPOI</a:t>
            </a:r>
            <a:endParaRPr sz="1600" b="1" dirty="0">
              <a:solidFill>
                <a:srgbClr val="000000"/>
              </a:solidFill>
              <a:latin typeface="Microsoft YaHei"/>
              <a:ea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304288" y="4243037"/>
            <a:ext cx="3803904" cy="502921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文本与 Geo 表示、GID 与生成约束</a:t>
            </a:r>
          </a:p>
        </p:txBody>
      </p:sp>
      <p:cxnSp>
        <p:nvCxnSpPr>
          <p:cNvPr id="23" name="method_edge"/>
          <p:cNvCxnSpPr/>
          <p:nvPr/>
        </p:nvCxnSpPr>
        <p:spPr>
          <a:xfrm>
            <a:off x="6153912" y="4410339"/>
            <a:ext cx="466344" cy="0"/>
          </a:xfrm>
          <a:prstGeom prst="line">
            <a:avLst/>
          </a:prstGeom>
          <a:ln w="14604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821424" y="4243032"/>
            <a:ext cx="4727448" cy="469059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绝对地理解决位置编码，未定义</a:t>
            </a: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 Query </a:t>
            </a: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监督</a:t>
            </a:r>
            <a:endParaRPr sz="1600" b="0" dirty="0">
              <a:solidFill>
                <a:srgbClr val="111827"/>
              </a:solidFill>
              <a:latin typeface="Microsoft YaHei"/>
              <a:ea typeface="微软雅黑"/>
            </a:endParaRPr>
          </a:p>
        </p:txBody>
      </p:sp>
      <p:cxnSp>
        <p:nvCxnSpPr>
          <p:cNvPr id="25" name="method_edge"/>
          <p:cNvCxnSpPr/>
          <p:nvPr/>
        </p:nvCxnSpPr>
        <p:spPr>
          <a:xfrm>
            <a:off x="594360" y="4849252"/>
            <a:ext cx="10954512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method_node"/>
          <p:cNvSpPr/>
          <p:nvPr/>
        </p:nvSpPr>
        <p:spPr>
          <a:xfrm>
            <a:off x="1152144" y="5559552"/>
            <a:ext cx="9838944" cy="548640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zh-CN" altLang="en-US" dirty="0">
                <a:solidFill>
                  <a:schemeClr val="tx1"/>
                </a:solidFill>
                <a:latin typeface="Microsoft YaHei"/>
                <a:ea typeface="微软雅黑"/>
              </a:rPr>
              <a:t>相关论文都有涉及</a:t>
            </a:r>
            <a:r>
              <a:rPr lang="en-US" altLang="zh-CN" dirty="0">
                <a:solidFill>
                  <a:schemeClr val="tx1"/>
                </a:solidFill>
                <a:latin typeface="Microsoft YaHei"/>
                <a:ea typeface="微软雅黑"/>
              </a:rPr>
              <a:t>POI</a:t>
            </a:r>
            <a:r>
              <a:rPr lang="zh-CN" altLang="en-US" dirty="0">
                <a:solidFill>
                  <a:schemeClr val="tx1"/>
                </a:solidFill>
                <a:latin typeface="Microsoft YaHei"/>
                <a:ea typeface="微软雅黑"/>
              </a:rPr>
              <a:t>内容、</a:t>
            </a:r>
            <a:r>
              <a:rPr lang="en" altLang="zh-CN" dirty="0">
                <a:solidFill>
                  <a:schemeClr val="tx1"/>
                </a:solidFill>
                <a:latin typeface="Microsoft YaHei"/>
                <a:ea typeface="微软雅黑"/>
              </a:rPr>
              <a:t>Query</a:t>
            </a:r>
            <a:r>
              <a:rPr lang="zh-CN" altLang="en" dirty="0">
                <a:solidFill>
                  <a:schemeClr val="tx1"/>
                </a:solidFill>
                <a:latin typeface="Microsoft YaHei"/>
                <a:ea typeface="微软雅黑"/>
              </a:rPr>
              <a:t>、</a:t>
            </a:r>
            <a:r>
              <a:rPr lang="zh-CN" altLang="en-US" dirty="0">
                <a:solidFill>
                  <a:schemeClr val="tx1"/>
                </a:solidFill>
                <a:latin typeface="Microsoft YaHei"/>
                <a:ea typeface="微软雅黑"/>
              </a:rPr>
              <a:t>类别与 </a:t>
            </a:r>
            <a:r>
              <a:rPr lang="en" altLang="zh-CN" dirty="0">
                <a:solidFill>
                  <a:schemeClr val="tx1"/>
                </a:solidFill>
                <a:latin typeface="Microsoft YaHei"/>
                <a:ea typeface="微软雅黑"/>
              </a:rPr>
              <a:t>Geo</a:t>
            </a:r>
            <a:r>
              <a:rPr lang="zh-CN" altLang="en" dirty="0">
                <a:solidFill>
                  <a:schemeClr val="tx1"/>
                </a:solidFill>
                <a:latin typeface="Microsoft YaHei"/>
                <a:ea typeface="微软雅黑"/>
              </a:rPr>
              <a:t>，</a:t>
            </a:r>
            <a:r>
              <a:rPr lang="zh-CN" altLang="en-US" dirty="0">
                <a:solidFill>
                  <a:schemeClr val="tx1"/>
                </a:solidFill>
                <a:latin typeface="Microsoft YaHei"/>
                <a:ea typeface="微软雅黑"/>
              </a:rPr>
              <a:t>但仍缺粒度感知的统一设计</a:t>
            </a:r>
            <a:endParaRPr sz="1800" b="0" dirty="0">
              <a:solidFill>
                <a:schemeClr val="tx1"/>
              </a:solidFill>
              <a:latin typeface="Microsoft YaHei"/>
              <a:ea typeface="微软雅黑"/>
            </a:endParaRP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AE2C78FE-4ABF-2CEB-D501-C08594A07241}"/>
              </a:ext>
            </a:extLst>
          </p:cNvPr>
          <p:cNvSpPr txBox="1">
            <a:spLocks/>
          </p:cNvSpPr>
          <p:nvPr/>
        </p:nvSpPr>
        <p:spPr>
          <a:xfrm>
            <a:off x="120210" y="91441"/>
            <a:ext cx="3516367" cy="576072"/>
          </a:xfrm>
          <a:prstGeom prst="rect">
            <a:avLst/>
          </a:prstGeom>
        </p:spPr>
        <p:txBody>
          <a:bodyPr vert="horz" wrap="square" lIns="27432" tIns="18288" rIns="27432" bIns="18288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1" kern="1200" baseline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j-cs"/>
              </a:defRPr>
            </a:lvl1pPr>
          </a:lstStyle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zh-CN" altLang="en-US" sz="2800" dirty="0">
                <a:solidFill>
                  <a:srgbClr val="FFFFFF"/>
                </a:solidFill>
                <a:latin typeface="Microsoft YaHei"/>
                <a:ea typeface="微软雅黑"/>
              </a:rPr>
              <a:t>相关论文</a:t>
            </a:r>
            <a:endParaRPr lang="zh-CN" altLang="en-US" sz="2800" dirty="0">
              <a:solidFill>
                <a:srgbClr val="FFFFFF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hod_node"/>
          <p:cNvSpPr/>
          <p:nvPr/>
        </p:nvSpPr>
        <p:spPr>
          <a:xfrm>
            <a:off x="594360" y="1418108"/>
            <a:ext cx="2048257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50" b="0" dirty="0">
                <a:solidFill>
                  <a:srgbClr val="111827"/>
                </a:solidFill>
                <a:latin typeface="Microsoft YaHei"/>
                <a:ea typeface="微软雅黑"/>
              </a:rPr>
              <a:t>POI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50" b="0" dirty="0">
                <a:solidFill>
                  <a:srgbClr val="111827"/>
                </a:solidFill>
                <a:latin typeface="Microsoft YaHei"/>
                <a:ea typeface="微软雅黑"/>
              </a:rPr>
              <a:t>BGE </a:t>
            </a:r>
            <a:r>
              <a:rPr lang="zh-CN" altLang="en-US" sz="1550" dirty="0">
                <a:solidFill>
                  <a:srgbClr val="111827"/>
                </a:solidFill>
                <a:latin typeface="Microsoft YaHei"/>
                <a:ea typeface="微软雅黑"/>
              </a:rPr>
              <a:t>名称</a:t>
            </a:r>
            <a:r>
              <a:rPr sz="1550" b="0" dirty="0">
                <a:solidFill>
                  <a:srgbClr val="111827"/>
                </a:solidFill>
                <a:latin typeface="Microsoft YaHei"/>
                <a:ea typeface="微软雅黑"/>
              </a:rPr>
              <a:t> +</a:t>
            </a:r>
            <a:r>
              <a:rPr lang="zh-CN" altLang="en-US" sz="1550" b="0" dirty="0">
                <a:solidFill>
                  <a:srgbClr val="111827"/>
                </a:solidFill>
                <a:latin typeface="Microsoft YaHei"/>
                <a:ea typeface="微软雅黑"/>
              </a:rPr>
              <a:t> 地址 </a:t>
            </a:r>
            <a:r>
              <a:rPr lang="en-US" altLang="zh-CN" sz="1550" b="0" dirty="0">
                <a:solidFill>
                  <a:srgbClr val="111827"/>
                </a:solidFill>
                <a:latin typeface="Microsoft YaHei"/>
                <a:ea typeface="微软雅黑"/>
              </a:rPr>
              <a:t>+</a:t>
            </a:r>
            <a:r>
              <a:rPr lang="zh-CN" altLang="en-US" sz="1550" b="0" dirty="0">
                <a:solidFill>
                  <a:srgbClr val="111827"/>
                </a:solidFill>
                <a:latin typeface="Microsoft YaHei"/>
                <a:ea typeface="微软雅黑"/>
              </a:rPr>
              <a:t> 别名</a:t>
            </a:r>
            <a:endParaRPr sz="1550" b="0" dirty="0">
              <a:solidFill>
                <a:srgbClr val="111827"/>
              </a:solidFill>
              <a:latin typeface="Microsoft YaHei"/>
              <a:ea typeface="微软雅黑"/>
            </a:endParaRPr>
          </a:p>
        </p:txBody>
      </p:sp>
      <p:sp>
        <p:nvSpPr>
          <p:cNvPr id="7" name="method_node"/>
          <p:cNvSpPr/>
          <p:nvPr/>
        </p:nvSpPr>
        <p:spPr>
          <a:xfrm>
            <a:off x="3136392" y="1418108"/>
            <a:ext cx="1984248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50" b="0">
                <a:solidFill>
                  <a:srgbClr val="111827"/>
                </a:solidFill>
                <a:latin typeface="Microsoft YaHei"/>
                <a:ea typeface="微软雅黑"/>
              </a:rPr>
              <a:t>POI residual view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50" b="0">
                <a:solidFill>
                  <a:srgbClr val="111827"/>
                </a:solidFill>
                <a:latin typeface="Microsoft YaHei"/>
                <a:ea typeface="微软雅黑"/>
              </a:rPr>
              <a:t>去全局方向</a:t>
            </a:r>
          </a:p>
        </p:txBody>
      </p:sp>
      <p:cxnSp>
        <p:nvCxnSpPr>
          <p:cNvPr id="8" name="method_edge"/>
          <p:cNvCxnSpPr/>
          <p:nvPr/>
        </p:nvCxnSpPr>
        <p:spPr>
          <a:xfrm>
            <a:off x="2715768" y="1829588"/>
            <a:ext cx="393192" cy="0"/>
          </a:xfrm>
          <a:prstGeom prst="line">
            <a:avLst/>
          </a:prstGeom>
          <a:ln w="14604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method_node"/>
          <p:cNvSpPr/>
          <p:nvPr/>
        </p:nvSpPr>
        <p:spPr>
          <a:xfrm>
            <a:off x="566928" y="2826284"/>
            <a:ext cx="2121408" cy="93268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  <a:ea typeface="微软雅黑"/>
              </a:rPr>
              <a:t>训练集 Query–POI 边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  <a:ea typeface="微软雅黑"/>
              </a:rPr>
              <a:t>频次 / 类别集中度 / 熵</a:t>
            </a:r>
          </a:p>
        </p:txBody>
      </p:sp>
      <p:sp>
        <p:nvSpPr>
          <p:cNvPr id="10" name="method_node"/>
          <p:cNvSpPr/>
          <p:nvPr/>
        </p:nvSpPr>
        <p:spPr>
          <a:xfrm>
            <a:off x="3108960" y="2876856"/>
            <a:ext cx="1984248" cy="822960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  <a:ea typeface="微软雅黑"/>
              </a:rPr>
              <a:t>监督深度与可靠性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  <a:ea typeface="微软雅黑"/>
              </a:rPr>
              <a:t>D0 / D1 / D2 / D3</a:t>
            </a:r>
          </a:p>
        </p:txBody>
      </p:sp>
      <p:cxnSp>
        <p:nvCxnSpPr>
          <p:cNvPr id="12" name="method_edge"/>
          <p:cNvCxnSpPr>
            <a:cxnSpLocks/>
            <a:stCxn id="9" idx="3"/>
            <a:endCxn id="10" idx="1"/>
          </p:cNvCxnSpPr>
          <p:nvPr/>
        </p:nvCxnSpPr>
        <p:spPr>
          <a:xfrm flipV="1">
            <a:off x="2688336" y="3288336"/>
            <a:ext cx="420624" cy="4292"/>
          </a:xfrm>
          <a:prstGeom prst="line">
            <a:avLst/>
          </a:prstGeom>
          <a:ln w="14604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method_node"/>
          <p:cNvSpPr/>
          <p:nvPr/>
        </p:nvSpPr>
        <p:spPr>
          <a:xfrm>
            <a:off x="5596128" y="1482115"/>
            <a:ext cx="1618488" cy="1234440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70" b="0">
                <a:solidFill>
                  <a:srgbClr val="111827"/>
                </a:solidFill>
                <a:latin typeface="Microsoft YaHei"/>
                <a:ea typeface="微软雅黑"/>
              </a:rPr>
              <a:t>S1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70" b="0">
                <a:solidFill>
                  <a:srgbClr val="111827"/>
                </a:solidFill>
                <a:latin typeface="Microsoft YaHei"/>
                <a:ea typeface="微软雅黑"/>
              </a:rPr>
              <a:t>双质心共享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70" b="0">
                <a:solidFill>
                  <a:srgbClr val="111827"/>
                </a:solidFill>
                <a:latin typeface="Microsoft YaHei"/>
                <a:ea typeface="微软雅黑"/>
              </a:rPr>
              <a:t>离散 token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70" b="0">
                <a:solidFill>
                  <a:srgbClr val="111827"/>
                </a:solidFill>
                <a:latin typeface="Microsoft YaHei"/>
                <a:ea typeface="微软雅黑"/>
              </a:rPr>
              <a:t>+ 粗类软锚点</a:t>
            </a:r>
          </a:p>
        </p:txBody>
      </p:sp>
      <p:sp>
        <p:nvSpPr>
          <p:cNvPr id="15" name="method_node"/>
          <p:cNvSpPr/>
          <p:nvPr/>
        </p:nvSpPr>
        <p:spPr>
          <a:xfrm>
            <a:off x="7635240" y="1482115"/>
            <a:ext cx="1618488" cy="1234440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70" b="0" dirty="0">
                <a:solidFill>
                  <a:srgbClr val="111827"/>
                </a:solidFill>
                <a:latin typeface="Microsoft YaHei"/>
                <a:ea typeface="微软雅黑"/>
              </a:rPr>
              <a:t>S2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70" b="0" dirty="0" err="1">
                <a:solidFill>
                  <a:srgbClr val="111827"/>
                </a:solidFill>
                <a:latin typeface="Microsoft YaHei"/>
                <a:ea typeface="微软雅黑"/>
              </a:rPr>
              <a:t>双视图残差</a:t>
            </a:r>
            <a:endParaRPr sz="1470" b="0" dirty="0">
              <a:solidFill>
                <a:srgbClr val="111827"/>
              </a:solidFill>
              <a:latin typeface="Microsoft YaHei"/>
              <a:ea typeface="微软雅黑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70" b="0" dirty="0">
                <a:solidFill>
                  <a:srgbClr val="111827"/>
                </a:solidFill>
                <a:latin typeface="Microsoft YaHei"/>
                <a:ea typeface="微软雅黑"/>
              </a:rPr>
              <a:t>+ </a:t>
            </a:r>
            <a:r>
              <a:rPr sz="1470" b="0" dirty="0" err="1">
                <a:solidFill>
                  <a:srgbClr val="111827"/>
                </a:solidFill>
                <a:latin typeface="Microsoft YaHei"/>
                <a:ea typeface="微软雅黑"/>
              </a:rPr>
              <a:t>条件细类锚点</a:t>
            </a:r>
            <a:endParaRPr sz="1470" b="0" dirty="0">
              <a:solidFill>
                <a:srgbClr val="111827"/>
              </a:solidFill>
              <a:latin typeface="Microsoft YaHei"/>
              <a:ea typeface="微软雅黑"/>
            </a:endParaRPr>
          </a:p>
        </p:txBody>
      </p:sp>
      <p:sp>
        <p:nvSpPr>
          <p:cNvPr id="16" name="method_node"/>
          <p:cNvSpPr/>
          <p:nvPr/>
        </p:nvSpPr>
        <p:spPr>
          <a:xfrm>
            <a:off x="9674352" y="1482115"/>
            <a:ext cx="1618488" cy="1234440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20" b="0">
                <a:solidFill>
                  <a:srgbClr val="111827"/>
                </a:solidFill>
                <a:latin typeface="Microsoft YaHei"/>
                <a:ea typeface="微软雅黑"/>
              </a:rPr>
              <a:t>S3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20" b="0">
                <a:solidFill>
                  <a:srgbClr val="111827"/>
                </a:solidFill>
                <a:latin typeface="Microsoft YaHei"/>
                <a:ea typeface="微软雅黑"/>
              </a:rPr>
              <a:t>D3 双视图残差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20" b="0">
                <a:solidFill>
                  <a:srgbClr val="111827"/>
                </a:solidFill>
                <a:latin typeface="Microsoft YaHei"/>
                <a:ea typeface="微软雅黑"/>
              </a:rPr>
              <a:t>+ 局部 Geo / 困难图</a:t>
            </a:r>
          </a:p>
        </p:txBody>
      </p:sp>
      <p:cxnSp>
        <p:nvCxnSpPr>
          <p:cNvPr id="17" name="method_edge"/>
          <p:cNvCxnSpPr/>
          <p:nvPr/>
        </p:nvCxnSpPr>
        <p:spPr>
          <a:xfrm>
            <a:off x="5120640" y="1829588"/>
            <a:ext cx="448056" cy="0"/>
          </a:xfrm>
          <a:prstGeom prst="line">
            <a:avLst/>
          </a:prstGeom>
          <a:ln w="14604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method_edge"/>
          <p:cNvCxnSpPr/>
          <p:nvPr/>
        </p:nvCxnSpPr>
        <p:spPr>
          <a:xfrm>
            <a:off x="5120640" y="3301772"/>
            <a:ext cx="237744" cy="0"/>
          </a:xfrm>
          <a:prstGeom prst="line">
            <a:avLst/>
          </a:prstGeom>
          <a:ln w="14604">
            <a:solidFill>
              <a:srgbClr val="1A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method_edge"/>
          <p:cNvCxnSpPr>
            <a:cxnSpLocks/>
          </p:cNvCxnSpPr>
          <p:nvPr/>
        </p:nvCxnSpPr>
        <p:spPr>
          <a:xfrm flipV="1">
            <a:off x="5358384" y="2103908"/>
            <a:ext cx="0" cy="1197864"/>
          </a:xfrm>
          <a:prstGeom prst="line">
            <a:avLst/>
          </a:prstGeom>
          <a:ln w="14604">
            <a:solidFill>
              <a:srgbClr val="1A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method_edge"/>
          <p:cNvCxnSpPr/>
          <p:nvPr/>
        </p:nvCxnSpPr>
        <p:spPr>
          <a:xfrm>
            <a:off x="5358384" y="2103908"/>
            <a:ext cx="210312" cy="0"/>
          </a:xfrm>
          <a:prstGeom prst="line">
            <a:avLst/>
          </a:prstGeom>
          <a:ln w="14604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method_edge"/>
          <p:cNvCxnSpPr/>
          <p:nvPr/>
        </p:nvCxnSpPr>
        <p:spPr>
          <a:xfrm>
            <a:off x="7214616" y="2103908"/>
            <a:ext cx="393192" cy="0"/>
          </a:xfrm>
          <a:prstGeom prst="line">
            <a:avLst/>
          </a:prstGeom>
          <a:ln w="14604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method_edge"/>
          <p:cNvCxnSpPr/>
          <p:nvPr/>
        </p:nvCxnSpPr>
        <p:spPr>
          <a:xfrm>
            <a:off x="9253728" y="2103908"/>
            <a:ext cx="393192" cy="0"/>
          </a:xfrm>
          <a:prstGeom prst="line">
            <a:avLst/>
          </a:prstGeom>
          <a:ln w="14604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37960" y="2881148"/>
            <a:ext cx="3858768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1A3A6B"/>
                </a:solidFill>
                <a:latin typeface="Microsoft YaHei"/>
                <a:ea typeface="微软雅黑"/>
              </a:rPr>
              <a:t>projection residual</a:t>
            </a:r>
          </a:p>
        </p:txBody>
      </p:sp>
      <p:cxnSp>
        <p:nvCxnSpPr>
          <p:cNvPr id="27" name="method_edge"/>
          <p:cNvCxnSpPr/>
          <p:nvPr/>
        </p:nvCxnSpPr>
        <p:spPr>
          <a:xfrm>
            <a:off x="5961888" y="3301772"/>
            <a:ext cx="4965192" cy="0"/>
          </a:xfrm>
          <a:prstGeom prst="line">
            <a:avLst/>
          </a:prstGeom>
          <a:ln w="19050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method_node"/>
          <p:cNvSpPr/>
          <p:nvPr/>
        </p:nvSpPr>
        <p:spPr>
          <a:xfrm>
            <a:off x="7470648" y="3612668"/>
            <a:ext cx="3822191" cy="594360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700" b="1" dirty="0">
                <a:solidFill>
                  <a:srgbClr val="111827"/>
                </a:solidFill>
                <a:latin typeface="Microsoft YaHei"/>
                <a:ea typeface="微软雅黑"/>
              </a:rPr>
              <a:t>QG SID = [S1, S2, S3]</a:t>
            </a:r>
          </a:p>
        </p:txBody>
      </p:sp>
      <p:sp>
        <p:nvSpPr>
          <p:cNvPr id="30" name="method_node"/>
          <p:cNvSpPr/>
          <p:nvPr/>
        </p:nvSpPr>
        <p:spPr>
          <a:xfrm>
            <a:off x="7470648" y="4472203"/>
            <a:ext cx="3822191" cy="72542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残留碰撞追加确定性</a:t>
            </a: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 C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Final PID = [S1,S2,S3,C]</a:t>
            </a:r>
          </a:p>
        </p:txBody>
      </p:sp>
      <p:cxnSp>
        <p:nvCxnSpPr>
          <p:cNvPr id="31" name="method_edge"/>
          <p:cNvCxnSpPr/>
          <p:nvPr/>
        </p:nvCxnSpPr>
        <p:spPr>
          <a:xfrm>
            <a:off x="9381744" y="4207028"/>
            <a:ext cx="0" cy="237744"/>
          </a:xfrm>
          <a:prstGeom prst="line">
            <a:avLst/>
          </a:prstGeom>
          <a:ln w="14604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76297" y="5185995"/>
            <a:ext cx="6894333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b="0" dirty="0">
                <a:solidFill>
                  <a:srgbClr val="111827"/>
                </a:solidFill>
                <a:latin typeface="Microsoft YaHei"/>
                <a:ea typeface="微软雅黑"/>
              </a:rPr>
              <a:t>D1→S1；D2→S1–S2；D3→S1–S3。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b="0" dirty="0" err="1">
                <a:solidFill>
                  <a:srgbClr val="111827"/>
                </a:solidFill>
                <a:latin typeface="Microsoft YaHei"/>
                <a:ea typeface="微软雅黑"/>
              </a:rPr>
              <a:t>类别只约束</a:t>
            </a:r>
            <a:r>
              <a:rPr b="0" dirty="0">
                <a:solidFill>
                  <a:srgbClr val="111827"/>
                </a:solidFill>
                <a:latin typeface="Microsoft YaHei"/>
                <a:ea typeface="微软雅黑"/>
              </a:rPr>
              <a:t> S1/S2；相对 Geo </a:t>
            </a:r>
            <a:r>
              <a:rPr b="0" dirty="0" err="1">
                <a:solidFill>
                  <a:srgbClr val="111827"/>
                </a:solidFill>
                <a:latin typeface="Microsoft YaHei"/>
                <a:ea typeface="微软雅黑"/>
              </a:rPr>
              <a:t>只在</a:t>
            </a:r>
            <a:r>
              <a:rPr b="0" dirty="0">
                <a:solidFill>
                  <a:srgbClr val="111827"/>
                </a:solidFill>
                <a:latin typeface="Microsoft YaHei"/>
                <a:ea typeface="微软雅黑"/>
              </a:rPr>
              <a:t> S1/S2 </a:t>
            </a:r>
            <a:r>
              <a:rPr b="0" dirty="0" err="1">
                <a:solidFill>
                  <a:srgbClr val="111827"/>
                </a:solidFill>
                <a:latin typeface="Microsoft YaHei"/>
                <a:ea typeface="微软雅黑"/>
              </a:rPr>
              <a:t>父组内约束</a:t>
            </a:r>
            <a:r>
              <a:rPr b="0" dirty="0">
                <a:solidFill>
                  <a:srgbClr val="111827"/>
                </a:solidFill>
                <a:latin typeface="Microsoft YaHei"/>
                <a:ea typeface="微软雅黑"/>
              </a:rPr>
              <a:t> S3。</a:t>
            </a: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0EC3FF92-3033-171E-87AE-ED34ACFC00D2}"/>
              </a:ext>
            </a:extLst>
          </p:cNvPr>
          <p:cNvSpPr txBox="1">
            <a:spLocks/>
          </p:cNvSpPr>
          <p:nvPr/>
        </p:nvSpPr>
        <p:spPr>
          <a:xfrm>
            <a:off x="120210" y="91441"/>
            <a:ext cx="8391612" cy="576072"/>
          </a:xfrm>
          <a:prstGeom prst="rect">
            <a:avLst/>
          </a:prstGeom>
        </p:spPr>
        <p:txBody>
          <a:bodyPr vert="horz" wrap="square" lIns="27432" tIns="18288" rIns="27432" bIns="18288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1" kern="1200" baseline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j-cs"/>
              </a:defRPr>
            </a:lvl1pPr>
          </a:lstStyle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altLang="zh-CN" sz="2800" dirty="0">
                <a:solidFill>
                  <a:srgbClr val="FFFFFF"/>
                </a:solidFill>
                <a:latin typeface="Microsoft YaHei"/>
                <a:ea typeface="微软雅黑"/>
              </a:rPr>
              <a:t>QG-HRQ</a:t>
            </a:r>
            <a:r>
              <a:rPr lang="zh-CN" altLang="en-US" sz="2800" dirty="0">
                <a:solidFill>
                  <a:srgbClr val="FFFFFF"/>
                </a:solidFill>
                <a:latin typeface="Microsoft YaHei"/>
                <a:ea typeface="微软雅黑"/>
              </a:rPr>
              <a:t>：</a:t>
            </a:r>
            <a:r>
              <a:rPr lang="zh-CN" altLang="zh-CN" sz="2800" dirty="0"/>
              <a:t>查询</a:t>
            </a:r>
            <a:r>
              <a:rPr lang="en-US" altLang="zh-CN" sz="2800" dirty="0"/>
              <a:t>-</a:t>
            </a:r>
            <a:r>
              <a:rPr lang="zh-CN" altLang="zh-CN" sz="2800" dirty="0"/>
              <a:t>地理感知的分层残差</a:t>
            </a:r>
            <a:r>
              <a:rPr lang="zh-CN" altLang="en-US" sz="2800" dirty="0">
                <a:solidFill>
                  <a:srgbClr val="FFFFFF"/>
                </a:solidFill>
                <a:latin typeface="Microsoft YaHei"/>
                <a:ea typeface="微软雅黑"/>
              </a:rPr>
              <a:t>量化</a:t>
            </a:r>
            <a:endParaRPr lang="zh-CN" altLang="en-US" sz="2800" dirty="0">
              <a:solidFill>
                <a:srgbClr val="FFFFFF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66928" y="950976"/>
            <a:ext cx="11027664" cy="504501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b="0" dirty="0" err="1">
                <a:latin typeface="Microsoft YaHei"/>
                <a:ea typeface="微软雅黑"/>
              </a:rPr>
              <a:t>同一个</a:t>
            </a:r>
            <a:r>
              <a:rPr b="0" dirty="0">
                <a:latin typeface="Microsoft YaHei"/>
                <a:ea typeface="微软雅黑"/>
              </a:rPr>
              <a:t> Query </a:t>
            </a:r>
            <a:r>
              <a:rPr b="0" dirty="0" err="1">
                <a:latin typeface="Microsoft YaHei"/>
                <a:ea typeface="微软雅黑"/>
              </a:rPr>
              <a:t>的目标分布先按</a:t>
            </a:r>
            <a:r>
              <a:rPr lang="zh-CN" altLang="en-US" dirty="0">
                <a:latin typeface="Microsoft YaHei"/>
                <a:ea typeface="微软雅黑"/>
              </a:rPr>
              <a:t>粗类别</a:t>
            </a:r>
            <a:r>
              <a:rPr b="0" dirty="0">
                <a:latin typeface="Microsoft YaHei"/>
                <a:ea typeface="微软雅黑"/>
              </a:rPr>
              <a:t>/</a:t>
            </a:r>
            <a:r>
              <a:rPr lang="zh-CN" altLang="en-US" b="0" dirty="0">
                <a:latin typeface="Microsoft YaHei"/>
                <a:ea typeface="微软雅黑"/>
              </a:rPr>
              <a:t>细类别</a:t>
            </a:r>
            <a:r>
              <a:rPr b="0" dirty="0">
                <a:latin typeface="Microsoft YaHei"/>
                <a:ea typeface="微软雅黑"/>
              </a:rPr>
              <a:t>/</a:t>
            </a:r>
            <a:r>
              <a:rPr lang="zh-CN" altLang="en-US" b="0" dirty="0">
                <a:latin typeface="Microsoft YaHei"/>
                <a:ea typeface="微软雅黑"/>
              </a:rPr>
              <a:t>精确</a:t>
            </a:r>
            <a:r>
              <a:rPr lang="en-US" altLang="zh-CN" b="0" dirty="0" err="1">
                <a:latin typeface="Microsoft YaHei"/>
                <a:ea typeface="微软雅黑"/>
              </a:rPr>
              <a:t>POI</a:t>
            </a:r>
            <a:r>
              <a:rPr b="0" dirty="0" err="1">
                <a:latin typeface="Microsoft YaHei"/>
                <a:ea typeface="微软雅黑"/>
              </a:rPr>
              <a:t>聚合，再由集中度与熵决定监督深度</a:t>
            </a:r>
            <a:r>
              <a:rPr b="0" dirty="0">
                <a:latin typeface="Microsoft YaHei"/>
                <a:ea typeface="微软雅黑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28216"/>
            <a:ext cx="2267712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 dirty="0">
                <a:solidFill>
                  <a:srgbClr val="000000"/>
                </a:solidFill>
                <a:latin typeface="Microsoft YaHei"/>
                <a:ea typeface="微软雅黑"/>
              </a:rPr>
              <a:t>“</a:t>
            </a:r>
            <a:r>
              <a:rPr sz="1600" b="1" dirty="0" err="1">
                <a:solidFill>
                  <a:srgbClr val="000000"/>
                </a:solidFill>
                <a:latin typeface="Microsoft YaHei"/>
                <a:ea typeface="微软雅黑"/>
              </a:rPr>
              <a:t>附近好吃的</a:t>
            </a:r>
            <a:r>
              <a:rPr sz="1600" b="1" dirty="0">
                <a:solidFill>
                  <a:srgbClr val="000000"/>
                </a:solidFill>
                <a:latin typeface="Microsoft YaHei"/>
                <a:ea typeface="微软雅黑"/>
              </a:rPr>
              <a:t>”</a:t>
            </a:r>
          </a:p>
        </p:txBody>
      </p:sp>
      <p:sp>
        <p:nvSpPr>
          <p:cNvPr id="7" name="method_token"/>
          <p:cNvSpPr/>
          <p:nvPr/>
        </p:nvSpPr>
        <p:spPr>
          <a:xfrm>
            <a:off x="2880360" y="1719072"/>
            <a:ext cx="786384" cy="4389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D0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208" y="1755648"/>
            <a:ext cx="2852928" cy="4297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目标跨类别且分散</a:t>
            </a:r>
            <a:endParaRPr sz="1600" b="0" dirty="0">
              <a:solidFill>
                <a:srgbClr val="111827"/>
              </a:solidFill>
              <a:latin typeface="Microsoft YaHei"/>
              <a:ea typeface="微软雅黑"/>
            </a:endParaRPr>
          </a:p>
        </p:txBody>
      </p:sp>
      <p:cxnSp>
        <p:nvCxnSpPr>
          <p:cNvPr id="9" name="method_edge"/>
          <p:cNvCxnSpPr/>
          <p:nvPr/>
        </p:nvCxnSpPr>
        <p:spPr>
          <a:xfrm>
            <a:off x="6812280" y="1984248"/>
            <a:ext cx="521208" cy="0"/>
          </a:xfrm>
          <a:prstGeom prst="line">
            <a:avLst/>
          </a:prstGeom>
          <a:ln w="14604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34656" y="1812093"/>
            <a:ext cx="1481328" cy="3566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 dirty="0" err="1">
                <a:solidFill>
                  <a:srgbClr val="1A3A6B"/>
                </a:solidFill>
                <a:latin typeface="Microsoft YaHei"/>
                <a:ea typeface="微软雅黑"/>
              </a:rPr>
              <a:t>不监督</a:t>
            </a:r>
            <a:r>
              <a:rPr sz="1600" b="1" dirty="0">
                <a:solidFill>
                  <a:srgbClr val="1A3A6B"/>
                </a:solidFill>
                <a:latin typeface="Microsoft YaHei"/>
                <a:ea typeface="微软雅黑"/>
              </a:rPr>
              <a:t> SID</a:t>
            </a:r>
          </a:p>
        </p:txBody>
      </p:sp>
      <p:sp>
        <p:nvSpPr>
          <p:cNvPr id="11" name="method_token"/>
          <p:cNvSpPr/>
          <p:nvPr/>
        </p:nvSpPr>
        <p:spPr>
          <a:xfrm>
            <a:off x="9281160" y="1719072"/>
            <a:ext cx="576072" cy="4389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S1</a:t>
            </a:r>
          </a:p>
        </p:txBody>
      </p:sp>
      <p:sp>
        <p:nvSpPr>
          <p:cNvPr id="12" name="method_token"/>
          <p:cNvSpPr/>
          <p:nvPr/>
        </p:nvSpPr>
        <p:spPr>
          <a:xfrm>
            <a:off x="9994392" y="1719072"/>
            <a:ext cx="576072" cy="4389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S2</a:t>
            </a:r>
          </a:p>
        </p:txBody>
      </p:sp>
      <p:sp>
        <p:nvSpPr>
          <p:cNvPr id="13" name="method_token"/>
          <p:cNvSpPr/>
          <p:nvPr/>
        </p:nvSpPr>
        <p:spPr>
          <a:xfrm>
            <a:off x="10707624" y="1719072"/>
            <a:ext cx="576072" cy="4389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S3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523744"/>
            <a:ext cx="2267712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>
                <a:solidFill>
                  <a:srgbClr val="000000"/>
                </a:solidFill>
                <a:latin typeface="Microsoft YaHei"/>
                <a:ea typeface="微软雅黑"/>
              </a:rPr>
              <a:t>“火锅”</a:t>
            </a:r>
          </a:p>
        </p:txBody>
      </p:sp>
      <p:sp>
        <p:nvSpPr>
          <p:cNvPr id="15" name="method_token"/>
          <p:cNvSpPr/>
          <p:nvPr/>
        </p:nvSpPr>
        <p:spPr>
          <a:xfrm>
            <a:off x="2880360" y="2514600"/>
            <a:ext cx="786384" cy="438912"/>
          </a:xfrm>
          <a:prstGeom prst="roundRect">
            <a:avLst/>
          </a:prstGeom>
          <a:solidFill>
            <a:srgbClr val="EAF2FF"/>
          </a:solidFill>
          <a:ln w="17780"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111827"/>
                </a:solidFill>
                <a:latin typeface="Microsoft YaHei"/>
                <a:ea typeface="微软雅黑"/>
              </a:rPr>
              <a:t>D1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50208" y="2551176"/>
            <a:ext cx="2852928" cy="4297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粗类别集中</a:t>
            </a:r>
          </a:p>
        </p:txBody>
      </p:sp>
      <p:cxnSp>
        <p:nvCxnSpPr>
          <p:cNvPr id="17" name="method_edge"/>
          <p:cNvCxnSpPr/>
          <p:nvPr/>
        </p:nvCxnSpPr>
        <p:spPr>
          <a:xfrm>
            <a:off x="6812280" y="2779776"/>
            <a:ext cx="521208" cy="0"/>
          </a:xfrm>
          <a:prstGeom prst="line">
            <a:avLst/>
          </a:prstGeom>
          <a:ln w="14604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534656" y="2618910"/>
            <a:ext cx="1481328" cy="3566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>
                <a:solidFill>
                  <a:srgbClr val="1A3A6B"/>
                </a:solidFill>
                <a:latin typeface="Microsoft YaHei"/>
                <a:ea typeface="微软雅黑"/>
              </a:rPr>
              <a:t>S1</a:t>
            </a:r>
          </a:p>
        </p:txBody>
      </p:sp>
      <p:sp>
        <p:nvSpPr>
          <p:cNvPr id="19" name="method_token"/>
          <p:cNvSpPr/>
          <p:nvPr/>
        </p:nvSpPr>
        <p:spPr>
          <a:xfrm>
            <a:off x="9281160" y="2514600"/>
            <a:ext cx="576072" cy="438912"/>
          </a:xfrm>
          <a:prstGeom prst="roundRect">
            <a:avLst/>
          </a:prstGeom>
          <a:solidFill>
            <a:srgbClr val="EAF2FF"/>
          </a:solidFill>
          <a:ln w="17780"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111827"/>
                </a:solidFill>
                <a:latin typeface="Microsoft YaHei"/>
                <a:ea typeface="微软雅黑"/>
              </a:rPr>
              <a:t>S1</a:t>
            </a:r>
          </a:p>
        </p:txBody>
      </p:sp>
      <p:sp>
        <p:nvSpPr>
          <p:cNvPr id="20" name="method_token"/>
          <p:cNvSpPr/>
          <p:nvPr/>
        </p:nvSpPr>
        <p:spPr>
          <a:xfrm>
            <a:off x="9994392" y="2514600"/>
            <a:ext cx="576072" cy="4389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S2</a:t>
            </a:r>
          </a:p>
        </p:txBody>
      </p:sp>
      <p:sp>
        <p:nvSpPr>
          <p:cNvPr id="21" name="method_token"/>
          <p:cNvSpPr/>
          <p:nvPr/>
        </p:nvSpPr>
        <p:spPr>
          <a:xfrm>
            <a:off x="10707624" y="2514600"/>
            <a:ext cx="576072" cy="4389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S3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319272"/>
            <a:ext cx="2267712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>
                <a:solidFill>
                  <a:srgbClr val="000000"/>
                </a:solidFill>
                <a:latin typeface="Microsoft YaHei"/>
                <a:ea typeface="微软雅黑"/>
              </a:rPr>
              <a:t>“川味火锅”</a:t>
            </a:r>
          </a:p>
        </p:txBody>
      </p:sp>
      <p:sp>
        <p:nvSpPr>
          <p:cNvPr id="23" name="method_token"/>
          <p:cNvSpPr/>
          <p:nvPr/>
        </p:nvSpPr>
        <p:spPr>
          <a:xfrm>
            <a:off x="2880360" y="3310128"/>
            <a:ext cx="786384" cy="438912"/>
          </a:xfrm>
          <a:prstGeom prst="roundRect">
            <a:avLst/>
          </a:prstGeom>
          <a:solidFill>
            <a:srgbClr val="EAF2FF"/>
          </a:solidFill>
          <a:ln w="17780"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111827"/>
                </a:solidFill>
                <a:latin typeface="Microsoft YaHei"/>
                <a:ea typeface="微软雅黑"/>
              </a:rPr>
              <a:t>D2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0208" y="3346704"/>
            <a:ext cx="2852928" cy="4297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细类别集中</a:t>
            </a:r>
          </a:p>
        </p:txBody>
      </p:sp>
      <p:cxnSp>
        <p:nvCxnSpPr>
          <p:cNvPr id="25" name="method_edge"/>
          <p:cNvCxnSpPr/>
          <p:nvPr/>
        </p:nvCxnSpPr>
        <p:spPr>
          <a:xfrm>
            <a:off x="6812280" y="3575304"/>
            <a:ext cx="521208" cy="0"/>
          </a:xfrm>
          <a:prstGeom prst="line">
            <a:avLst/>
          </a:prstGeom>
          <a:ln w="14604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534656" y="3414438"/>
            <a:ext cx="1481328" cy="3566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 dirty="0">
                <a:solidFill>
                  <a:srgbClr val="1A3A6B"/>
                </a:solidFill>
                <a:latin typeface="Microsoft YaHei"/>
                <a:ea typeface="微软雅黑"/>
              </a:rPr>
              <a:t>S1 + S2</a:t>
            </a:r>
          </a:p>
        </p:txBody>
      </p:sp>
      <p:sp>
        <p:nvSpPr>
          <p:cNvPr id="27" name="method_token"/>
          <p:cNvSpPr/>
          <p:nvPr/>
        </p:nvSpPr>
        <p:spPr>
          <a:xfrm>
            <a:off x="9281160" y="3310128"/>
            <a:ext cx="576072" cy="438912"/>
          </a:xfrm>
          <a:prstGeom prst="roundRect">
            <a:avLst/>
          </a:prstGeom>
          <a:solidFill>
            <a:srgbClr val="EAF2FF"/>
          </a:solidFill>
          <a:ln w="17780"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111827"/>
                </a:solidFill>
                <a:latin typeface="Microsoft YaHei"/>
                <a:ea typeface="微软雅黑"/>
              </a:rPr>
              <a:t>S1</a:t>
            </a:r>
          </a:p>
        </p:txBody>
      </p:sp>
      <p:sp>
        <p:nvSpPr>
          <p:cNvPr id="28" name="method_token"/>
          <p:cNvSpPr/>
          <p:nvPr/>
        </p:nvSpPr>
        <p:spPr>
          <a:xfrm>
            <a:off x="9994392" y="3310128"/>
            <a:ext cx="576072" cy="438912"/>
          </a:xfrm>
          <a:prstGeom prst="roundRect">
            <a:avLst/>
          </a:prstGeom>
          <a:solidFill>
            <a:srgbClr val="EAF2FF"/>
          </a:solidFill>
          <a:ln w="17780"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111827"/>
                </a:solidFill>
                <a:latin typeface="Microsoft YaHei"/>
                <a:ea typeface="微软雅黑"/>
              </a:rPr>
              <a:t>S2</a:t>
            </a:r>
          </a:p>
        </p:txBody>
      </p:sp>
      <p:sp>
        <p:nvSpPr>
          <p:cNvPr id="29" name="method_token"/>
          <p:cNvSpPr/>
          <p:nvPr/>
        </p:nvSpPr>
        <p:spPr>
          <a:xfrm>
            <a:off x="10707624" y="3310128"/>
            <a:ext cx="576072" cy="4389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S3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4114799"/>
            <a:ext cx="2267712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 dirty="0">
                <a:solidFill>
                  <a:srgbClr val="000000"/>
                </a:solidFill>
                <a:latin typeface="Microsoft YaHei"/>
                <a:ea typeface="微软雅黑"/>
              </a:rPr>
              <a:t>“</a:t>
            </a:r>
            <a:r>
              <a:rPr sz="1600" b="1" dirty="0" err="1">
                <a:solidFill>
                  <a:srgbClr val="000000"/>
                </a:solidFill>
                <a:latin typeface="Microsoft YaHei"/>
                <a:ea typeface="微软雅黑"/>
              </a:rPr>
              <a:t>海底捞西单店</a:t>
            </a:r>
            <a:r>
              <a:rPr sz="1600" b="1" dirty="0">
                <a:solidFill>
                  <a:srgbClr val="000000"/>
                </a:solidFill>
                <a:latin typeface="Microsoft YaHei"/>
                <a:ea typeface="微软雅黑"/>
              </a:rPr>
              <a:t>”</a:t>
            </a:r>
          </a:p>
        </p:txBody>
      </p:sp>
      <p:sp>
        <p:nvSpPr>
          <p:cNvPr id="31" name="method_token"/>
          <p:cNvSpPr/>
          <p:nvPr/>
        </p:nvSpPr>
        <p:spPr>
          <a:xfrm>
            <a:off x="2880360" y="4105655"/>
            <a:ext cx="786384" cy="438912"/>
          </a:xfrm>
          <a:prstGeom prst="roundRect">
            <a:avLst/>
          </a:prstGeom>
          <a:solidFill>
            <a:srgbClr val="EAF2FF"/>
          </a:solidFill>
          <a:ln w="17780"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111827"/>
                </a:solidFill>
                <a:latin typeface="Microsoft YaHei"/>
                <a:ea typeface="微软雅黑"/>
              </a:rPr>
              <a:t>D3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50208" y="4142231"/>
            <a:ext cx="2852928" cy="4297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Exact POI 高置信</a:t>
            </a:r>
          </a:p>
        </p:txBody>
      </p:sp>
      <p:cxnSp>
        <p:nvCxnSpPr>
          <p:cNvPr id="33" name="method_edge"/>
          <p:cNvCxnSpPr/>
          <p:nvPr/>
        </p:nvCxnSpPr>
        <p:spPr>
          <a:xfrm>
            <a:off x="6812280" y="4370831"/>
            <a:ext cx="521208" cy="0"/>
          </a:xfrm>
          <a:prstGeom prst="line">
            <a:avLst/>
          </a:prstGeom>
          <a:ln w="14604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534656" y="4243832"/>
            <a:ext cx="1481328" cy="3566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>
                <a:solidFill>
                  <a:srgbClr val="1A3A6B"/>
                </a:solidFill>
                <a:latin typeface="Microsoft YaHei"/>
                <a:ea typeface="微软雅黑"/>
              </a:rPr>
              <a:t>S1 + S2 + S3</a:t>
            </a:r>
          </a:p>
        </p:txBody>
      </p:sp>
      <p:sp>
        <p:nvSpPr>
          <p:cNvPr id="35" name="method_token"/>
          <p:cNvSpPr/>
          <p:nvPr/>
        </p:nvSpPr>
        <p:spPr>
          <a:xfrm>
            <a:off x="9281160" y="4105655"/>
            <a:ext cx="576072" cy="438912"/>
          </a:xfrm>
          <a:prstGeom prst="roundRect">
            <a:avLst/>
          </a:prstGeom>
          <a:solidFill>
            <a:srgbClr val="EAF2FF"/>
          </a:solidFill>
          <a:ln w="17780"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111827"/>
                </a:solidFill>
                <a:latin typeface="Microsoft YaHei"/>
                <a:ea typeface="微软雅黑"/>
              </a:rPr>
              <a:t>S1</a:t>
            </a:r>
          </a:p>
        </p:txBody>
      </p:sp>
      <p:sp>
        <p:nvSpPr>
          <p:cNvPr id="36" name="method_token"/>
          <p:cNvSpPr/>
          <p:nvPr/>
        </p:nvSpPr>
        <p:spPr>
          <a:xfrm>
            <a:off x="9994392" y="4105655"/>
            <a:ext cx="576072" cy="438912"/>
          </a:xfrm>
          <a:prstGeom prst="roundRect">
            <a:avLst/>
          </a:prstGeom>
          <a:solidFill>
            <a:srgbClr val="EAF2FF"/>
          </a:solidFill>
          <a:ln w="17780"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111827"/>
                </a:solidFill>
                <a:latin typeface="Microsoft YaHei"/>
                <a:ea typeface="微软雅黑"/>
              </a:rPr>
              <a:t>S2</a:t>
            </a:r>
          </a:p>
        </p:txBody>
      </p:sp>
      <p:sp>
        <p:nvSpPr>
          <p:cNvPr id="37" name="method_token"/>
          <p:cNvSpPr/>
          <p:nvPr/>
        </p:nvSpPr>
        <p:spPr>
          <a:xfrm>
            <a:off x="10707624" y="4105655"/>
            <a:ext cx="576072" cy="438912"/>
          </a:xfrm>
          <a:prstGeom prst="roundRect">
            <a:avLst/>
          </a:prstGeom>
          <a:solidFill>
            <a:srgbClr val="EAF2FF"/>
          </a:solidFill>
          <a:ln w="17780"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111827"/>
                </a:solidFill>
                <a:latin typeface="Microsoft YaHei"/>
                <a:ea typeface="微软雅黑"/>
              </a:rPr>
              <a:t>S3</a:t>
            </a:r>
          </a:p>
        </p:txBody>
      </p:sp>
      <p:sp>
        <p:nvSpPr>
          <p:cNvPr id="38" name="method_formula_bg"/>
          <p:cNvSpPr/>
          <p:nvPr/>
        </p:nvSpPr>
        <p:spPr>
          <a:xfrm>
            <a:off x="3023664" y="4983480"/>
            <a:ext cx="5851596" cy="1473764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pic>
        <p:nvPicPr>
          <p:cNvPr id="39" name="latex_formula" descr="LaTeX: P_l(c\mid q)=\sum_{p\in c}P(p\mid q),\qquad C_l(q)=\max_c P_l(c\mid q)&#10;H_l(q)=-\frac{\sum_c P_l(c\mid q)\log P_l(c\mid q)}{\log|\mathcal{C}_l|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9067" y="5126001"/>
            <a:ext cx="4865259" cy="1188721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32112693-C4DA-6329-4EF7-5681A1EB0085}"/>
              </a:ext>
            </a:extLst>
          </p:cNvPr>
          <p:cNvSpPr txBox="1">
            <a:spLocks/>
          </p:cNvSpPr>
          <p:nvPr/>
        </p:nvSpPr>
        <p:spPr>
          <a:xfrm>
            <a:off x="120210" y="91441"/>
            <a:ext cx="8391612" cy="576072"/>
          </a:xfrm>
          <a:prstGeom prst="rect">
            <a:avLst/>
          </a:prstGeom>
        </p:spPr>
        <p:txBody>
          <a:bodyPr vert="horz" wrap="square" lIns="27432" tIns="18288" rIns="27432" bIns="18288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1" kern="1200" baseline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j-cs"/>
              </a:defRPr>
            </a:lvl1pPr>
          </a:lstStyle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zh-CN" altLang="en-US" sz="2800" dirty="0">
                <a:solidFill>
                  <a:srgbClr val="FFFFFF"/>
                </a:solidFill>
                <a:latin typeface="Microsoft YaHei"/>
                <a:ea typeface="微软雅黑"/>
              </a:rPr>
              <a:t>机制一：</a:t>
            </a:r>
            <a:r>
              <a:rPr lang="en-US" altLang="zh-CN" sz="2800" dirty="0">
                <a:solidFill>
                  <a:srgbClr val="FFFFFF"/>
                </a:solidFill>
                <a:latin typeface="Microsoft YaHei"/>
                <a:ea typeface="微软雅黑"/>
              </a:rPr>
              <a:t>Query</a:t>
            </a:r>
            <a:r>
              <a:rPr lang="zh-CN" altLang="en-US" sz="2800" dirty="0">
                <a:solidFill>
                  <a:srgbClr val="FFFFFF"/>
                </a:solidFill>
                <a:latin typeface="Microsoft YaHei"/>
                <a:ea typeface="微软雅黑"/>
              </a:rPr>
              <a:t>能确定多少语义就监督到多少层</a:t>
            </a:r>
            <a:endParaRPr lang="zh-CN" altLang="en-US" sz="2800" dirty="0">
              <a:solidFill>
                <a:srgbClr val="FFFFFF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4916" y="1057826"/>
            <a:ext cx="11027664" cy="640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b="0" dirty="0">
                <a:latin typeface="Microsoft YaHei"/>
                <a:ea typeface="微软雅黑"/>
              </a:rPr>
              <a:t>Query </a:t>
            </a:r>
            <a:r>
              <a:rPr b="0" dirty="0" err="1">
                <a:latin typeface="Microsoft YaHei"/>
                <a:ea typeface="微软雅黑"/>
              </a:rPr>
              <a:t>可连接多个POI，但每层的总边质量被可靠性限制，避免热门粗</a:t>
            </a:r>
            <a:r>
              <a:rPr b="0" dirty="0">
                <a:latin typeface="Microsoft YaHei"/>
                <a:ea typeface="微软雅黑"/>
              </a:rPr>
              <a:t> Query </a:t>
            </a:r>
            <a:r>
              <a:rPr b="0" dirty="0" err="1">
                <a:latin typeface="Microsoft YaHei"/>
                <a:ea typeface="微软雅黑"/>
              </a:rPr>
              <a:t>主导聚类</a:t>
            </a:r>
            <a:r>
              <a:rPr b="0" dirty="0">
                <a:latin typeface="Microsoft YaHei"/>
                <a:ea typeface="微软雅黑"/>
              </a:rPr>
              <a:t>。</a:t>
            </a:r>
          </a:p>
        </p:txBody>
      </p:sp>
      <p:sp>
        <p:nvSpPr>
          <p:cNvPr id="6" name="method_node"/>
          <p:cNvSpPr/>
          <p:nvPr/>
        </p:nvSpPr>
        <p:spPr>
          <a:xfrm>
            <a:off x="594360" y="2770632"/>
            <a:ext cx="2606040" cy="932688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Query q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support / concentration / entropy</a:t>
            </a:r>
          </a:p>
        </p:txBody>
      </p:sp>
      <p:sp>
        <p:nvSpPr>
          <p:cNvPr id="7" name="method_node"/>
          <p:cNvSpPr/>
          <p:nvPr/>
        </p:nvSpPr>
        <p:spPr>
          <a:xfrm>
            <a:off x="4645152" y="1920240"/>
            <a:ext cx="2221992" cy="71323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50" b="0">
                <a:solidFill>
                  <a:srgbClr val="111827"/>
                </a:solidFill>
                <a:latin typeface="Microsoft YaHei"/>
                <a:ea typeface="微软雅黑"/>
              </a:rPr>
              <a:t>POI p1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50" b="0">
                <a:solidFill>
                  <a:srgbClr val="111827"/>
                </a:solidFill>
                <a:latin typeface="Microsoft YaHei"/>
                <a:ea typeface="微软雅黑"/>
              </a:rPr>
              <a:t>真实 Train 发单边</a:t>
            </a:r>
          </a:p>
        </p:txBody>
      </p:sp>
      <p:cxnSp>
        <p:nvCxnSpPr>
          <p:cNvPr id="8" name="method_edge"/>
          <p:cNvCxnSpPr/>
          <p:nvPr/>
        </p:nvCxnSpPr>
        <p:spPr>
          <a:xfrm>
            <a:off x="3200400" y="3236976"/>
            <a:ext cx="685800" cy="0"/>
          </a:xfrm>
          <a:prstGeom prst="line">
            <a:avLst/>
          </a:prstGeom>
          <a:ln w="17780">
            <a:solidFill>
              <a:srgbClr val="1A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method_edge"/>
          <p:cNvCxnSpPr/>
          <p:nvPr/>
        </p:nvCxnSpPr>
        <p:spPr>
          <a:xfrm flipV="1">
            <a:off x="3886200" y="2276856"/>
            <a:ext cx="0" cy="960120"/>
          </a:xfrm>
          <a:prstGeom prst="line">
            <a:avLst/>
          </a:prstGeom>
          <a:ln w="17780">
            <a:solidFill>
              <a:srgbClr val="1A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method_edge"/>
          <p:cNvCxnSpPr/>
          <p:nvPr/>
        </p:nvCxnSpPr>
        <p:spPr>
          <a:xfrm>
            <a:off x="3886200" y="2276856"/>
            <a:ext cx="731520" cy="0"/>
          </a:xfrm>
          <a:prstGeom prst="line">
            <a:avLst/>
          </a:prstGeom>
          <a:ln w="17780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method_node"/>
          <p:cNvSpPr/>
          <p:nvPr/>
        </p:nvSpPr>
        <p:spPr>
          <a:xfrm>
            <a:off x="4645152" y="3136392"/>
            <a:ext cx="2221992" cy="71323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50" b="0">
                <a:solidFill>
                  <a:srgbClr val="111827"/>
                </a:solidFill>
                <a:latin typeface="Microsoft YaHei"/>
                <a:ea typeface="微软雅黑"/>
              </a:rPr>
              <a:t>POI p2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50" b="0">
                <a:solidFill>
                  <a:srgbClr val="111827"/>
                </a:solidFill>
                <a:latin typeface="Microsoft YaHei"/>
                <a:ea typeface="微软雅黑"/>
              </a:rPr>
              <a:t>真实 Train 发单边</a:t>
            </a:r>
          </a:p>
        </p:txBody>
      </p:sp>
      <p:cxnSp>
        <p:nvCxnSpPr>
          <p:cNvPr id="12" name="method_edge"/>
          <p:cNvCxnSpPr/>
          <p:nvPr/>
        </p:nvCxnSpPr>
        <p:spPr>
          <a:xfrm>
            <a:off x="3200400" y="3236976"/>
            <a:ext cx="685800" cy="0"/>
          </a:xfrm>
          <a:prstGeom prst="line">
            <a:avLst/>
          </a:prstGeom>
          <a:ln w="1143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method_edge"/>
          <p:cNvCxnSpPr/>
          <p:nvPr/>
        </p:nvCxnSpPr>
        <p:spPr>
          <a:xfrm>
            <a:off x="3886200" y="3236976"/>
            <a:ext cx="0" cy="256032"/>
          </a:xfrm>
          <a:prstGeom prst="line">
            <a:avLst/>
          </a:prstGeom>
          <a:ln w="1143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method_edge"/>
          <p:cNvCxnSpPr/>
          <p:nvPr/>
        </p:nvCxnSpPr>
        <p:spPr>
          <a:xfrm>
            <a:off x="3886200" y="3493008"/>
            <a:ext cx="731520" cy="0"/>
          </a:xfrm>
          <a:prstGeom prst="line">
            <a:avLst/>
          </a:prstGeom>
          <a:ln w="1143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method_node"/>
          <p:cNvSpPr/>
          <p:nvPr/>
        </p:nvSpPr>
        <p:spPr>
          <a:xfrm>
            <a:off x="4645152" y="4352544"/>
            <a:ext cx="2221992" cy="71323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50" b="0">
                <a:solidFill>
                  <a:srgbClr val="111827"/>
                </a:solidFill>
                <a:latin typeface="Microsoft YaHei"/>
                <a:ea typeface="微软雅黑"/>
              </a:rPr>
              <a:t>POI p3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50" b="0">
                <a:solidFill>
                  <a:srgbClr val="111827"/>
                </a:solidFill>
                <a:latin typeface="Microsoft YaHei"/>
                <a:ea typeface="微软雅黑"/>
              </a:rPr>
              <a:t>真实 Train 发单边</a:t>
            </a:r>
          </a:p>
        </p:txBody>
      </p:sp>
      <p:cxnSp>
        <p:nvCxnSpPr>
          <p:cNvPr id="16" name="method_edge"/>
          <p:cNvCxnSpPr/>
          <p:nvPr/>
        </p:nvCxnSpPr>
        <p:spPr>
          <a:xfrm>
            <a:off x="3200400" y="3236976"/>
            <a:ext cx="685800" cy="0"/>
          </a:xfrm>
          <a:prstGeom prst="line">
            <a:avLst/>
          </a:prstGeom>
          <a:ln w="1143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method_edge"/>
          <p:cNvCxnSpPr/>
          <p:nvPr/>
        </p:nvCxnSpPr>
        <p:spPr>
          <a:xfrm>
            <a:off x="3886200" y="3236976"/>
            <a:ext cx="0" cy="1472183"/>
          </a:xfrm>
          <a:prstGeom prst="line">
            <a:avLst/>
          </a:prstGeom>
          <a:ln w="1143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method_edge"/>
          <p:cNvCxnSpPr/>
          <p:nvPr/>
        </p:nvCxnSpPr>
        <p:spPr>
          <a:xfrm>
            <a:off x="3886200" y="4709159"/>
            <a:ext cx="731520" cy="0"/>
          </a:xfrm>
          <a:prstGeom prst="line">
            <a:avLst/>
          </a:prstGeom>
          <a:ln w="1143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method_formula_bg"/>
          <p:cNvSpPr/>
          <p:nvPr/>
        </p:nvSpPr>
        <p:spPr>
          <a:xfrm>
            <a:off x="7833248" y="1820784"/>
            <a:ext cx="2688336" cy="1353312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latex_formula" descr="LaTeX: r_l(q)=\frac{\log(1+\min(n_q,20))}{\log 21}&#10;\cdot C_l(q)^\gamma\left(1-H_l(q)\righ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4416" y="1991643"/>
            <a:ext cx="2368295" cy="972141"/>
          </a:xfrm>
          <a:prstGeom prst="rect">
            <a:avLst/>
          </a:prstGeom>
        </p:spPr>
      </p:pic>
      <p:sp>
        <p:nvSpPr>
          <p:cNvPr id="24" name="method_formula_bg"/>
          <p:cNvSpPr/>
          <p:nvPr/>
        </p:nvSpPr>
        <p:spPr>
          <a:xfrm>
            <a:off x="7833248" y="3456543"/>
            <a:ext cx="2725587" cy="12618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latex_formula" descr="LaTeX: \omega_l(q,p)=\frac{n(q,p)}{\sum_{p'}n(q,p')}&#10;w_l(q,p)=r_l(q)\,\omega_l(q,p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4416" y="3623845"/>
            <a:ext cx="2368295" cy="930577"/>
          </a:xfrm>
          <a:prstGeom prst="rect">
            <a:avLst/>
          </a:prstGeom>
        </p:spPr>
      </p:pic>
      <p:sp>
        <p:nvSpPr>
          <p:cNvPr id="26" name="method_formula_bg"/>
          <p:cNvSpPr/>
          <p:nvPr/>
        </p:nvSpPr>
        <p:spPr>
          <a:xfrm>
            <a:off x="7833248" y="5012040"/>
            <a:ext cx="2688336" cy="621791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latex_formula" descr="LaTeX: \sum_p\omega_l(q,p)=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3622" y="5112903"/>
            <a:ext cx="1307588" cy="478292"/>
          </a:xfrm>
          <a:prstGeom prst="rect">
            <a:avLst/>
          </a:prstGeom>
        </p:spPr>
      </p:pic>
      <p:sp>
        <p:nvSpPr>
          <p:cNvPr id="29" name="Title 1">
            <a:extLst>
              <a:ext uri="{FF2B5EF4-FFF2-40B4-BE49-F238E27FC236}">
                <a16:creationId xmlns:a16="http://schemas.microsoft.com/office/drawing/2014/main" id="{5E44DAE0-7EF0-34E3-07C9-837DAFB3C4E4}"/>
              </a:ext>
            </a:extLst>
          </p:cNvPr>
          <p:cNvSpPr txBox="1">
            <a:spLocks/>
          </p:cNvSpPr>
          <p:nvPr/>
        </p:nvSpPr>
        <p:spPr>
          <a:xfrm>
            <a:off x="120210" y="91441"/>
            <a:ext cx="9836590" cy="576072"/>
          </a:xfrm>
          <a:prstGeom prst="rect">
            <a:avLst/>
          </a:prstGeom>
        </p:spPr>
        <p:txBody>
          <a:bodyPr vert="horz" wrap="square" lIns="27432" tIns="18288" rIns="27432" bIns="18288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1" kern="1200" baseline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j-cs"/>
              </a:defRPr>
            </a:lvl1pPr>
          </a:lstStyle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altLang="zh-CN" sz="2800" dirty="0">
                <a:solidFill>
                  <a:srgbClr val="FFFFFF"/>
                </a:solidFill>
                <a:latin typeface="Microsoft YaHei"/>
                <a:ea typeface="微软雅黑"/>
              </a:rPr>
              <a:t>Query-POI</a:t>
            </a:r>
            <a:r>
              <a:rPr lang="zh-CN" altLang="en-US" sz="2800" dirty="0">
                <a:solidFill>
                  <a:srgbClr val="FFFFFF"/>
                </a:solidFill>
                <a:latin typeface="Microsoft YaHei"/>
                <a:ea typeface="微软雅黑"/>
              </a:rPr>
              <a:t>图：边权同时表达频次、集中度与歧义</a:t>
            </a:r>
            <a:endParaRPr lang="zh-CN" altLang="en-US" sz="2800" dirty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4" name="标题 32">
            <a:extLst>
              <a:ext uri="{FF2B5EF4-FFF2-40B4-BE49-F238E27FC236}">
                <a16:creationId xmlns:a16="http://schemas.microsoft.com/office/drawing/2014/main" id="{F0204DDA-D5C2-4C72-5F0D-7B9E8AE18E20}"/>
              </a:ext>
            </a:extLst>
          </p:cNvPr>
          <p:cNvSpPr txBox="1">
            <a:spLocks/>
          </p:cNvSpPr>
          <p:nvPr/>
        </p:nvSpPr>
        <p:spPr>
          <a:xfrm>
            <a:off x="0" y="306325"/>
            <a:ext cx="82296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1" kern="1200" baseline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j-cs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54A94-21D4-EEF2-16DD-B62503A73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178" y="95188"/>
            <a:ext cx="9147838" cy="535749"/>
          </a:xfrm>
        </p:spPr>
        <p:txBody>
          <a:bodyPr vert="horz" wrap="square" lIns="27432" tIns="18288" rIns="27432" bIns="18288" rtlCol="0" anchor="t">
            <a:no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2800" dirty="0" err="1">
                <a:solidFill>
                  <a:srgbClr val="FFFFFF"/>
                </a:solidFill>
                <a:latin typeface="Microsoft YaHei"/>
                <a:ea typeface="微软雅黑"/>
              </a:rPr>
              <a:t>机制</a:t>
            </a:r>
            <a:r>
              <a:rPr lang="zh-CN" altLang="en-US" sz="2800" dirty="0">
                <a:solidFill>
                  <a:srgbClr val="FFFFFF"/>
                </a:solidFill>
                <a:latin typeface="Microsoft YaHei"/>
                <a:ea typeface="微软雅黑"/>
              </a:rPr>
              <a:t>二</a:t>
            </a:r>
            <a:r>
              <a:rPr sz="2800" dirty="0">
                <a:solidFill>
                  <a:srgbClr val="FFFFFF"/>
                </a:solidFill>
                <a:latin typeface="Microsoft YaHei"/>
                <a:ea typeface="微软雅黑"/>
              </a:rPr>
              <a:t>：POI </a:t>
            </a:r>
            <a:r>
              <a:rPr sz="2800" dirty="0" err="1">
                <a:solidFill>
                  <a:srgbClr val="FFFFFF"/>
                </a:solidFill>
                <a:latin typeface="Microsoft YaHei"/>
                <a:ea typeface="微软雅黑"/>
              </a:rPr>
              <a:t>与</a:t>
            </a:r>
            <a:r>
              <a:rPr sz="2800" dirty="0">
                <a:solidFill>
                  <a:srgbClr val="FFFFFF"/>
                </a:solidFill>
                <a:latin typeface="Microsoft YaHei"/>
                <a:ea typeface="微软雅黑"/>
              </a:rPr>
              <a:t> Query </a:t>
            </a:r>
            <a:r>
              <a:rPr sz="2800" dirty="0" err="1">
                <a:solidFill>
                  <a:srgbClr val="FFFFFF"/>
                </a:solidFill>
                <a:latin typeface="Microsoft YaHei"/>
                <a:ea typeface="微软雅黑"/>
              </a:rPr>
              <a:t>双质心，共享同一个离散</a:t>
            </a:r>
            <a:r>
              <a:rPr sz="2800" dirty="0">
                <a:solidFill>
                  <a:srgbClr val="FFFFFF"/>
                </a:solidFill>
                <a:latin typeface="Microsoft YaHei"/>
                <a:ea typeface="微软雅黑"/>
              </a:rPr>
              <a:t> token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03504" y="1152145"/>
                <a:ext cx="11027664" cy="640080"/>
              </a:xfrm>
              <a:prstGeom prst="rect">
                <a:avLst/>
              </a:prstGeom>
              <a:noFill/>
            </p:spPr>
            <p:txBody>
              <a:bodyPr wrap="square" lIns="27432" tIns="18288" rIns="27432" bIns="18288" anchor="t">
                <a:noAutofit/>
              </a:bodyPr>
              <a:lstStyle/>
              <a:p>
                <a:pPr>
                  <a:lnSpc>
                    <a:spcPct val="120000"/>
                  </a:lnSpc>
                  <a:spcAft>
                    <a:spcPts val="400"/>
                  </a:spcAft>
                </a:pPr>
                <a:r>
                  <a:rPr lang="zh-CN" altLang="en-US" sz="1700" b="0" dirty="0">
                    <a:latin typeface="Microsoft YaHei"/>
                    <a:ea typeface="微软雅黑"/>
                  </a:rPr>
                  <a:t>同一 </a:t>
                </a:r>
                <a:r>
                  <a:rPr lang="en" sz="1700" b="0" dirty="0">
                    <a:latin typeface="Microsoft YaHei"/>
                    <a:ea typeface="微软雅黑"/>
                  </a:rPr>
                  <a:t>token k </a:t>
                </a:r>
                <a:r>
                  <a:rPr lang="zh-CN" altLang="en-US" sz="1700" b="0" dirty="0" err="1">
                    <a:latin typeface="Microsoft YaHei"/>
                    <a:ea typeface="微软雅黑"/>
                  </a:rPr>
                  <a:t>对应</a:t>
                </a:r>
                <a:r>
                  <a:rPr lang="zh-CN" altLang="en-US" sz="1700" b="0" dirty="0">
                    <a:latin typeface="Microsoft YaHei"/>
                    <a:ea typeface="微软雅黑"/>
                  </a:rPr>
                  <a:t> </a:t>
                </a:r>
                <a:r>
                  <a:rPr lang="en" sz="1700" b="0" dirty="0">
                    <a:latin typeface="Microsoft YaHei"/>
                    <a:ea typeface="微软雅黑"/>
                  </a:rPr>
                  <a:t>POI </a:t>
                </a:r>
                <a:r>
                  <a:rPr lang="zh-CN" altLang="en-US" sz="1700" b="0" dirty="0" err="1">
                    <a:latin typeface="Microsoft YaHei"/>
                    <a:ea typeface="微软雅黑"/>
                  </a:rPr>
                  <a:t>中心</a:t>
                </a:r>
                <a:r>
                  <a:rPr lang="zh-CN" altLang="en-US" sz="1700" b="0" dirty="0">
                    <a:latin typeface="Microsoft YaHei"/>
                    <a:ea typeface="微软雅黑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700" b="0" i="1" dirty="0" smtClean="0">
                            <a:latin typeface="Cambria Math" panose="02040503050406030204" pitchFamily="18" charset="0"/>
                            <a:ea typeface="微软雅黑"/>
                          </a:rPr>
                        </m:ctrlPr>
                      </m:sSubPr>
                      <m:e>
                        <m:r>
                          <a:rPr lang="en-US" altLang="zh-CN" sz="1700" b="0" i="1" dirty="0" smtClean="0">
                            <a:latin typeface="Cambria Math" panose="02040503050406030204" pitchFamily="18" charset="0"/>
                            <a:ea typeface="微软雅黑"/>
                          </a:rPr>
                          <m:t>𝑈</m:t>
                        </m:r>
                      </m:e>
                      <m:sub>
                        <m:r>
                          <a:rPr lang="ar-AE" altLang="zh-CN" sz="1700" b="0" i="1" dirty="0" smtClean="0">
                            <a:latin typeface="Cambria Math" panose="02040503050406030204" pitchFamily="18" charset="0"/>
                            <a:ea typeface="微软雅黑"/>
                          </a:rPr>
                          <m:t>𝑙</m:t>
                        </m:r>
                        <m:r>
                          <a:rPr lang="en-US" altLang="zh-CN" sz="1700" b="0" i="1" dirty="0" smtClean="0">
                            <a:latin typeface="Cambria Math" panose="02040503050406030204" pitchFamily="18" charset="0"/>
                            <a:ea typeface="微软雅黑"/>
                          </a:rPr>
                          <m:t>,</m:t>
                        </m:r>
                        <m:r>
                          <a:rPr lang="en-US" altLang="zh-CN" sz="1700" b="0" i="1" dirty="0" smtClean="0">
                            <a:latin typeface="Cambria Math" panose="02040503050406030204" pitchFamily="18" charset="0"/>
                            <a:ea typeface="微软雅黑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ar-AE" sz="1700" b="0" dirty="0">
                    <a:latin typeface="Microsoft YaHei"/>
                    <a:ea typeface="微软雅黑"/>
                  </a:rPr>
                  <a:t> </a:t>
                </a:r>
                <a:r>
                  <a:rPr lang="zh-CN" altLang="en-US" sz="1700" b="0" dirty="0" err="1">
                    <a:latin typeface="Microsoft YaHei"/>
                    <a:ea typeface="微软雅黑"/>
                  </a:rPr>
                  <a:t>与</a:t>
                </a:r>
                <a:r>
                  <a:rPr lang="zh-CN" altLang="en-US" sz="1700" b="0" dirty="0">
                    <a:latin typeface="Microsoft YaHei"/>
                    <a:ea typeface="微软雅黑"/>
                  </a:rPr>
                  <a:t> </a:t>
                </a:r>
                <a:r>
                  <a:rPr lang="en" sz="1700" b="0" dirty="0">
                    <a:latin typeface="Microsoft YaHei"/>
                    <a:ea typeface="微软雅黑"/>
                  </a:rPr>
                  <a:t>Query </a:t>
                </a:r>
                <a:r>
                  <a:rPr lang="zh-CN" altLang="en-US" sz="1700" b="0" dirty="0" err="1">
                    <a:latin typeface="Microsoft YaHei"/>
                    <a:ea typeface="微软雅黑"/>
                  </a:rPr>
                  <a:t>中心</a:t>
                </a:r>
                <a:r>
                  <a:rPr lang="zh-CN" altLang="en-US" sz="1700" b="0" dirty="0">
                    <a:latin typeface="Microsoft YaHei"/>
                    <a:ea typeface="微软雅黑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700" i="1" dirty="0">
                            <a:latin typeface="Cambria Math" panose="02040503050406030204" pitchFamily="18" charset="0"/>
                            <a:ea typeface="微软雅黑"/>
                          </a:rPr>
                        </m:ctrlPr>
                      </m:sSubPr>
                      <m:e>
                        <m:r>
                          <a:rPr lang="en-US" altLang="zh-CN" sz="1700" b="0" i="1" dirty="0" smtClean="0">
                            <a:latin typeface="Cambria Math" panose="02040503050406030204" pitchFamily="18" charset="0"/>
                            <a:ea typeface="微软雅黑"/>
                          </a:rPr>
                          <m:t>𝑉</m:t>
                        </m:r>
                      </m:e>
                      <m:sub>
                        <m:r>
                          <a:rPr lang="ar-AE" altLang="zh-CN" sz="1700" i="1" dirty="0">
                            <a:latin typeface="Cambria Math" panose="02040503050406030204" pitchFamily="18" charset="0"/>
                            <a:ea typeface="微软雅黑"/>
                          </a:rPr>
                          <m:t>𝑙</m:t>
                        </m:r>
                        <m:r>
                          <a:rPr lang="en-US" altLang="zh-CN" sz="1700" i="1" dirty="0">
                            <a:latin typeface="Cambria Math" panose="02040503050406030204" pitchFamily="18" charset="0"/>
                            <a:ea typeface="微软雅黑"/>
                          </a:rPr>
                          <m:t>,</m:t>
                        </m:r>
                        <m:r>
                          <a:rPr lang="en-US" altLang="zh-CN" sz="1700" i="1" dirty="0">
                            <a:latin typeface="Cambria Math" panose="02040503050406030204" pitchFamily="18" charset="0"/>
                            <a:ea typeface="微软雅黑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ar-AE" altLang="zh-CN" sz="1700" dirty="0">
                    <a:latin typeface="Microsoft YaHei"/>
                    <a:ea typeface="微软雅黑"/>
                  </a:rPr>
                  <a:t> </a:t>
                </a:r>
                <a:r>
                  <a:rPr lang="zh-CN" altLang="en-US" sz="1700" dirty="0">
                    <a:latin typeface="Microsoft YaHei"/>
                    <a:ea typeface="微软雅黑"/>
                  </a:rPr>
                  <a:t>，</a:t>
                </a:r>
                <a:r>
                  <a:rPr lang="zh-CN" altLang="en-US" sz="1700" b="0" dirty="0">
                    <a:latin typeface="Microsoft YaHei"/>
                    <a:ea typeface="微软雅黑"/>
                  </a:rPr>
                  <a:t>通过</a:t>
                </a:r>
                <a:r>
                  <a:rPr lang="zh-CN" altLang="en-US" sz="1700" b="0" dirty="0" err="1">
                    <a:latin typeface="Microsoft YaHei"/>
                    <a:ea typeface="微软雅黑"/>
                  </a:rPr>
                  <a:t>图一致性对齐分配，不共用向量中心</a:t>
                </a:r>
                <a:r>
                  <a:rPr lang="zh-CN" altLang="en-US" sz="1700" b="0" dirty="0">
                    <a:latin typeface="Microsoft YaHei"/>
                    <a:ea typeface="微软雅黑"/>
                  </a:rPr>
                  <a:t>。</a:t>
                </a:r>
                <a:endParaRPr sz="1700" b="0" dirty="0">
                  <a:latin typeface="Microsoft YaHei"/>
                  <a:ea typeface="微软雅黑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504" y="1152145"/>
                <a:ext cx="11027664" cy="640080"/>
              </a:xfrm>
              <a:prstGeom prst="rect">
                <a:avLst/>
              </a:prstGeom>
              <a:blipFill>
                <a:blip r:embed="rId3"/>
                <a:stretch>
                  <a:fillRect l="-921" t="-3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method_node"/>
              <p:cNvSpPr/>
              <p:nvPr/>
            </p:nvSpPr>
            <p:spPr>
              <a:xfrm>
                <a:off x="594360" y="2039112"/>
                <a:ext cx="2514600" cy="704088"/>
              </a:xfrm>
              <a:prstGeom prst="rect">
                <a:avLst/>
              </a:prstGeom>
              <a:solidFill>
                <a:srgbClr val="F8FAFC"/>
              </a:solidFill>
              <a:ln w="9525">
                <a:solidFill>
                  <a:srgbClr val="CBD5E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73152" tIns="36576" rIns="73152" bIns="36576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en" sz="1600" b="0" dirty="0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POI residual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altLang="zh-CN" sz="1600" b="0" i="1" dirty="0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</m:ctrlPr>
                      </m:sSubSupPr>
                      <m:e>
                        <m:r>
                          <a:rPr lang="ar-AE" altLang="zh-CN" sz="1600" b="0" i="1" dirty="0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𝑟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𝑝</m:t>
                        </m:r>
                      </m:sub>
                      <m:sup>
                        <m:r>
                          <a:rPr lang="en-US" altLang="zh-CN" sz="1600" b="0" i="1" dirty="0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𝑙</m:t>
                        </m:r>
                        <m:r>
                          <a:rPr lang="en-US" altLang="zh-CN" sz="1600" b="0" i="1" dirty="0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−1</m:t>
                        </m:r>
                      </m:sup>
                    </m:sSubSup>
                  </m:oMath>
                </a14:m>
                <a:endParaRPr sz="1600" b="0" dirty="0">
                  <a:solidFill>
                    <a:srgbClr val="111827"/>
                  </a:solidFill>
                  <a:latin typeface="Microsoft YaHei"/>
                  <a:ea typeface="微软雅黑"/>
                </a:endParaRPr>
              </a:p>
            </p:txBody>
          </p:sp>
        </mc:Choice>
        <mc:Fallback xmlns="">
          <p:sp>
            <p:nvSpPr>
              <p:cNvPr id="6" name="method_nod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" y="2039112"/>
                <a:ext cx="2514600" cy="7040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solidFill>
                  <a:srgbClr val="CBD5E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method_node"/>
              <p:cNvSpPr/>
              <p:nvPr/>
            </p:nvSpPr>
            <p:spPr>
              <a:xfrm>
                <a:off x="3657600" y="1911095"/>
                <a:ext cx="2441448" cy="932688"/>
              </a:xfrm>
              <a:prstGeom prst="rect">
                <a:avLst/>
              </a:prstGeom>
              <a:solidFill>
                <a:srgbClr val="EAF2FF"/>
              </a:solidFill>
              <a:ln w="9525">
                <a:solidFill>
                  <a:srgbClr val="CBD5E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73152" tIns="36576" rIns="73152" bIns="36576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  <a:spcAft>
                    <a:spcPts val="0"/>
                  </a:spcAft>
                </a:pPr>
                <a:r>
                  <a:rPr sz="1600" b="0" dirty="0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POI codebook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</m:ctrlPr>
                      </m:sSubPr>
                      <m:e>
                        <m:r>
                          <a:rPr lang="ar-AE" altLang="zh-CN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𝑈</m:t>
                        </m:r>
                      </m:e>
                      <m:sub>
                        <m:r>
                          <a:rPr lang="ar-AE" altLang="zh-CN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𝑙</m:t>
                        </m:r>
                      </m:sub>
                    </m:sSub>
                  </m:oMath>
                </a14:m>
                <a:endParaRPr lang="ar-AE" sz="1600" b="0" dirty="0">
                  <a:solidFill>
                    <a:schemeClr val="tx1"/>
                  </a:solidFill>
                  <a:latin typeface="Microsoft YaHei"/>
                  <a:ea typeface="微软雅黑"/>
                </a:endParaRPr>
              </a:p>
              <a:p>
                <a:pPr algn="ctr">
                  <a:lnSpc>
                    <a:spcPct val="120000"/>
                  </a:lnSpc>
                  <a:spcAft>
                    <a:spcPts val="0"/>
                  </a:spcAft>
                </a:pPr>
                <a:r>
                  <a:rPr sz="1600" b="0" dirty="0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512 </a:t>
                </a:r>
                <a:r>
                  <a:rPr sz="1600" b="0" dirty="0" err="1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个中心</a:t>
                </a:r>
                <a:endParaRPr sz="1600" b="0" dirty="0">
                  <a:solidFill>
                    <a:srgbClr val="111827"/>
                  </a:solidFill>
                  <a:latin typeface="Microsoft YaHei"/>
                  <a:ea typeface="微软雅黑"/>
                </a:endParaRPr>
              </a:p>
            </p:txBody>
          </p:sp>
        </mc:Choice>
        <mc:Fallback xmlns="">
          <p:sp>
            <p:nvSpPr>
              <p:cNvPr id="7" name="method_nod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1911095"/>
                <a:ext cx="2441448" cy="9326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9525">
                <a:solidFill>
                  <a:srgbClr val="CBD5E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method_node"/>
              <p:cNvSpPr/>
              <p:nvPr/>
            </p:nvSpPr>
            <p:spPr>
              <a:xfrm>
                <a:off x="594360" y="4069080"/>
                <a:ext cx="2514600" cy="841248"/>
              </a:xfrm>
              <a:prstGeom prst="rect">
                <a:avLst/>
              </a:prstGeom>
              <a:solidFill>
                <a:srgbClr val="F8FAFC"/>
              </a:solidFill>
              <a:ln w="9525">
                <a:solidFill>
                  <a:srgbClr val="CBD5E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73152" tIns="36576" rIns="73152" bIns="36576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en" sz="1600" b="0" dirty="0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Query residual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altLang="zh-CN" sz="1600" i="1" dirty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</m:ctrlPr>
                      </m:sSubSupPr>
                      <m:e>
                        <m:r>
                          <a:rPr lang="ar-AE" altLang="zh-CN" sz="1600" i="1" dirty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𝑟</m:t>
                        </m:r>
                      </m:e>
                      <m:sub>
                        <m:r>
                          <a:rPr lang="ar-AE" altLang="zh-CN" sz="1600" b="0" i="1" dirty="0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𝑞</m:t>
                        </m:r>
                      </m:sub>
                      <m:sup>
                        <m:r>
                          <a:rPr lang="ar-AE" altLang="zh-CN" sz="1600" i="1" dirty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𝑙</m:t>
                        </m:r>
                        <m:r>
                          <a:rPr lang="ar-AE" altLang="zh-CN" sz="1600" i="1" dirty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−1</m:t>
                        </m:r>
                      </m:sup>
                    </m:sSubSup>
                  </m:oMath>
                </a14:m>
                <a:endParaRPr sz="1600" b="0" dirty="0">
                  <a:solidFill>
                    <a:srgbClr val="111827"/>
                  </a:solidFill>
                  <a:latin typeface="Microsoft YaHei"/>
                  <a:ea typeface="微软雅黑"/>
                </a:endParaRPr>
              </a:p>
            </p:txBody>
          </p:sp>
        </mc:Choice>
        <mc:Fallback xmlns="">
          <p:sp>
            <p:nvSpPr>
              <p:cNvPr id="8" name="method_nod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" y="4069080"/>
                <a:ext cx="2514600" cy="84124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9525">
                <a:solidFill>
                  <a:srgbClr val="CBD5E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method_node"/>
              <p:cNvSpPr/>
              <p:nvPr/>
            </p:nvSpPr>
            <p:spPr>
              <a:xfrm>
                <a:off x="3657600" y="4023360"/>
                <a:ext cx="2441448" cy="932688"/>
              </a:xfrm>
              <a:prstGeom prst="rect">
                <a:avLst/>
              </a:prstGeom>
              <a:solidFill>
                <a:srgbClr val="EAF2FF"/>
              </a:solidFill>
              <a:ln w="9525">
                <a:solidFill>
                  <a:srgbClr val="CBD5E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73152" tIns="36576" rIns="73152" bIns="36576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" sz="1600" b="0" dirty="0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Query codebook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𝑉</m:t>
                        </m:r>
                      </m:e>
                      <m:sub>
                        <m:r>
                          <a:rPr lang="ar-AE" altLang="zh-CN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𝑙</m:t>
                        </m:r>
                      </m:sub>
                    </m:sSub>
                  </m:oMath>
                </a14:m>
                <a:endParaRPr lang="ar-AE" sz="1600" b="0" dirty="0">
                  <a:solidFill>
                    <a:srgbClr val="111827"/>
                  </a:solidFill>
                  <a:latin typeface="Microsoft YaHei"/>
                  <a:ea typeface="微软雅黑"/>
                </a:endParaRPr>
              </a:p>
              <a:p>
                <a:pPr algn="ctr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ar-AE" sz="1600" b="0" dirty="0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512 </a:t>
                </a:r>
                <a:r>
                  <a:rPr lang="zh-CN" altLang="en-US" sz="1600" b="0" dirty="0" err="1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个中心</a:t>
                </a:r>
                <a:endParaRPr sz="1600" b="0" dirty="0">
                  <a:solidFill>
                    <a:srgbClr val="111827"/>
                  </a:solidFill>
                  <a:latin typeface="Microsoft YaHei"/>
                  <a:ea typeface="微软雅黑"/>
                </a:endParaRPr>
              </a:p>
            </p:txBody>
          </p:sp>
        </mc:Choice>
        <mc:Fallback xmlns="">
          <p:sp>
            <p:nvSpPr>
              <p:cNvPr id="9" name="method_nod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4023360"/>
                <a:ext cx="2441448" cy="9326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9525">
                <a:solidFill>
                  <a:srgbClr val="CBD5E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method_edge"/>
          <p:cNvCxnSpPr/>
          <p:nvPr/>
        </p:nvCxnSpPr>
        <p:spPr>
          <a:xfrm>
            <a:off x="3108960" y="2386584"/>
            <a:ext cx="521208" cy="0"/>
          </a:xfrm>
          <a:prstGeom prst="line">
            <a:avLst/>
          </a:prstGeom>
          <a:ln w="14604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method_edge"/>
          <p:cNvCxnSpPr/>
          <p:nvPr/>
        </p:nvCxnSpPr>
        <p:spPr>
          <a:xfrm>
            <a:off x="3108960" y="4489704"/>
            <a:ext cx="521208" cy="0"/>
          </a:xfrm>
          <a:prstGeom prst="line">
            <a:avLst/>
          </a:prstGeom>
          <a:ln w="14604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method_node"/>
              <p:cNvSpPr/>
              <p:nvPr/>
            </p:nvSpPr>
            <p:spPr>
              <a:xfrm>
                <a:off x="6757416" y="2907792"/>
                <a:ext cx="1874519" cy="932688"/>
              </a:xfrm>
              <a:prstGeom prst="rect">
                <a:avLst/>
              </a:prstGeom>
              <a:solidFill>
                <a:srgbClr val="EAF2FF"/>
              </a:solidFill>
              <a:ln w="9525">
                <a:solidFill>
                  <a:srgbClr val="CBD5E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73152" tIns="36576" rIns="73152" bIns="36576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zh-CN" altLang="en-US" sz="1700" b="1" dirty="0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共享 </a:t>
                </a:r>
                <a:r>
                  <a:rPr lang="en" sz="1700" b="1" dirty="0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token k</a:t>
                </a:r>
              </a:p>
              <a:p>
                <a:pPr algn="ctr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en" sz="1700" b="1" dirty="0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I[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700" b="1" i="1" dirty="0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</m:ctrlPr>
                      </m:sSubPr>
                      <m:e>
                        <m:r>
                          <a:rPr lang="ar-AE" altLang="zh-CN" sz="1700" b="1" i="1" dirty="0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𝒕</m:t>
                        </m:r>
                      </m:e>
                      <m:sub>
                        <m:r>
                          <a:rPr lang="en-US" altLang="zh-CN" sz="1700" b="1" i="1" dirty="0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𝒒</m:t>
                        </m:r>
                      </m:sub>
                    </m:sSub>
                    <m:r>
                      <a:rPr lang="ar-AE" altLang="zh-CN" sz="1700" b="1" i="1" dirty="0">
                        <a:solidFill>
                          <a:srgbClr val="111827"/>
                        </a:solidFill>
                        <a:latin typeface="Cambria Math" panose="02040503050406030204" pitchFamily="18" charset="0"/>
                        <a:ea typeface="微软雅黑"/>
                      </a:rPr>
                      <m:t> </m:t>
                    </m:r>
                  </m:oMath>
                </a14:m>
                <a:r>
                  <a:rPr lang="ar-AE" sz="1700" b="1" dirty="0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700" b="1" i="1" dirty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</m:ctrlPr>
                      </m:sSubPr>
                      <m:e>
                        <m:r>
                          <a:rPr lang="en-US" altLang="zh-CN" sz="1700" b="1" i="1" dirty="0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𝒔</m:t>
                        </m:r>
                      </m:e>
                      <m:sub>
                        <m:r>
                          <a:rPr lang="en-US" altLang="zh-CN" sz="1700" b="1" i="1" dirty="0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𝒑</m:t>
                        </m:r>
                      </m:sub>
                    </m:sSub>
                    <m:r>
                      <a:rPr lang="ar-AE" altLang="zh-CN" sz="1700" b="1" i="1" dirty="0">
                        <a:solidFill>
                          <a:srgbClr val="111827"/>
                        </a:solidFill>
                        <a:latin typeface="Cambria Math" panose="02040503050406030204" pitchFamily="18" charset="0"/>
                        <a:ea typeface="微软雅黑"/>
                      </a:rPr>
                      <m:t> </m:t>
                    </m:r>
                  </m:oMath>
                </a14:m>
                <a:r>
                  <a:rPr lang="en" sz="1700" b="1" dirty="0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]</a:t>
                </a:r>
                <a:endParaRPr sz="1700" b="1" dirty="0">
                  <a:solidFill>
                    <a:srgbClr val="111827"/>
                  </a:solidFill>
                  <a:latin typeface="Microsoft YaHei"/>
                  <a:ea typeface="微软雅黑"/>
                </a:endParaRPr>
              </a:p>
            </p:txBody>
          </p:sp>
        </mc:Choice>
        <mc:Fallback xmlns="">
          <p:sp>
            <p:nvSpPr>
              <p:cNvPr id="12" name="method_nod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7416" y="2907792"/>
                <a:ext cx="1874519" cy="93268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9525">
                <a:solidFill>
                  <a:srgbClr val="CBD5E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method_edge"/>
          <p:cNvCxnSpPr/>
          <p:nvPr/>
        </p:nvCxnSpPr>
        <p:spPr>
          <a:xfrm>
            <a:off x="6099048" y="2386584"/>
            <a:ext cx="320040" cy="0"/>
          </a:xfrm>
          <a:prstGeom prst="line">
            <a:avLst/>
          </a:prstGeom>
          <a:ln w="14604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method_edge"/>
          <p:cNvCxnSpPr/>
          <p:nvPr/>
        </p:nvCxnSpPr>
        <p:spPr>
          <a:xfrm>
            <a:off x="6419088" y="2386584"/>
            <a:ext cx="0" cy="987552"/>
          </a:xfrm>
          <a:prstGeom prst="line">
            <a:avLst/>
          </a:prstGeom>
          <a:ln w="14604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method_edge"/>
          <p:cNvCxnSpPr/>
          <p:nvPr/>
        </p:nvCxnSpPr>
        <p:spPr>
          <a:xfrm>
            <a:off x="6419088" y="3374136"/>
            <a:ext cx="310896" cy="0"/>
          </a:xfrm>
          <a:prstGeom prst="line">
            <a:avLst/>
          </a:prstGeom>
          <a:ln w="14604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method_edge"/>
          <p:cNvCxnSpPr/>
          <p:nvPr/>
        </p:nvCxnSpPr>
        <p:spPr>
          <a:xfrm>
            <a:off x="6099048" y="4489704"/>
            <a:ext cx="320040" cy="0"/>
          </a:xfrm>
          <a:prstGeom prst="line">
            <a:avLst/>
          </a:prstGeom>
          <a:ln w="14604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method_edge"/>
          <p:cNvCxnSpPr/>
          <p:nvPr/>
        </p:nvCxnSpPr>
        <p:spPr>
          <a:xfrm flipV="1">
            <a:off x="6419088" y="3575304"/>
            <a:ext cx="0" cy="914400"/>
          </a:xfrm>
          <a:prstGeom prst="line">
            <a:avLst/>
          </a:prstGeom>
          <a:ln w="14604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method_edge"/>
          <p:cNvCxnSpPr/>
          <p:nvPr/>
        </p:nvCxnSpPr>
        <p:spPr>
          <a:xfrm>
            <a:off x="6419088" y="3575304"/>
            <a:ext cx="310896" cy="0"/>
          </a:xfrm>
          <a:prstGeom prst="line">
            <a:avLst/>
          </a:prstGeom>
          <a:ln w="14604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method_formula_bg"/>
          <p:cNvSpPr/>
          <p:nvPr/>
        </p:nvSpPr>
        <p:spPr>
          <a:xfrm>
            <a:off x="9153144" y="1975104"/>
            <a:ext cx="2395728" cy="2231136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latex_formula" descr="LaTeX: \mathcal{J}_l=\sum_p d(r_p,u_{l,s_p})&#10;+\alpha_l\sum_q d(r_q,v_{l,t_q})&#10;+\lambda_l\sum_{(q,p)}w_l(q,p)\,\mathbf{1}[t_q\neq s_p]&#10;+\eta_l\sum_p D_{\mathrm{cat},l}(p,s_p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72016" y="2198307"/>
            <a:ext cx="2157984" cy="178472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383888" y="4447256"/>
            <a:ext cx="25603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 dirty="0" err="1">
                <a:solidFill>
                  <a:srgbClr val="000000"/>
                </a:solidFill>
                <a:latin typeface="Microsoft YaHei"/>
                <a:ea typeface="微软雅黑"/>
              </a:rPr>
              <a:t>稀疏</a:t>
            </a:r>
            <a:r>
              <a:rPr sz="1600" b="1" dirty="0">
                <a:solidFill>
                  <a:srgbClr val="000000"/>
                </a:solidFill>
                <a:latin typeface="Microsoft YaHei"/>
                <a:ea typeface="微软雅黑"/>
              </a:rPr>
              <a:t> Query </a:t>
            </a:r>
            <a:r>
              <a:rPr sz="1600" b="1" dirty="0" err="1">
                <a:solidFill>
                  <a:srgbClr val="000000"/>
                </a:solidFill>
                <a:latin typeface="Microsoft YaHei"/>
                <a:ea typeface="微软雅黑"/>
              </a:rPr>
              <a:t>中心收缩</a:t>
            </a:r>
            <a:endParaRPr sz="1600" b="1" dirty="0">
              <a:solidFill>
                <a:srgbClr val="000000"/>
              </a:solidFill>
              <a:latin typeface="Microsoft YaHei"/>
              <a:ea typeface="微软雅黑"/>
            </a:endParaRPr>
          </a:p>
        </p:txBody>
      </p:sp>
      <p:sp>
        <p:nvSpPr>
          <p:cNvPr id="22" name="method_formula_bg"/>
          <p:cNvSpPr/>
          <p:nvPr/>
        </p:nvSpPr>
        <p:spPr>
          <a:xfrm>
            <a:off x="7958666" y="5098602"/>
            <a:ext cx="3590205" cy="13567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latex_formula" descr="LaTeX: v_{l,k}\leftarrow\operatorname{norm}\!\left(\frac{\sum_{q:t_q=k}r_q+\tau u_{l,k}}{n_{q,k}+\tau}\right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92028" y="5238042"/>
            <a:ext cx="3144040" cy="9324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54A94-21D4-EEF2-16DD-B62503A73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66" y="121920"/>
            <a:ext cx="11351683" cy="545592"/>
          </a:xfrm>
        </p:spPr>
        <p:txBody>
          <a:bodyPr vert="horz" wrap="square" lIns="27432" tIns="18288" rIns="27432" bIns="18288" rtlCol="0" anchor="t">
            <a:no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2800" dirty="0" err="1">
                <a:solidFill>
                  <a:srgbClr val="FFFFFF"/>
                </a:solidFill>
                <a:latin typeface="Microsoft YaHei"/>
                <a:ea typeface="微软雅黑"/>
              </a:rPr>
              <a:t>类别软锚点</a:t>
            </a:r>
            <a:r>
              <a:rPr sz="2800" dirty="0">
                <a:solidFill>
                  <a:srgbClr val="FFFFFF"/>
                </a:solidFill>
                <a:latin typeface="Microsoft YaHei"/>
                <a:ea typeface="微软雅黑"/>
              </a:rPr>
              <a:t>，</a:t>
            </a:r>
            <a:r>
              <a:rPr lang="zh-CN" altLang="en-US" sz="2800" dirty="0">
                <a:solidFill>
                  <a:srgbClr val="FFFFFF"/>
                </a:solidFill>
                <a:latin typeface="Microsoft YaHei"/>
                <a:ea typeface="微软雅黑"/>
              </a:rPr>
              <a:t>残差</a:t>
            </a:r>
            <a:r>
              <a:rPr sz="2800" dirty="0" err="1">
                <a:solidFill>
                  <a:srgbClr val="FFFFFF"/>
                </a:solidFill>
                <a:latin typeface="Microsoft YaHei"/>
                <a:ea typeface="微软雅黑"/>
              </a:rPr>
              <a:t>逐层传递</a:t>
            </a:r>
            <a:endParaRPr sz="2800" dirty="0">
              <a:solidFill>
                <a:srgbClr val="FFFFFF"/>
              </a:solidFill>
              <a:latin typeface="Microsoft YaHei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019216"/>
            <a:ext cx="11027664" cy="640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b="0" dirty="0" err="1">
                <a:latin typeface="Microsoft YaHei"/>
                <a:ea typeface="微软雅黑"/>
              </a:rPr>
              <a:t>类别只鼓励路径更纯，不把</a:t>
            </a:r>
            <a:r>
              <a:rPr b="0" dirty="0">
                <a:latin typeface="Microsoft YaHei"/>
                <a:ea typeface="微软雅黑"/>
              </a:rPr>
              <a:t> </a:t>
            </a:r>
            <a:r>
              <a:rPr b="0" dirty="0" err="1">
                <a:latin typeface="Microsoft YaHei"/>
                <a:ea typeface="微软雅黑"/>
              </a:rPr>
              <a:t>CategoryID</a:t>
            </a:r>
            <a:r>
              <a:rPr b="0" dirty="0">
                <a:latin typeface="Microsoft YaHei"/>
                <a:ea typeface="微软雅黑"/>
              </a:rPr>
              <a:t> </a:t>
            </a:r>
            <a:r>
              <a:rPr b="0" dirty="0" err="1">
                <a:latin typeface="Microsoft YaHei"/>
                <a:ea typeface="微软雅黑"/>
              </a:rPr>
              <a:t>硬编码成</a:t>
            </a:r>
            <a:r>
              <a:rPr b="0" dirty="0">
                <a:latin typeface="Microsoft YaHei"/>
                <a:ea typeface="微软雅黑"/>
              </a:rPr>
              <a:t> S1；projection residual </a:t>
            </a:r>
            <a:r>
              <a:rPr b="0" dirty="0" err="1">
                <a:latin typeface="Microsoft YaHei"/>
                <a:ea typeface="微软雅黑"/>
              </a:rPr>
              <a:t>避免下一层重复解释当前方向</a:t>
            </a:r>
            <a:r>
              <a:rPr b="0" dirty="0">
                <a:latin typeface="Microsoft YaHei"/>
                <a:ea typeface="微软雅黑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01368"/>
            <a:ext cx="310896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1">
                <a:solidFill>
                  <a:srgbClr val="000000"/>
                </a:solidFill>
                <a:latin typeface="Microsoft YaHei"/>
                <a:ea typeface="微软雅黑"/>
              </a:rPr>
              <a:t>S1：粗类别软代价</a:t>
            </a:r>
          </a:p>
        </p:txBody>
      </p:sp>
      <p:sp>
        <p:nvSpPr>
          <p:cNvPr id="7" name="method_formula_bg"/>
          <p:cNvSpPr/>
          <p:nvPr/>
        </p:nvSpPr>
        <p:spPr>
          <a:xfrm>
            <a:off x="594360" y="2322576"/>
            <a:ext cx="5175504" cy="1078992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latex_formula" descr="LaTeX: P(c\mid k)=\frac{n(k,c)+\alpha_1P_{\mathrm{global}}(c)}{n(k)+\alpha_1}&#10;D_{\mathrm{cat},1}(p,k)=-\frac{\log P(c_{\mathrm{coarse}}(p)\mid k)}{\log|\mathcal{C}_{\mathrm{coarse}}|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768" y="2395728"/>
            <a:ext cx="2676686" cy="9326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3745314"/>
            <a:ext cx="5287149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50" b="0" dirty="0" err="1">
                <a:solidFill>
                  <a:srgbClr val="111827"/>
                </a:solidFill>
                <a:latin typeface="Microsoft YaHei"/>
                <a:ea typeface="微软雅黑"/>
              </a:rPr>
              <a:t>一个粗类可以占用多个</a:t>
            </a:r>
            <a:r>
              <a:rPr sz="1550" b="0" dirty="0">
                <a:solidFill>
                  <a:srgbClr val="111827"/>
                </a:solidFill>
                <a:latin typeface="Microsoft YaHei"/>
                <a:ea typeface="微软雅黑"/>
              </a:rPr>
              <a:t> S1 </a:t>
            </a:r>
            <a:r>
              <a:rPr sz="1550" b="0" dirty="0" err="1">
                <a:solidFill>
                  <a:srgbClr val="111827"/>
                </a:solidFill>
                <a:latin typeface="Microsoft YaHei"/>
                <a:ea typeface="微软雅黑"/>
              </a:rPr>
              <a:t>code；避免大类压进单一节点</a:t>
            </a:r>
            <a:r>
              <a:rPr sz="1550" b="0" dirty="0">
                <a:solidFill>
                  <a:srgbClr val="111827"/>
                </a:solidFill>
                <a:latin typeface="Microsoft YaHei"/>
                <a:ea typeface="微软雅黑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434840"/>
            <a:ext cx="3438144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1">
                <a:solidFill>
                  <a:srgbClr val="000000"/>
                </a:solidFill>
                <a:latin typeface="Microsoft YaHei"/>
                <a:ea typeface="微软雅黑"/>
              </a:rPr>
              <a:t>S2：条件细类别软代价</a:t>
            </a:r>
          </a:p>
        </p:txBody>
      </p:sp>
      <p:sp>
        <p:nvSpPr>
          <p:cNvPr id="11" name="method_formula_bg"/>
          <p:cNvSpPr/>
          <p:nvPr/>
        </p:nvSpPr>
        <p:spPr>
          <a:xfrm>
            <a:off x="594360" y="4956048"/>
            <a:ext cx="5175504" cy="594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latex_formula" descr="LaTeX: D_{\mathrm{cat},2}(p,k)\propto-\log P\!\left(c_{\mathrm{fine}}(p)\mid S_1(p),k\right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539" y="5096229"/>
            <a:ext cx="4459270" cy="351739"/>
          </a:xfrm>
          <a:prstGeom prst="rect">
            <a:avLst/>
          </a:prstGeom>
        </p:spPr>
      </p:pic>
      <p:cxnSp>
        <p:nvCxnSpPr>
          <p:cNvPr id="13" name="method_edge"/>
          <p:cNvCxnSpPr/>
          <p:nvPr/>
        </p:nvCxnSpPr>
        <p:spPr>
          <a:xfrm>
            <a:off x="6117336" y="1783080"/>
            <a:ext cx="0" cy="3813048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73952" y="1801368"/>
            <a:ext cx="406908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1">
                <a:solidFill>
                  <a:srgbClr val="000000"/>
                </a:solidFill>
                <a:latin typeface="Microsoft YaHei"/>
                <a:ea typeface="微软雅黑"/>
              </a:rPr>
              <a:t>逐层 projection residual</a:t>
            </a:r>
          </a:p>
        </p:txBody>
      </p:sp>
      <p:sp>
        <p:nvSpPr>
          <p:cNvPr id="15" name="method_node"/>
          <p:cNvSpPr/>
          <p:nvPr/>
        </p:nvSpPr>
        <p:spPr>
          <a:xfrm>
            <a:off x="6473952" y="2450592"/>
            <a:ext cx="1956816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当前 residual 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method_node"/>
              <p:cNvSpPr/>
              <p:nvPr/>
            </p:nvSpPr>
            <p:spPr>
              <a:xfrm>
                <a:off x="9400032" y="2450592"/>
                <a:ext cx="1956816" cy="658368"/>
              </a:xfrm>
              <a:prstGeom prst="rect">
                <a:avLst/>
              </a:prstGeom>
              <a:solidFill>
                <a:srgbClr val="EAF2FF"/>
              </a:solidFill>
              <a:ln w="9525">
                <a:solidFill>
                  <a:srgbClr val="CBD5E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73152" tIns="36576" rIns="73152" bIns="36576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zh-CN" altLang="en-US" sz="1600" b="0" dirty="0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选中中心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600" b="0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</m:ctrlPr>
                      </m:sSubPr>
                      <m:e>
                        <m:r>
                          <a:rPr lang="ar-AE" altLang="zh-CN" sz="1600" b="0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𝑐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𝑘</m:t>
                        </m:r>
                      </m:sub>
                    </m:sSub>
                  </m:oMath>
                </a14:m>
                <a:endParaRPr sz="1600" b="0" dirty="0">
                  <a:solidFill>
                    <a:srgbClr val="111827"/>
                  </a:solidFill>
                  <a:latin typeface="Microsoft YaHei"/>
                  <a:ea typeface="微软雅黑"/>
                </a:endParaRPr>
              </a:p>
            </p:txBody>
          </p:sp>
        </mc:Choice>
        <mc:Fallback xmlns="">
          <p:sp>
            <p:nvSpPr>
              <p:cNvPr id="16" name="method_nod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0032" y="2450592"/>
                <a:ext cx="1956816" cy="6583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9525">
                <a:solidFill>
                  <a:srgbClr val="CBD5E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method_edge"/>
          <p:cNvCxnSpPr/>
          <p:nvPr/>
        </p:nvCxnSpPr>
        <p:spPr>
          <a:xfrm>
            <a:off x="8430768" y="2779776"/>
            <a:ext cx="941832" cy="0"/>
          </a:xfrm>
          <a:prstGeom prst="line">
            <a:avLst/>
          </a:prstGeom>
          <a:ln w="14604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method_formula_bg"/>
          <p:cNvSpPr/>
          <p:nvPr/>
        </p:nvSpPr>
        <p:spPr>
          <a:xfrm>
            <a:off x="6473952" y="3474720"/>
            <a:ext cx="4882896" cy="640080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latex_formula" descr="LaTeX: \operatorname{Proj}_{c_k}(r)=\frac{r^\top c_k}{\|c_k\|_2^2}\,c_k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9460" y="3547872"/>
            <a:ext cx="1791878" cy="493775"/>
          </a:xfrm>
          <a:prstGeom prst="rect">
            <a:avLst/>
          </a:prstGeom>
        </p:spPr>
      </p:pic>
      <p:sp>
        <p:nvSpPr>
          <p:cNvPr id="20" name="method_formula_bg"/>
          <p:cNvSpPr/>
          <p:nvPr/>
        </p:nvSpPr>
        <p:spPr>
          <a:xfrm>
            <a:off x="6473952" y="4370832"/>
            <a:ext cx="4882896" cy="640080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latex_formula" descr="LaTeX: r_{\mathrm{next}}=\operatorname{norm}\!\left(r-\operatorname{Proj}_{c_k}(r)\right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9916" y="4506136"/>
            <a:ext cx="3326141" cy="3695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6595873" y="5447968"/>
                <a:ext cx="4882896" cy="658368"/>
              </a:xfrm>
              <a:prstGeom prst="rect">
                <a:avLst/>
              </a:prstGeom>
              <a:noFill/>
            </p:spPr>
            <p:txBody>
              <a:bodyPr wrap="square" lIns="27432" tIns="18288" rIns="27432" bIns="18288" anchor="t">
                <a:noAutofit/>
              </a:bodyPr>
              <a:lstStyle/>
              <a:p>
                <a:pPr>
                  <a:lnSpc>
                    <a:spcPct val="120000"/>
                  </a:lnSpc>
                  <a:spcAft>
                    <a:spcPts val="400"/>
                  </a:spcAft>
                </a:pPr>
                <a:r>
                  <a:rPr lang="en" sz="1600" b="0" dirty="0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POI </a:t>
                </a:r>
                <a:r>
                  <a:rPr lang="zh-CN" altLang="en-US" sz="1600" b="0" dirty="0" err="1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沿</a:t>
                </a:r>
                <a:r>
                  <a:rPr lang="zh-CN" altLang="en-US" sz="1600" b="0" dirty="0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600" b="0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</m:ctrlPr>
                      </m:sSubPr>
                      <m:e>
                        <m:r>
                          <a:rPr lang="ar-AE" altLang="zh-CN" sz="1600" b="0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𝑈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altLang="zh-CN" sz="1600" b="0" dirty="0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 </a:t>
                </a:r>
                <a:r>
                  <a:rPr lang="zh-CN" altLang="en-US" sz="1600" b="0" dirty="0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中心递推</a:t>
                </a:r>
                <a:r>
                  <a:rPr lang="zh-CN" altLang="en-US" sz="1600" dirty="0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，</a:t>
                </a:r>
                <a:r>
                  <a:rPr lang="en" sz="1600" b="0" dirty="0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Query </a:t>
                </a:r>
                <a:r>
                  <a:rPr lang="zh-CN" altLang="en-US" sz="1600" b="0" dirty="0" err="1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沿</a:t>
                </a:r>
                <a:r>
                  <a:rPr lang="zh-CN" altLang="en-US" sz="1600" b="0" dirty="0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6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𝑉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altLang="zh-CN" sz="1600" b="0" dirty="0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 </a:t>
                </a:r>
                <a:r>
                  <a:rPr lang="zh-CN" altLang="en-US" sz="1600" b="0" dirty="0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中心递推</a:t>
                </a: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5873" y="5447968"/>
                <a:ext cx="4882896" cy="658368"/>
              </a:xfrm>
              <a:prstGeom prst="rect">
                <a:avLst/>
              </a:prstGeom>
              <a:blipFill>
                <a:blip r:embed="rId8"/>
                <a:stretch>
                  <a:fillRect l="-2078" t="-3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54A94-21D4-EEF2-16DD-B62503A73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66" y="87825"/>
            <a:ext cx="11351683" cy="573310"/>
          </a:xfrm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CN" altLang="en-US" sz="2800" dirty="0">
                <a:solidFill>
                  <a:srgbClr val="FFFFFF"/>
                </a:solidFill>
                <a:latin typeface="Microsoft YaHei"/>
                <a:ea typeface="微软雅黑"/>
              </a:rPr>
              <a:t>机制三：</a:t>
            </a:r>
            <a:r>
              <a:rPr sz="2800" dirty="0">
                <a:solidFill>
                  <a:srgbClr val="FFFFFF"/>
                </a:solidFill>
                <a:latin typeface="Microsoft YaHei"/>
                <a:ea typeface="微软雅黑"/>
              </a:rPr>
              <a:t>S3用局部地理和困难实体做消歧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2885"/>
            <a:ext cx="11027664" cy="518443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 dirty="0" err="1">
                <a:latin typeface="Microsoft YaHei"/>
                <a:ea typeface="微软雅黑"/>
              </a:rPr>
              <a:t>绝对位置由</a:t>
            </a:r>
            <a:r>
              <a:rPr sz="1700" b="0" dirty="0">
                <a:latin typeface="Microsoft YaHei"/>
                <a:ea typeface="微软雅黑"/>
              </a:rPr>
              <a:t> GID </a:t>
            </a:r>
            <a:r>
              <a:rPr sz="1700" b="0" dirty="0" err="1">
                <a:latin typeface="Microsoft YaHei"/>
                <a:ea typeface="微软雅黑"/>
              </a:rPr>
              <a:t>提供；Geo</a:t>
            </a:r>
            <a:r>
              <a:rPr sz="1700" b="0" dirty="0">
                <a:latin typeface="Microsoft YaHei"/>
                <a:ea typeface="微软雅黑"/>
              </a:rPr>
              <a:t> </a:t>
            </a:r>
            <a:r>
              <a:rPr sz="1700" b="0" dirty="0" err="1">
                <a:latin typeface="Microsoft YaHei"/>
                <a:ea typeface="微软雅黑"/>
              </a:rPr>
              <a:t>只描述同一</a:t>
            </a:r>
            <a:r>
              <a:rPr sz="1700" b="0" dirty="0">
                <a:latin typeface="Microsoft YaHei"/>
                <a:ea typeface="微软雅黑"/>
              </a:rPr>
              <a:t> GID6/S1/S2 </a:t>
            </a:r>
            <a:r>
              <a:rPr sz="1700" b="0" dirty="0" err="1">
                <a:latin typeface="Microsoft YaHei"/>
                <a:ea typeface="微软雅黑"/>
              </a:rPr>
              <a:t>父组内部的相对结构</a:t>
            </a:r>
            <a:r>
              <a:rPr sz="1700" b="0" dirty="0">
                <a:latin typeface="Microsoft YaHei"/>
                <a:ea typeface="微软雅黑"/>
              </a:rPr>
              <a:t>。</a:t>
            </a:r>
          </a:p>
        </p:txBody>
      </p:sp>
      <p:sp>
        <p:nvSpPr>
          <p:cNvPr id="6" name="method_node"/>
          <p:cNvSpPr/>
          <p:nvPr/>
        </p:nvSpPr>
        <p:spPr>
          <a:xfrm>
            <a:off x="594360" y="2852928"/>
            <a:ext cx="2514600" cy="777240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111827"/>
                </a:solidFill>
                <a:latin typeface="Microsoft YaHei"/>
                <a:ea typeface="微软雅黑"/>
              </a:rPr>
              <a:t>parent = (GID6, S1, S2)</a:t>
            </a:r>
          </a:p>
        </p:txBody>
      </p:sp>
      <p:sp>
        <p:nvSpPr>
          <p:cNvPr id="7" name="method_node"/>
          <p:cNvSpPr/>
          <p:nvPr/>
        </p:nvSpPr>
        <p:spPr>
          <a:xfrm>
            <a:off x="3675887" y="1783080"/>
            <a:ext cx="2999232" cy="121615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50" b="0">
                <a:solidFill>
                  <a:srgbClr val="111827"/>
                </a:solidFill>
                <a:latin typeface="Microsoft YaHei"/>
                <a:ea typeface="微软雅黑"/>
              </a:rPr>
              <a:t>局部 Geo view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50" b="0">
                <a:solidFill>
                  <a:srgbClr val="111827"/>
                </a:solidFill>
                <a:latin typeface="Microsoft YaHei"/>
                <a:ea typeface="微软雅黑"/>
              </a:rPr>
              <a:t>cell dx/dy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50" b="0">
                <a:solidFill>
                  <a:srgbClr val="111827"/>
                </a:solidFill>
                <a:latin typeface="Microsoft YaHei"/>
                <a:ea typeface="微软雅黑"/>
              </a:rPr>
              <a:t>log(1+d), sin/cos bearing</a:t>
            </a:r>
          </a:p>
        </p:txBody>
      </p:sp>
      <p:sp>
        <p:nvSpPr>
          <p:cNvPr id="8" name="method_node"/>
          <p:cNvSpPr/>
          <p:nvPr/>
        </p:nvSpPr>
        <p:spPr>
          <a:xfrm>
            <a:off x="3675887" y="3419856"/>
            <a:ext cx="2999232" cy="121615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50" b="0">
                <a:solidFill>
                  <a:srgbClr val="111827"/>
                </a:solidFill>
                <a:latin typeface="Microsoft YaHei"/>
                <a:ea typeface="微软雅黑"/>
              </a:rPr>
              <a:t>困难实体图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50" b="0">
                <a:solidFill>
                  <a:srgbClr val="111827"/>
                </a:solidFill>
                <a:latin typeface="Microsoft YaHei"/>
                <a:ea typeface="微软雅黑"/>
              </a:rPr>
              <a:t>同细类 + 同/邻 GID6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50" b="0">
                <a:solidFill>
                  <a:srgbClr val="111827"/>
                </a:solidFill>
                <a:latin typeface="Microsoft YaHei"/>
                <a:ea typeface="微软雅黑"/>
              </a:rPr>
              <a:t>名称或 BGE 近似；Top-20</a:t>
            </a:r>
          </a:p>
        </p:txBody>
      </p:sp>
      <p:sp>
        <p:nvSpPr>
          <p:cNvPr id="9" name="method_node"/>
          <p:cNvSpPr/>
          <p:nvPr/>
        </p:nvSpPr>
        <p:spPr>
          <a:xfrm>
            <a:off x="3675887" y="5020056"/>
            <a:ext cx="2999232" cy="5943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  <a:ea typeface="微软雅黑"/>
              </a:rPr>
              <a:t>POI residual + D3 Query residual</a:t>
            </a:r>
          </a:p>
        </p:txBody>
      </p:sp>
      <p:cxnSp>
        <p:nvCxnSpPr>
          <p:cNvPr id="10" name="method_edge"/>
          <p:cNvCxnSpPr/>
          <p:nvPr/>
        </p:nvCxnSpPr>
        <p:spPr>
          <a:xfrm>
            <a:off x="3108960" y="3236976"/>
            <a:ext cx="292608" cy="0"/>
          </a:xfrm>
          <a:prstGeom prst="line">
            <a:avLst/>
          </a:prstGeom>
          <a:ln w="14604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method_edge"/>
          <p:cNvCxnSpPr/>
          <p:nvPr/>
        </p:nvCxnSpPr>
        <p:spPr>
          <a:xfrm flipV="1">
            <a:off x="3401568" y="2386584"/>
            <a:ext cx="0" cy="850392"/>
          </a:xfrm>
          <a:prstGeom prst="line">
            <a:avLst/>
          </a:prstGeom>
          <a:ln w="14604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method_edge"/>
          <p:cNvCxnSpPr/>
          <p:nvPr/>
        </p:nvCxnSpPr>
        <p:spPr>
          <a:xfrm>
            <a:off x="3401568" y="2386584"/>
            <a:ext cx="246888" cy="0"/>
          </a:xfrm>
          <a:prstGeom prst="line">
            <a:avLst/>
          </a:prstGeom>
          <a:ln w="14604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method_edge"/>
          <p:cNvCxnSpPr/>
          <p:nvPr/>
        </p:nvCxnSpPr>
        <p:spPr>
          <a:xfrm>
            <a:off x="3108960" y="3236976"/>
            <a:ext cx="292608" cy="0"/>
          </a:xfrm>
          <a:prstGeom prst="line">
            <a:avLst/>
          </a:prstGeom>
          <a:ln w="14604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method_edge"/>
          <p:cNvCxnSpPr/>
          <p:nvPr/>
        </p:nvCxnSpPr>
        <p:spPr>
          <a:xfrm>
            <a:off x="3401568" y="3236976"/>
            <a:ext cx="0" cy="795528"/>
          </a:xfrm>
          <a:prstGeom prst="line">
            <a:avLst/>
          </a:prstGeom>
          <a:ln w="14604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method_edge"/>
          <p:cNvCxnSpPr/>
          <p:nvPr/>
        </p:nvCxnSpPr>
        <p:spPr>
          <a:xfrm>
            <a:off x="3401568" y="4032504"/>
            <a:ext cx="246888" cy="0"/>
          </a:xfrm>
          <a:prstGeom prst="line">
            <a:avLst/>
          </a:prstGeom>
          <a:ln w="14604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method_node"/>
          <p:cNvSpPr/>
          <p:nvPr/>
        </p:nvSpPr>
        <p:spPr>
          <a:xfrm>
            <a:off x="7498079" y="2761488"/>
            <a:ext cx="2029968" cy="960120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111827"/>
                </a:solidFill>
                <a:latin typeface="Microsoft YaHei"/>
                <a:ea typeface="微软雅黑"/>
              </a:rPr>
              <a:t>S3 assignment</a:t>
            </a:r>
          </a:p>
        </p:txBody>
      </p:sp>
      <p:cxnSp>
        <p:nvCxnSpPr>
          <p:cNvPr id="17" name="method_edge"/>
          <p:cNvCxnSpPr/>
          <p:nvPr/>
        </p:nvCxnSpPr>
        <p:spPr>
          <a:xfrm>
            <a:off x="6675120" y="2386584"/>
            <a:ext cx="393192" cy="0"/>
          </a:xfrm>
          <a:prstGeom prst="line">
            <a:avLst/>
          </a:prstGeom>
          <a:ln w="14604">
            <a:solidFill>
              <a:srgbClr val="1A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method_edge"/>
          <p:cNvCxnSpPr/>
          <p:nvPr/>
        </p:nvCxnSpPr>
        <p:spPr>
          <a:xfrm>
            <a:off x="7068312" y="2386584"/>
            <a:ext cx="0" cy="859536"/>
          </a:xfrm>
          <a:prstGeom prst="line">
            <a:avLst/>
          </a:prstGeom>
          <a:ln w="14604">
            <a:solidFill>
              <a:srgbClr val="1A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method_edge"/>
          <p:cNvCxnSpPr/>
          <p:nvPr/>
        </p:nvCxnSpPr>
        <p:spPr>
          <a:xfrm>
            <a:off x="7068312" y="3246120"/>
            <a:ext cx="402336" cy="0"/>
          </a:xfrm>
          <a:prstGeom prst="line">
            <a:avLst/>
          </a:prstGeom>
          <a:ln w="14604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method_edge"/>
          <p:cNvCxnSpPr/>
          <p:nvPr/>
        </p:nvCxnSpPr>
        <p:spPr>
          <a:xfrm>
            <a:off x="6675120" y="4032504"/>
            <a:ext cx="393192" cy="0"/>
          </a:xfrm>
          <a:prstGeom prst="line">
            <a:avLst/>
          </a:prstGeom>
          <a:ln w="14604">
            <a:solidFill>
              <a:srgbClr val="1A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method_edge"/>
          <p:cNvCxnSpPr/>
          <p:nvPr/>
        </p:nvCxnSpPr>
        <p:spPr>
          <a:xfrm flipV="1">
            <a:off x="7068312" y="3246120"/>
            <a:ext cx="0" cy="786384"/>
          </a:xfrm>
          <a:prstGeom prst="line">
            <a:avLst/>
          </a:prstGeom>
          <a:ln w="14604">
            <a:solidFill>
              <a:srgbClr val="1A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method_edge"/>
          <p:cNvCxnSpPr/>
          <p:nvPr/>
        </p:nvCxnSpPr>
        <p:spPr>
          <a:xfrm>
            <a:off x="7068312" y="3246120"/>
            <a:ext cx="402336" cy="0"/>
          </a:xfrm>
          <a:prstGeom prst="line">
            <a:avLst/>
          </a:prstGeom>
          <a:ln w="14604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method_edge"/>
          <p:cNvCxnSpPr/>
          <p:nvPr/>
        </p:nvCxnSpPr>
        <p:spPr>
          <a:xfrm>
            <a:off x="6675120" y="5312664"/>
            <a:ext cx="393192" cy="0"/>
          </a:xfrm>
          <a:prstGeom prst="line">
            <a:avLst/>
          </a:prstGeom>
          <a:ln w="14604">
            <a:solidFill>
              <a:srgbClr val="1A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method_edge"/>
          <p:cNvCxnSpPr/>
          <p:nvPr/>
        </p:nvCxnSpPr>
        <p:spPr>
          <a:xfrm flipV="1">
            <a:off x="7068312" y="3246120"/>
            <a:ext cx="0" cy="2066544"/>
          </a:xfrm>
          <a:prstGeom prst="line">
            <a:avLst/>
          </a:prstGeom>
          <a:ln w="14604">
            <a:solidFill>
              <a:srgbClr val="1A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method_edge"/>
          <p:cNvCxnSpPr/>
          <p:nvPr/>
        </p:nvCxnSpPr>
        <p:spPr>
          <a:xfrm>
            <a:off x="7068312" y="3246120"/>
            <a:ext cx="402336" cy="0"/>
          </a:xfrm>
          <a:prstGeom prst="line">
            <a:avLst/>
          </a:prstGeom>
          <a:ln w="14604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842252" y="4279392"/>
            <a:ext cx="3715045" cy="518443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20" b="0" dirty="0" err="1">
                <a:solidFill>
                  <a:srgbClr val="111827"/>
                </a:solidFill>
                <a:latin typeface="Microsoft YaHei"/>
                <a:ea typeface="微软雅黑"/>
              </a:rPr>
              <a:t>不强制组内每个</a:t>
            </a:r>
            <a:r>
              <a:rPr sz="1520" b="0" dirty="0">
                <a:solidFill>
                  <a:srgbClr val="111827"/>
                </a:solidFill>
                <a:latin typeface="Microsoft YaHei"/>
                <a:ea typeface="微软雅黑"/>
              </a:rPr>
              <a:t> POI </a:t>
            </a:r>
            <a:r>
              <a:rPr sz="1520" b="0" dirty="0" err="1">
                <a:solidFill>
                  <a:srgbClr val="111827"/>
                </a:solidFill>
                <a:latin typeface="Microsoft YaHei"/>
                <a:ea typeface="微软雅黑"/>
              </a:rPr>
              <a:t>使用不同</a:t>
            </a:r>
            <a:r>
              <a:rPr sz="1520" b="0" dirty="0">
                <a:solidFill>
                  <a:srgbClr val="111827"/>
                </a:solidFill>
                <a:latin typeface="Microsoft YaHei"/>
                <a:ea typeface="微软雅黑"/>
              </a:rPr>
              <a:t> S3。</a:t>
            </a:r>
          </a:p>
        </p:txBody>
      </p:sp>
      <p:sp>
        <p:nvSpPr>
          <p:cNvPr id="27" name="method_formula_bg"/>
          <p:cNvSpPr/>
          <p:nvPr/>
        </p:nvSpPr>
        <p:spPr>
          <a:xfrm>
            <a:off x="7498079" y="4965192"/>
            <a:ext cx="4050791" cy="612648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latex_formula" descr="LaTeX: \mathcal{J}_3=\mathcal{J}_{3,\mathrm{dual}}+\gamma_{\mathrm{geo}}D_{\mathrm{local}}+\rho_{\mathrm{hard}}C_{\mathrm{hard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6951" y="5105149"/>
            <a:ext cx="3813048" cy="3327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54A94-21D4-EEF2-16DD-B62503A73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67" y="121919"/>
            <a:ext cx="2777066" cy="536450"/>
          </a:xfrm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800" dirty="0">
                <a:solidFill>
                  <a:srgbClr val="FFFFFF"/>
                </a:solidFill>
                <a:latin typeface="Microsoft YaHei"/>
                <a:ea typeface="微软雅黑"/>
              </a:rPr>
              <a:t>QG-</a:t>
            </a:r>
            <a:r>
              <a:rPr lang="en-US" altLang="zh-CN" sz="2800" dirty="0">
                <a:solidFill>
                  <a:srgbClr val="FFFFFF"/>
                </a:solidFill>
                <a:latin typeface="Microsoft YaHei"/>
                <a:ea typeface="微软雅黑"/>
              </a:rPr>
              <a:t>HRQ</a:t>
            </a:r>
            <a:r>
              <a:rPr sz="2800" dirty="0">
                <a:solidFill>
                  <a:srgbClr val="FFFFFF"/>
                </a:solidFill>
                <a:latin typeface="Microsoft YaHei"/>
                <a:ea typeface="微软雅黑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Microsoft YaHei"/>
                <a:ea typeface="微软雅黑"/>
              </a:rPr>
              <a:t>构建</a:t>
            </a:r>
            <a:endParaRPr sz="2800" b="1" dirty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014984"/>
            <a:ext cx="11027664" cy="576071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 dirty="0" err="1">
                <a:latin typeface="Microsoft YaHei"/>
                <a:ea typeface="微软雅黑"/>
              </a:rPr>
              <a:t>每层从</a:t>
            </a:r>
            <a:r>
              <a:rPr sz="1700" b="0" dirty="0">
                <a:latin typeface="Microsoft YaHei"/>
                <a:ea typeface="微软雅黑"/>
              </a:rPr>
              <a:t> RQ-</a:t>
            </a:r>
            <a:r>
              <a:rPr sz="1700" b="0" dirty="0" err="1">
                <a:latin typeface="Microsoft YaHei"/>
                <a:ea typeface="微软雅黑"/>
              </a:rPr>
              <a:t>KMeans</a:t>
            </a:r>
            <a:r>
              <a:rPr sz="1700" b="0" dirty="0">
                <a:latin typeface="Microsoft YaHei"/>
                <a:ea typeface="微软雅黑"/>
              </a:rPr>
              <a:t> </a:t>
            </a:r>
            <a:r>
              <a:rPr sz="1700" b="0" dirty="0" err="1">
                <a:latin typeface="Microsoft YaHei"/>
                <a:ea typeface="微软雅黑"/>
              </a:rPr>
              <a:t>初始化，再交替更新</a:t>
            </a:r>
            <a:r>
              <a:rPr sz="1700" b="0" dirty="0">
                <a:latin typeface="Microsoft YaHei"/>
                <a:ea typeface="微软雅黑"/>
              </a:rPr>
              <a:t> POI/Query </a:t>
            </a:r>
            <a:r>
              <a:rPr sz="1700" b="0" dirty="0" err="1">
                <a:latin typeface="Microsoft YaHei"/>
                <a:ea typeface="微软雅黑"/>
              </a:rPr>
              <a:t>assignment、中心和类别分布</a:t>
            </a:r>
            <a:r>
              <a:rPr sz="1700" b="0" dirty="0">
                <a:latin typeface="Microsoft YaHei"/>
                <a:ea typeface="微软雅黑"/>
              </a:rPr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method_node"/>
              <p:cNvSpPr/>
              <p:nvPr/>
            </p:nvSpPr>
            <p:spPr>
              <a:xfrm>
                <a:off x="603504" y="1865376"/>
                <a:ext cx="1493520" cy="1024128"/>
              </a:xfrm>
              <a:prstGeom prst="rect">
                <a:avLst/>
              </a:prstGeom>
              <a:solidFill>
                <a:srgbClr val="EAF2FF"/>
              </a:solidFill>
              <a:ln w="9525">
                <a:solidFill>
                  <a:srgbClr val="CBD5E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73152" tIns="36576" rIns="73152" bIns="36576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zh-CN" altLang="en-US" sz="1370" b="0" dirty="0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初始化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370" b="0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" altLang="zh-CN" sz="137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U</m:t>
                        </m:r>
                      </m:e>
                      <m:sub>
                        <m:r>
                          <a:rPr lang="en-US" altLang="zh-CN" sz="1370" b="0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ar-AE" sz="1370" b="0" dirty="0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37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</m:ctrlPr>
                      </m:sSubPr>
                      <m:e>
                        <m:r>
                          <a:rPr lang="en-US" altLang="zh-CN" sz="1370" b="0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𝑠</m:t>
                        </m:r>
                      </m:e>
                      <m:sub>
                        <m:r>
                          <a:rPr lang="en-US" altLang="zh-CN" sz="1370" b="0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𝑝</m:t>
                        </m:r>
                      </m:sub>
                    </m:sSub>
                  </m:oMath>
                </a14:m>
                <a:endParaRPr sz="1370" b="0" dirty="0">
                  <a:solidFill>
                    <a:srgbClr val="111827"/>
                  </a:solidFill>
                  <a:latin typeface="Microsoft YaHei"/>
                  <a:ea typeface="微软雅黑"/>
                </a:endParaRPr>
              </a:p>
            </p:txBody>
          </p:sp>
        </mc:Choice>
        <mc:Fallback xmlns="">
          <p:sp>
            <p:nvSpPr>
              <p:cNvPr id="6" name="method_nod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504" y="1865376"/>
                <a:ext cx="1493520" cy="10241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solidFill>
                  <a:srgbClr val="CBD5E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method_node"/>
              <p:cNvSpPr/>
              <p:nvPr/>
            </p:nvSpPr>
            <p:spPr>
              <a:xfrm>
                <a:off x="2499360" y="1865376"/>
                <a:ext cx="1493520" cy="1024128"/>
              </a:xfrm>
              <a:prstGeom prst="rect">
                <a:avLst/>
              </a:prstGeom>
              <a:solidFill>
                <a:srgbClr val="F8FAFC"/>
              </a:solidFill>
              <a:ln w="9525">
                <a:solidFill>
                  <a:srgbClr val="CBD5E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73152" tIns="36576" rIns="73152" bIns="36576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zh-CN" altLang="en-US" sz="1370" b="0" dirty="0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分配 </a:t>
                </a:r>
                <a:r>
                  <a:rPr lang="en" sz="1370" b="0" dirty="0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Query</a:t>
                </a:r>
              </a:p>
              <a:p>
                <a:pPr algn="ctr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zh-CN" altLang="en-US" sz="1370" b="0" dirty="0" err="1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初始化</a:t>
                </a:r>
                <a14:m>
                  <m:oMath xmlns:m="http://schemas.openxmlformats.org/officeDocument/2006/math">
                    <m:r>
                      <a:rPr lang="en-US" altLang="zh-CN" sz="1370" b="0" i="0" smtClean="0">
                        <a:solidFill>
                          <a:srgbClr val="111827"/>
                        </a:solidFill>
                        <a:latin typeface="Cambria Math" panose="02040503050406030204" pitchFamily="18" charset="0"/>
                        <a:ea typeface="微软雅黑"/>
                      </a:rPr>
                      <m:t> </m:t>
                    </m:r>
                    <m:sSub>
                      <m:sSubPr>
                        <m:ctrlPr>
                          <a:rPr lang="ar-AE" altLang="zh-CN" sz="137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</m:ctrlPr>
                      </m:sSubPr>
                      <m:e>
                        <m:r>
                          <a:rPr lang="ar-AE" altLang="zh-CN" sz="1370" b="0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𝑉</m:t>
                        </m:r>
                      </m:e>
                      <m:sub>
                        <m:r>
                          <a:rPr lang="ar-AE" altLang="zh-CN" sz="137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ar-AE" sz="1370" b="0" dirty="0">
                    <a:solidFill>
                      <a:srgbClr val="111827"/>
                    </a:solidFill>
                    <a:latin typeface="Microsoft YaHei"/>
                    <a:ea typeface="微软雅黑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37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</m:ctrlPr>
                      </m:sSubPr>
                      <m:e>
                        <m:r>
                          <a:rPr lang="en-US" altLang="zh-CN" sz="1370" b="0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𝑡</m:t>
                        </m:r>
                      </m:e>
                      <m:sub>
                        <m:r>
                          <a:rPr lang="en-US" altLang="zh-CN" sz="1370" b="0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𝑞</m:t>
                        </m:r>
                      </m:sub>
                    </m:sSub>
                  </m:oMath>
                </a14:m>
                <a:endParaRPr sz="1370" b="0" dirty="0">
                  <a:solidFill>
                    <a:srgbClr val="111827"/>
                  </a:solidFill>
                  <a:latin typeface="Microsoft YaHei"/>
                  <a:ea typeface="微软雅黑"/>
                </a:endParaRPr>
              </a:p>
            </p:txBody>
          </p:sp>
        </mc:Choice>
        <mc:Fallback xmlns="">
          <p:sp>
            <p:nvSpPr>
              <p:cNvPr id="7" name="method_nod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9360" y="1865376"/>
                <a:ext cx="1493520" cy="10241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solidFill>
                  <a:srgbClr val="CBD5E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method_edge"/>
          <p:cNvCxnSpPr/>
          <p:nvPr/>
        </p:nvCxnSpPr>
        <p:spPr>
          <a:xfrm>
            <a:off x="2142744" y="2377440"/>
            <a:ext cx="310896" cy="0"/>
          </a:xfrm>
          <a:prstGeom prst="line">
            <a:avLst/>
          </a:prstGeom>
          <a:ln w="14604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method_node"/>
          <p:cNvSpPr/>
          <p:nvPr/>
        </p:nvSpPr>
        <p:spPr>
          <a:xfrm>
            <a:off x="4395216" y="1865376"/>
            <a:ext cx="1493520" cy="102412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70" b="0">
                <a:solidFill>
                  <a:srgbClr val="111827"/>
                </a:solidFill>
                <a:latin typeface="Microsoft YaHei"/>
                <a:ea typeface="微软雅黑"/>
              </a:rPr>
              <a:t>更新 POI assignment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70" b="0">
                <a:solidFill>
                  <a:srgbClr val="111827"/>
                </a:solidFill>
                <a:latin typeface="Microsoft YaHei"/>
                <a:ea typeface="微软雅黑"/>
              </a:rPr>
              <a:t>内容 + 图 + 类别</a:t>
            </a:r>
          </a:p>
        </p:txBody>
      </p:sp>
      <p:cxnSp>
        <p:nvCxnSpPr>
          <p:cNvPr id="10" name="method_edge"/>
          <p:cNvCxnSpPr/>
          <p:nvPr/>
        </p:nvCxnSpPr>
        <p:spPr>
          <a:xfrm>
            <a:off x="4038600" y="2377440"/>
            <a:ext cx="310896" cy="0"/>
          </a:xfrm>
          <a:prstGeom prst="line">
            <a:avLst/>
          </a:prstGeom>
          <a:ln w="14604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method_node"/>
          <p:cNvSpPr/>
          <p:nvPr/>
        </p:nvSpPr>
        <p:spPr>
          <a:xfrm>
            <a:off x="6291072" y="1865376"/>
            <a:ext cx="1493520" cy="102412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70" b="0">
                <a:solidFill>
                  <a:srgbClr val="111827"/>
                </a:solidFill>
                <a:latin typeface="Microsoft YaHei"/>
                <a:ea typeface="微软雅黑"/>
              </a:rPr>
              <a:t>更新 Query assignment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70" b="0">
                <a:solidFill>
                  <a:srgbClr val="111827"/>
                </a:solidFill>
                <a:latin typeface="Microsoft YaHei"/>
                <a:ea typeface="微软雅黑"/>
              </a:rPr>
              <a:t>距离 + 图</a:t>
            </a:r>
          </a:p>
        </p:txBody>
      </p:sp>
      <p:cxnSp>
        <p:nvCxnSpPr>
          <p:cNvPr id="12" name="method_edge"/>
          <p:cNvCxnSpPr/>
          <p:nvPr/>
        </p:nvCxnSpPr>
        <p:spPr>
          <a:xfrm>
            <a:off x="5934456" y="2377440"/>
            <a:ext cx="310896" cy="0"/>
          </a:xfrm>
          <a:prstGeom prst="line">
            <a:avLst/>
          </a:prstGeom>
          <a:ln w="14604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ethod_node"/>
          <p:cNvSpPr/>
          <p:nvPr/>
        </p:nvSpPr>
        <p:spPr>
          <a:xfrm>
            <a:off x="8186928" y="1865376"/>
            <a:ext cx="1493520" cy="102412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70" b="0">
                <a:solidFill>
                  <a:srgbClr val="111827"/>
                </a:solidFill>
                <a:latin typeface="Microsoft YaHei"/>
                <a:ea typeface="微软雅黑"/>
              </a:rPr>
              <a:t>更新 U/V 与类别分布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70" b="0">
                <a:solidFill>
                  <a:srgbClr val="111827"/>
                </a:solidFill>
                <a:latin typeface="Microsoft YaHei"/>
                <a:ea typeface="微软雅黑"/>
              </a:rPr>
              <a:t>Query 中心收缩</a:t>
            </a:r>
          </a:p>
        </p:txBody>
      </p:sp>
      <p:cxnSp>
        <p:nvCxnSpPr>
          <p:cNvPr id="14" name="method_edge"/>
          <p:cNvCxnSpPr/>
          <p:nvPr/>
        </p:nvCxnSpPr>
        <p:spPr>
          <a:xfrm>
            <a:off x="7830312" y="2377440"/>
            <a:ext cx="310896" cy="0"/>
          </a:xfrm>
          <a:prstGeom prst="line">
            <a:avLst/>
          </a:prstGeom>
          <a:ln w="14604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method_node"/>
          <p:cNvSpPr/>
          <p:nvPr/>
        </p:nvSpPr>
        <p:spPr>
          <a:xfrm>
            <a:off x="10082784" y="1865376"/>
            <a:ext cx="1493520" cy="102412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70" b="0">
                <a:solidFill>
                  <a:srgbClr val="111827"/>
                </a:solidFill>
                <a:latin typeface="Microsoft YaHei"/>
                <a:ea typeface="微软雅黑"/>
              </a:rPr>
              <a:t>收敛后生成 residual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70" b="0">
                <a:solidFill>
                  <a:srgbClr val="111827"/>
                </a:solidFill>
                <a:latin typeface="Microsoft YaHei"/>
                <a:ea typeface="微软雅黑"/>
              </a:rPr>
              <a:t>进入下一层</a:t>
            </a:r>
          </a:p>
        </p:txBody>
      </p:sp>
      <p:cxnSp>
        <p:nvCxnSpPr>
          <p:cNvPr id="16" name="method_edge"/>
          <p:cNvCxnSpPr/>
          <p:nvPr/>
        </p:nvCxnSpPr>
        <p:spPr>
          <a:xfrm>
            <a:off x="9726168" y="2377440"/>
            <a:ext cx="310896" cy="0"/>
          </a:xfrm>
          <a:prstGeom prst="line">
            <a:avLst/>
          </a:prstGeom>
          <a:ln w="14604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method_edge"/>
          <p:cNvCxnSpPr/>
          <p:nvPr/>
        </p:nvCxnSpPr>
        <p:spPr>
          <a:xfrm>
            <a:off x="10616184" y="2898648"/>
            <a:ext cx="0" cy="347472"/>
          </a:xfrm>
          <a:prstGeom prst="line">
            <a:avLst/>
          </a:prstGeom>
          <a:ln w="17780">
            <a:solidFill>
              <a:srgbClr val="1A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method_edge"/>
          <p:cNvCxnSpPr/>
          <p:nvPr/>
        </p:nvCxnSpPr>
        <p:spPr>
          <a:xfrm flipH="1">
            <a:off x="4370832" y="3246120"/>
            <a:ext cx="6245352" cy="0"/>
          </a:xfrm>
          <a:prstGeom prst="line">
            <a:avLst/>
          </a:prstGeom>
          <a:ln w="17780">
            <a:solidFill>
              <a:srgbClr val="1A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method_edge"/>
          <p:cNvCxnSpPr/>
          <p:nvPr/>
        </p:nvCxnSpPr>
        <p:spPr>
          <a:xfrm flipV="1">
            <a:off x="4370832" y="2916936"/>
            <a:ext cx="0" cy="329184"/>
          </a:xfrm>
          <a:prstGeom prst="line">
            <a:avLst/>
          </a:prstGeom>
          <a:ln w="17780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858000" y="3383280"/>
            <a:ext cx="14630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1A3A6B"/>
                </a:solidFill>
                <a:latin typeface="Microsoft YaHei"/>
                <a:ea typeface="微软雅黑"/>
              </a:rPr>
              <a:t>每层循环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977639"/>
            <a:ext cx="5212080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b="1">
                <a:solidFill>
                  <a:srgbClr val="000000"/>
                </a:solidFill>
                <a:latin typeface="Microsoft YaHei"/>
                <a:ea typeface="微软雅黑"/>
              </a:rPr>
              <a:t>Assignment 代价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434840"/>
            <a:ext cx="5212080" cy="7132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50" b="0" dirty="0" err="1">
                <a:solidFill>
                  <a:srgbClr val="111827"/>
                </a:solidFill>
                <a:latin typeface="Microsoft YaHei"/>
                <a:ea typeface="微软雅黑"/>
              </a:rPr>
              <a:t>POI：内容距离</a:t>
            </a:r>
            <a:r>
              <a:rPr sz="1550" b="0" dirty="0">
                <a:solidFill>
                  <a:srgbClr val="111827"/>
                </a:solidFill>
                <a:latin typeface="Microsoft YaHei"/>
                <a:ea typeface="微软雅黑"/>
              </a:rPr>
              <a:t> + </a:t>
            </a:r>
            <a:r>
              <a:rPr sz="1550" b="0" dirty="0" err="1">
                <a:solidFill>
                  <a:srgbClr val="111827"/>
                </a:solidFill>
                <a:latin typeface="Microsoft YaHei"/>
                <a:ea typeface="微软雅黑"/>
              </a:rPr>
              <a:t>图不一致</a:t>
            </a:r>
            <a:r>
              <a:rPr sz="1550" b="0" dirty="0">
                <a:solidFill>
                  <a:srgbClr val="111827"/>
                </a:solidFill>
                <a:latin typeface="Microsoft YaHei"/>
                <a:ea typeface="微软雅黑"/>
              </a:rPr>
              <a:t> + </a:t>
            </a:r>
            <a:r>
              <a:rPr sz="1550" b="0" dirty="0" err="1">
                <a:solidFill>
                  <a:srgbClr val="111827"/>
                </a:solidFill>
                <a:latin typeface="Microsoft YaHei"/>
                <a:ea typeface="微软雅黑"/>
              </a:rPr>
              <a:t>类别代价</a:t>
            </a:r>
            <a:endParaRPr sz="1550" b="0" dirty="0">
              <a:solidFill>
                <a:srgbClr val="111827"/>
              </a:solidFill>
              <a:latin typeface="Microsoft YaHei"/>
              <a:ea typeface="微软雅黑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50" b="0" dirty="0" err="1">
                <a:solidFill>
                  <a:srgbClr val="111827"/>
                </a:solidFill>
                <a:latin typeface="Microsoft YaHei"/>
                <a:ea typeface="微软雅黑"/>
              </a:rPr>
              <a:t>Query：查询距离</a:t>
            </a:r>
            <a:r>
              <a:rPr sz="1550" b="0" dirty="0">
                <a:solidFill>
                  <a:srgbClr val="111827"/>
                </a:solidFill>
                <a:latin typeface="Microsoft YaHei"/>
                <a:ea typeface="微软雅黑"/>
              </a:rPr>
              <a:t> + </a:t>
            </a:r>
            <a:r>
              <a:rPr sz="1550" b="0" dirty="0" err="1">
                <a:solidFill>
                  <a:srgbClr val="111827"/>
                </a:solidFill>
                <a:latin typeface="Microsoft YaHei"/>
                <a:ea typeface="微软雅黑"/>
              </a:rPr>
              <a:t>图不一致</a:t>
            </a:r>
            <a:endParaRPr sz="1550" b="0" dirty="0">
              <a:solidFill>
                <a:srgbClr val="111827"/>
              </a:solidFill>
              <a:latin typeface="Microsoft YaHei"/>
              <a:ea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36792" y="3977639"/>
            <a:ext cx="5212080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b="1">
                <a:solidFill>
                  <a:srgbClr val="000000"/>
                </a:solidFill>
                <a:latin typeface="Microsoft YaHei"/>
                <a:ea typeface="微软雅黑"/>
              </a:rPr>
              <a:t>停止条件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6792" y="4434840"/>
            <a:ext cx="5212080" cy="7132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50" b="0">
                <a:solidFill>
                  <a:srgbClr val="111827"/>
                </a:solidFill>
                <a:latin typeface="Microsoft YaHei"/>
                <a:ea typeface="微软雅黑"/>
              </a:rPr>
              <a:t>目标相对改善 &lt;1e-4；POI 变化 &lt;0.1%；Query &lt;0.2%；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50" b="0">
                <a:solidFill>
                  <a:srgbClr val="111827"/>
                </a:solidFill>
                <a:latin typeface="Microsoft YaHei"/>
                <a:ea typeface="微软雅黑"/>
              </a:rPr>
              <a:t>连续两轮满足，或最多 30 轮。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94360" y="1088136"/>
            <a:ext cx="11027664" cy="4480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 dirty="0">
                <a:latin typeface="Microsoft YaHei"/>
                <a:ea typeface="微软雅黑"/>
              </a:rPr>
              <a:t>Teacher-Forcing </a:t>
            </a:r>
            <a:r>
              <a:rPr sz="1600" b="0" dirty="0" err="1">
                <a:latin typeface="Microsoft YaHei"/>
                <a:ea typeface="微软雅黑"/>
              </a:rPr>
              <a:t>看的是正确历史下的局部分类；自由生成会沿模型自己的前缀逐步剪枝</a:t>
            </a:r>
            <a:r>
              <a:rPr sz="1600" b="0" dirty="0">
                <a:latin typeface="Microsoft YaHei"/>
                <a:ea typeface="微软雅黑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89948"/>
            <a:ext cx="498348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000" b="1" dirty="0" err="1">
                <a:solidFill>
                  <a:srgbClr val="000000"/>
                </a:solidFill>
                <a:latin typeface="Microsoft YaHei"/>
                <a:ea typeface="微软雅黑"/>
              </a:rPr>
              <a:t>训练：Teacher-Forcing</a:t>
            </a:r>
            <a:endParaRPr sz="2000" b="1" dirty="0">
              <a:solidFill>
                <a:srgbClr val="000000"/>
              </a:solidFill>
              <a:latin typeface="Microsoft YaHei"/>
              <a:ea typeface="微软雅黑"/>
            </a:endParaRPr>
          </a:p>
        </p:txBody>
      </p:sp>
      <p:sp>
        <p:nvSpPr>
          <p:cNvPr id="7" name="method_node"/>
          <p:cNvSpPr/>
          <p:nvPr/>
        </p:nvSpPr>
        <p:spPr>
          <a:xfrm>
            <a:off x="594360" y="2432304"/>
            <a:ext cx="944118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gold S1</a:t>
            </a:r>
          </a:p>
        </p:txBody>
      </p:sp>
      <p:sp>
        <p:nvSpPr>
          <p:cNvPr id="8" name="method_node"/>
          <p:cNvSpPr/>
          <p:nvPr/>
        </p:nvSpPr>
        <p:spPr>
          <a:xfrm>
            <a:off x="1940814" y="2432304"/>
            <a:ext cx="944118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gold S2</a:t>
            </a:r>
          </a:p>
        </p:txBody>
      </p:sp>
      <p:cxnSp>
        <p:nvCxnSpPr>
          <p:cNvPr id="9" name="method_edge"/>
          <p:cNvCxnSpPr/>
          <p:nvPr/>
        </p:nvCxnSpPr>
        <p:spPr>
          <a:xfrm>
            <a:off x="1584198" y="2761488"/>
            <a:ext cx="310896" cy="0"/>
          </a:xfrm>
          <a:prstGeom prst="line">
            <a:avLst/>
          </a:prstGeom>
          <a:ln w="14604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method_node"/>
          <p:cNvSpPr/>
          <p:nvPr/>
        </p:nvSpPr>
        <p:spPr>
          <a:xfrm>
            <a:off x="3287268" y="2432304"/>
            <a:ext cx="944118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gold S3</a:t>
            </a:r>
          </a:p>
        </p:txBody>
      </p:sp>
      <p:cxnSp>
        <p:nvCxnSpPr>
          <p:cNvPr id="11" name="method_edge"/>
          <p:cNvCxnSpPr/>
          <p:nvPr/>
        </p:nvCxnSpPr>
        <p:spPr>
          <a:xfrm>
            <a:off x="2930651" y="2761488"/>
            <a:ext cx="310897" cy="0"/>
          </a:xfrm>
          <a:prstGeom prst="line">
            <a:avLst/>
          </a:prstGeom>
          <a:ln w="14604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method_node"/>
          <p:cNvSpPr/>
          <p:nvPr/>
        </p:nvSpPr>
        <p:spPr>
          <a:xfrm>
            <a:off x="4633722" y="2432304"/>
            <a:ext cx="944118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gold C</a:t>
            </a:r>
          </a:p>
        </p:txBody>
      </p:sp>
      <p:cxnSp>
        <p:nvCxnSpPr>
          <p:cNvPr id="13" name="method_edge"/>
          <p:cNvCxnSpPr/>
          <p:nvPr/>
        </p:nvCxnSpPr>
        <p:spPr>
          <a:xfrm>
            <a:off x="4277105" y="2761488"/>
            <a:ext cx="310897" cy="0"/>
          </a:xfrm>
          <a:prstGeom prst="line">
            <a:avLst/>
          </a:prstGeom>
          <a:ln w="14604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94360" y="3328416"/>
            <a:ext cx="4983480" cy="6583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每一步都喂入 gold 前缀；CE 能评估 token，却没有观察错误分支。</a:t>
            </a:r>
          </a:p>
        </p:txBody>
      </p:sp>
      <p:cxnSp>
        <p:nvCxnSpPr>
          <p:cNvPr id="15" name="method_edge"/>
          <p:cNvCxnSpPr/>
          <p:nvPr/>
        </p:nvCxnSpPr>
        <p:spPr>
          <a:xfrm>
            <a:off x="5943600" y="1783080"/>
            <a:ext cx="0" cy="3374136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309361" y="1709929"/>
            <a:ext cx="516636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CN" altLang="en-US" sz="2000" b="1" dirty="0">
                <a:solidFill>
                  <a:srgbClr val="000000"/>
                </a:solidFill>
                <a:latin typeface="Microsoft YaHei"/>
                <a:ea typeface="微软雅黑"/>
              </a:rPr>
              <a:t>推理</a:t>
            </a:r>
            <a:r>
              <a:rPr sz="2000" b="1" dirty="0">
                <a:solidFill>
                  <a:srgbClr val="000000"/>
                </a:solidFill>
                <a:latin typeface="Microsoft YaHei"/>
                <a:ea typeface="微软雅黑"/>
              </a:rPr>
              <a:t>：</a:t>
            </a:r>
            <a:r>
              <a:rPr sz="2000" b="1" dirty="0" err="1">
                <a:solidFill>
                  <a:srgbClr val="000000"/>
                </a:solidFill>
                <a:latin typeface="Microsoft YaHei"/>
                <a:ea typeface="微软雅黑"/>
              </a:rPr>
              <a:t>模型自己的</a:t>
            </a:r>
            <a:r>
              <a:rPr sz="2000" b="1" dirty="0">
                <a:solidFill>
                  <a:srgbClr val="000000"/>
                </a:solidFill>
                <a:latin typeface="Microsoft YaHei"/>
                <a:ea typeface="微软雅黑"/>
              </a:rPr>
              <a:t> Beam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240280"/>
            <a:ext cx="73152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64748B"/>
                </a:solidFill>
                <a:latin typeface="Microsoft YaHei"/>
                <a:ea typeface="微软雅黑"/>
              </a:rPr>
              <a:t>S1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2240280"/>
            <a:ext cx="73152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64748B"/>
                </a:solidFill>
                <a:latin typeface="Microsoft YaHei"/>
                <a:ea typeface="微软雅黑"/>
              </a:rPr>
              <a:t>S2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3416" y="2240280"/>
            <a:ext cx="73152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64748B"/>
                </a:solidFill>
                <a:latin typeface="Microsoft YaHei"/>
                <a:ea typeface="微软雅黑"/>
              </a:rPr>
              <a:t>S3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41864" y="2240280"/>
            <a:ext cx="73152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64748B"/>
                </a:solidFill>
                <a:latin typeface="Microsoft YaHei"/>
                <a:ea typeface="微软雅黑"/>
              </a:rPr>
              <a:t>C</a:t>
            </a:r>
          </a:p>
        </p:txBody>
      </p:sp>
      <p:sp>
        <p:nvSpPr>
          <p:cNvPr id="21" name="method_token"/>
          <p:cNvSpPr/>
          <p:nvPr/>
        </p:nvSpPr>
        <p:spPr>
          <a:xfrm>
            <a:off x="6446520" y="2788920"/>
            <a:ext cx="640080" cy="457200"/>
          </a:xfrm>
          <a:prstGeom prst="roundRect">
            <a:avLst/>
          </a:prstGeom>
          <a:solidFill>
            <a:srgbClr val="EAF2FF"/>
          </a:solidFill>
          <a:ln w="17780"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111827"/>
                </a:solidFill>
                <a:latin typeface="Microsoft YaHei"/>
                <a:ea typeface="微软雅黑"/>
              </a:rPr>
              <a:t>g1</a:t>
            </a:r>
          </a:p>
        </p:txBody>
      </p:sp>
      <p:sp>
        <p:nvSpPr>
          <p:cNvPr id="22" name="method_token"/>
          <p:cNvSpPr/>
          <p:nvPr/>
        </p:nvSpPr>
        <p:spPr>
          <a:xfrm>
            <a:off x="7744968" y="2578608"/>
            <a:ext cx="640080" cy="457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a2</a:t>
            </a:r>
          </a:p>
        </p:txBody>
      </p:sp>
      <p:cxnSp>
        <p:nvCxnSpPr>
          <p:cNvPr id="23" name="method_edge"/>
          <p:cNvCxnSpPr/>
          <p:nvPr/>
        </p:nvCxnSpPr>
        <p:spPr>
          <a:xfrm flipV="1">
            <a:off x="7086600" y="2807208"/>
            <a:ext cx="621792" cy="210312"/>
          </a:xfrm>
          <a:prstGeom prst="line">
            <a:avLst/>
          </a:prstGeom>
          <a:ln w="95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method_token"/>
          <p:cNvSpPr/>
          <p:nvPr/>
        </p:nvSpPr>
        <p:spPr>
          <a:xfrm>
            <a:off x="7744968" y="3154680"/>
            <a:ext cx="640080" cy="457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b2</a:t>
            </a:r>
          </a:p>
        </p:txBody>
      </p:sp>
      <p:cxnSp>
        <p:nvCxnSpPr>
          <p:cNvPr id="25" name="method_edge"/>
          <p:cNvCxnSpPr/>
          <p:nvPr/>
        </p:nvCxnSpPr>
        <p:spPr>
          <a:xfrm>
            <a:off x="7086600" y="3017520"/>
            <a:ext cx="621792" cy="365760"/>
          </a:xfrm>
          <a:prstGeom prst="line">
            <a:avLst/>
          </a:prstGeom>
          <a:ln w="95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method_token"/>
          <p:cNvSpPr/>
          <p:nvPr/>
        </p:nvSpPr>
        <p:spPr>
          <a:xfrm>
            <a:off x="7744968" y="3730752"/>
            <a:ext cx="640080" cy="457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c2</a:t>
            </a:r>
          </a:p>
        </p:txBody>
      </p:sp>
      <p:cxnSp>
        <p:nvCxnSpPr>
          <p:cNvPr id="27" name="method_edge"/>
          <p:cNvCxnSpPr/>
          <p:nvPr/>
        </p:nvCxnSpPr>
        <p:spPr>
          <a:xfrm>
            <a:off x="7086600" y="3017520"/>
            <a:ext cx="621792" cy="941832"/>
          </a:xfrm>
          <a:prstGeom prst="line">
            <a:avLst/>
          </a:prstGeom>
          <a:ln w="95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method_token"/>
          <p:cNvSpPr/>
          <p:nvPr/>
        </p:nvSpPr>
        <p:spPr>
          <a:xfrm>
            <a:off x="7744968" y="4351980"/>
            <a:ext cx="640080" cy="457200"/>
          </a:xfrm>
          <a:prstGeom prst="roundRect">
            <a:avLst/>
          </a:prstGeom>
          <a:solidFill>
            <a:srgbClr val="EAF2FF"/>
          </a:solidFill>
          <a:ln w="17780"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111827"/>
                </a:solidFill>
                <a:latin typeface="Microsoft YaHei"/>
                <a:ea typeface="微软雅黑"/>
              </a:rPr>
              <a:t>g2</a:t>
            </a:r>
          </a:p>
        </p:txBody>
      </p:sp>
      <p:cxnSp>
        <p:nvCxnSpPr>
          <p:cNvPr id="29" name="method_edge"/>
          <p:cNvCxnSpPr/>
          <p:nvPr/>
        </p:nvCxnSpPr>
        <p:spPr>
          <a:xfrm>
            <a:off x="7086600" y="3017520"/>
            <a:ext cx="621792" cy="1517904"/>
          </a:xfrm>
          <a:prstGeom prst="line">
            <a:avLst/>
          </a:prstGeom>
          <a:ln w="25400">
            <a:solidFill>
              <a:srgbClr val="1A3A6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method_token"/>
          <p:cNvSpPr/>
          <p:nvPr/>
        </p:nvSpPr>
        <p:spPr>
          <a:xfrm>
            <a:off x="9043416" y="2578608"/>
            <a:ext cx="640080" cy="457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a3</a:t>
            </a:r>
          </a:p>
        </p:txBody>
      </p:sp>
      <p:cxnSp>
        <p:nvCxnSpPr>
          <p:cNvPr id="31" name="method_edge"/>
          <p:cNvCxnSpPr/>
          <p:nvPr/>
        </p:nvCxnSpPr>
        <p:spPr>
          <a:xfrm>
            <a:off x="8385048" y="2807208"/>
            <a:ext cx="621792" cy="0"/>
          </a:xfrm>
          <a:prstGeom prst="line">
            <a:avLst/>
          </a:prstGeom>
          <a:ln w="95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method_token"/>
          <p:cNvSpPr/>
          <p:nvPr/>
        </p:nvSpPr>
        <p:spPr>
          <a:xfrm>
            <a:off x="9043416" y="3154680"/>
            <a:ext cx="640080" cy="457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b3</a:t>
            </a:r>
          </a:p>
        </p:txBody>
      </p:sp>
      <p:cxnSp>
        <p:nvCxnSpPr>
          <p:cNvPr id="33" name="method_edge"/>
          <p:cNvCxnSpPr/>
          <p:nvPr/>
        </p:nvCxnSpPr>
        <p:spPr>
          <a:xfrm>
            <a:off x="8385048" y="3383280"/>
            <a:ext cx="621792" cy="0"/>
          </a:xfrm>
          <a:prstGeom prst="line">
            <a:avLst/>
          </a:prstGeom>
          <a:ln w="95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method_token"/>
          <p:cNvSpPr/>
          <p:nvPr/>
        </p:nvSpPr>
        <p:spPr>
          <a:xfrm>
            <a:off x="9043416" y="3730752"/>
            <a:ext cx="640080" cy="457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c3</a:t>
            </a:r>
          </a:p>
        </p:txBody>
      </p:sp>
      <p:cxnSp>
        <p:nvCxnSpPr>
          <p:cNvPr id="35" name="method_edge"/>
          <p:cNvCxnSpPr/>
          <p:nvPr/>
        </p:nvCxnSpPr>
        <p:spPr>
          <a:xfrm>
            <a:off x="8385048" y="3959352"/>
            <a:ext cx="621792" cy="0"/>
          </a:xfrm>
          <a:prstGeom prst="line">
            <a:avLst/>
          </a:prstGeom>
          <a:ln w="95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method_edge"/>
          <p:cNvCxnSpPr/>
          <p:nvPr/>
        </p:nvCxnSpPr>
        <p:spPr>
          <a:xfrm>
            <a:off x="9683496" y="2807208"/>
            <a:ext cx="621792" cy="0"/>
          </a:xfrm>
          <a:prstGeom prst="line">
            <a:avLst/>
          </a:prstGeom>
          <a:ln w="95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method_token"/>
          <p:cNvSpPr/>
          <p:nvPr/>
        </p:nvSpPr>
        <p:spPr>
          <a:xfrm>
            <a:off x="10341864" y="2578608"/>
            <a:ext cx="640080" cy="457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en"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aC</a:t>
            </a:r>
            <a:endParaRPr sz="1600" b="0" dirty="0">
              <a:solidFill>
                <a:srgbClr val="111827"/>
              </a:solidFill>
              <a:latin typeface="Microsoft YaHei"/>
              <a:ea typeface="微软雅黑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302752" y="4812453"/>
            <a:ext cx="2404872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 dirty="0">
                <a:solidFill>
                  <a:srgbClr val="1A3A6B"/>
                </a:solidFill>
                <a:latin typeface="Microsoft YaHei"/>
                <a:ea typeface="微软雅黑"/>
              </a:rPr>
              <a:t>K=3 </a:t>
            </a:r>
            <a:r>
              <a:rPr sz="1600" b="1" dirty="0" err="1">
                <a:solidFill>
                  <a:srgbClr val="1A3A6B"/>
                </a:solidFill>
                <a:latin typeface="Microsoft YaHei"/>
                <a:ea typeface="微软雅黑"/>
              </a:rPr>
              <a:t>的真实边界</a:t>
            </a:r>
            <a:endParaRPr sz="1600" b="1" dirty="0">
              <a:solidFill>
                <a:srgbClr val="1A3A6B"/>
              </a:solidFill>
              <a:latin typeface="Microsoft YaHei"/>
              <a:ea typeface="微软雅黑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94360" y="5596128"/>
            <a:ext cx="10972800" cy="6035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关键差异：局部</a:t>
            </a: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 token </a:t>
            </a: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概率提高，可能仍不足以让</a:t>
            </a: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 gold </a:t>
            </a: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跨过第</a:t>
            </a: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 K </a:t>
            </a: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名边界。合法</a:t>
            </a: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 Trie </a:t>
            </a: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能消除无效路径，却不能替代合法候选内部的前缀排序</a:t>
            </a: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。</a:t>
            </a:r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6CB03149-C730-5BEA-F1B4-0144C1AFD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67" y="121919"/>
            <a:ext cx="2777066" cy="536450"/>
          </a:xfrm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altLang="zh-CN" sz="2800" dirty="0">
                <a:solidFill>
                  <a:srgbClr val="FFFFFF"/>
                </a:solidFill>
                <a:latin typeface="Microsoft YaHei"/>
                <a:ea typeface="微软雅黑"/>
              </a:rPr>
              <a:t>SFT</a:t>
            </a:r>
            <a:r>
              <a:rPr lang="zh-CN" altLang="en-US" sz="2800" dirty="0">
                <a:solidFill>
                  <a:srgbClr val="FFFFFF"/>
                </a:solidFill>
                <a:latin typeface="Microsoft YaHei"/>
                <a:ea typeface="微软雅黑"/>
              </a:rPr>
              <a:t> 问题</a:t>
            </a:r>
            <a:endParaRPr sz="2800" b="1" dirty="0">
              <a:solidFill>
                <a:srgbClr val="FFFFFF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66928" y="1176756"/>
            <a:ext cx="11027664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b="0" dirty="0" err="1">
                <a:latin typeface="Microsoft YaHei"/>
                <a:ea typeface="微软雅黑"/>
              </a:rPr>
              <a:t>论文</a:t>
            </a:r>
            <a:r>
              <a:rPr lang="zh-CN" altLang="en-US" b="0" dirty="0">
                <a:latin typeface="Microsoft YaHei"/>
                <a:ea typeface="微软雅黑"/>
              </a:rPr>
              <a:t>都</a:t>
            </a:r>
            <a:r>
              <a:rPr b="0" dirty="0" err="1">
                <a:latin typeface="Microsoft YaHei"/>
                <a:ea typeface="微软雅黑"/>
              </a:rPr>
              <a:t>是让训练看到模型前缀；缺口在真实</a:t>
            </a:r>
            <a:r>
              <a:rPr b="0" dirty="0">
                <a:latin typeface="Microsoft YaHei"/>
                <a:ea typeface="微软雅黑"/>
              </a:rPr>
              <a:t> Beam </a:t>
            </a:r>
            <a:r>
              <a:rPr b="0" dirty="0" err="1">
                <a:latin typeface="Microsoft YaHei"/>
                <a:ea typeface="微软雅黑"/>
              </a:rPr>
              <a:t>边界、固定</a:t>
            </a:r>
            <a:r>
              <a:rPr b="0" dirty="0">
                <a:latin typeface="Microsoft YaHei"/>
                <a:ea typeface="微软雅黑"/>
              </a:rPr>
              <a:t> SID </a:t>
            </a:r>
            <a:r>
              <a:rPr b="0" dirty="0" err="1">
                <a:latin typeface="Microsoft YaHei"/>
                <a:ea typeface="微软雅黑"/>
              </a:rPr>
              <a:t>和标签噪声</a:t>
            </a:r>
            <a:r>
              <a:rPr b="0" dirty="0">
                <a:latin typeface="Microsoft YaHei"/>
                <a:ea typeface="微软雅黑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87883"/>
            <a:ext cx="2487168" cy="640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 dirty="0">
                <a:solidFill>
                  <a:srgbClr val="000000"/>
                </a:solidFill>
                <a:latin typeface="Microsoft YaHei"/>
                <a:ea typeface="微软雅黑"/>
              </a:rPr>
              <a:t>Beam-Search Optimization</a:t>
            </a:r>
          </a:p>
        </p:txBody>
      </p:sp>
      <p:cxnSp>
        <p:nvCxnSpPr>
          <p:cNvPr id="7" name="method_edge"/>
          <p:cNvCxnSpPr/>
          <p:nvPr/>
        </p:nvCxnSpPr>
        <p:spPr>
          <a:xfrm>
            <a:off x="2907792" y="2462787"/>
            <a:ext cx="502920" cy="0"/>
          </a:xfrm>
          <a:prstGeom prst="line">
            <a:avLst/>
          </a:prstGeom>
          <a:ln w="14604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584448" y="2087883"/>
            <a:ext cx="3547872" cy="7040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训练时运行 Beam；gold 掉出时对第 K 名前缀做 margin 更新</a:t>
            </a:r>
          </a:p>
        </p:txBody>
      </p:sp>
      <p:cxnSp>
        <p:nvCxnSpPr>
          <p:cNvPr id="9" name="method_edge"/>
          <p:cNvCxnSpPr/>
          <p:nvPr/>
        </p:nvCxnSpPr>
        <p:spPr>
          <a:xfrm>
            <a:off x="7223760" y="2462787"/>
            <a:ext cx="475488" cy="0"/>
          </a:xfrm>
          <a:prstGeom prst="line">
            <a:avLst/>
          </a:prstGeom>
          <a:ln w="14604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882127" y="2087883"/>
            <a:ext cx="3675887" cy="7040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面向通用</a:t>
            </a: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 seq2seq；需要搜索内更新，未处理 POI </a:t>
            </a: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目录关系与单点击多相关</a:t>
            </a:r>
            <a:endParaRPr sz="1600" b="0" dirty="0">
              <a:solidFill>
                <a:srgbClr val="111827"/>
              </a:solidFill>
              <a:latin typeface="Microsoft YaHei"/>
              <a:ea typeface="微软雅黑"/>
            </a:endParaRPr>
          </a:p>
        </p:txBody>
      </p:sp>
      <p:cxnSp>
        <p:nvCxnSpPr>
          <p:cNvPr id="11" name="method_edge"/>
          <p:cNvCxnSpPr/>
          <p:nvPr/>
        </p:nvCxnSpPr>
        <p:spPr>
          <a:xfrm>
            <a:off x="594360" y="2919987"/>
            <a:ext cx="10954512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94360" y="3331468"/>
            <a:ext cx="2487168" cy="4663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 dirty="0">
                <a:solidFill>
                  <a:srgbClr val="000000"/>
                </a:solidFill>
                <a:latin typeface="Microsoft YaHei"/>
                <a:ea typeface="微软雅黑"/>
              </a:rPr>
              <a:t>RIPOR / GLEN</a:t>
            </a:r>
          </a:p>
        </p:txBody>
      </p:sp>
      <p:cxnSp>
        <p:nvCxnSpPr>
          <p:cNvPr id="13" name="method_edge"/>
          <p:cNvCxnSpPr/>
          <p:nvPr/>
        </p:nvCxnSpPr>
        <p:spPr>
          <a:xfrm>
            <a:off x="2907792" y="3569211"/>
            <a:ext cx="502920" cy="0"/>
          </a:xfrm>
          <a:prstGeom prst="line">
            <a:avLst/>
          </a:prstGeom>
          <a:ln w="14604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584448" y="3194307"/>
            <a:ext cx="3547872" cy="7040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前缀排序、渐进训练与 prefix-aware dynamic negatives</a:t>
            </a:r>
          </a:p>
        </p:txBody>
      </p:sp>
      <p:cxnSp>
        <p:nvCxnSpPr>
          <p:cNvPr id="15" name="method_edge"/>
          <p:cNvCxnSpPr/>
          <p:nvPr/>
        </p:nvCxnSpPr>
        <p:spPr>
          <a:xfrm>
            <a:off x="7223760" y="3569211"/>
            <a:ext cx="475488" cy="0"/>
          </a:xfrm>
          <a:prstGeom prst="line">
            <a:avLst/>
          </a:prstGeom>
          <a:ln w="14604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882127" y="3194307"/>
            <a:ext cx="3675887" cy="7040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依赖检索负例或相关性教师；并非当前 Beam=10 的首个因果剪枝边界</a:t>
            </a:r>
          </a:p>
        </p:txBody>
      </p:sp>
      <p:cxnSp>
        <p:nvCxnSpPr>
          <p:cNvPr id="17" name="method_edge"/>
          <p:cNvCxnSpPr/>
          <p:nvPr/>
        </p:nvCxnSpPr>
        <p:spPr>
          <a:xfrm>
            <a:off x="594360" y="4026411"/>
            <a:ext cx="10954512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4360" y="4300731"/>
            <a:ext cx="2487168" cy="640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>
                <a:solidFill>
                  <a:srgbClr val="000000"/>
                </a:solidFill>
                <a:latin typeface="Microsoft YaHei"/>
                <a:ea typeface="微软雅黑"/>
              </a:rPr>
              <a:t>RL from relevance feedback</a:t>
            </a:r>
          </a:p>
        </p:txBody>
      </p:sp>
      <p:cxnSp>
        <p:nvCxnSpPr>
          <p:cNvPr id="19" name="method_edge"/>
          <p:cNvCxnSpPr/>
          <p:nvPr/>
        </p:nvCxnSpPr>
        <p:spPr>
          <a:xfrm>
            <a:off x="2907792" y="4675635"/>
            <a:ext cx="502920" cy="0"/>
          </a:xfrm>
          <a:prstGeom prst="line">
            <a:avLst/>
          </a:prstGeom>
          <a:ln w="14604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584448" y="4300731"/>
            <a:ext cx="3547872" cy="7040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对完整生成序列给 reward，再优化检索排序</a:t>
            </a:r>
          </a:p>
        </p:txBody>
      </p:sp>
      <p:cxnSp>
        <p:nvCxnSpPr>
          <p:cNvPr id="21" name="method_edge"/>
          <p:cNvCxnSpPr/>
          <p:nvPr/>
        </p:nvCxnSpPr>
        <p:spPr>
          <a:xfrm>
            <a:off x="7223760" y="4675635"/>
            <a:ext cx="475488" cy="0"/>
          </a:xfrm>
          <a:prstGeom prst="line">
            <a:avLst/>
          </a:prstGeom>
          <a:ln w="14604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882127" y="4300731"/>
            <a:ext cx="3675887" cy="7040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采样成本与方差更高；地图单点击标签会把站点—入口等合理候选当负例</a:t>
            </a:r>
          </a:p>
        </p:txBody>
      </p:sp>
      <p:cxnSp>
        <p:nvCxnSpPr>
          <p:cNvPr id="23" name="method_edge"/>
          <p:cNvCxnSpPr/>
          <p:nvPr/>
        </p:nvCxnSpPr>
        <p:spPr>
          <a:xfrm>
            <a:off x="594360" y="5132835"/>
            <a:ext cx="10954512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标题 25">
            <a:extLst>
              <a:ext uri="{FF2B5EF4-FFF2-40B4-BE49-F238E27FC236}">
                <a16:creationId xmlns:a16="http://schemas.microsoft.com/office/drawing/2014/main" id="{79784A74-DEEB-E684-D10F-1B4C344F0049}"/>
              </a:ext>
            </a:extLst>
          </p:cNvPr>
          <p:cNvSpPr txBox="1">
            <a:spLocks/>
          </p:cNvSpPr>
          <p:nvPr/>
        </p:nvSpPr>
        <p:spPr>
          <a:xfrm>
            <a:off x="0" y="277368"/>
            <a:ext cx="82296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1" kern="1200" baseline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j-cs"/>
              </a:defRPr>
            </a:lvl1pPr>
          </a:lstStyle>
          <a:p>
            <a:endParaRPr lang="zh-CN" altLang="en-US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D2B163B3-2F9F-416B-A8C1-153B05469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67" y="121919"/>
            <a:ext cx="2777066" cy="536450"/>
          </a:xfrm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CN" altLang="en-US" sz="2800" dirty="0">
                <a:solidFill>
                  <a:srgbClr val="FFFFFF"/>
                </a:solidFill>
                <a:latin typeface="Microsoft YaHei"/>
                <a:ea typeface="微软雅黑"/>
              </a:rPr>
              <a:t>相关论文</a:t>
            </a:r>
            <a:endParaRPr sz="2800" b="1" dirty="0">
              <a:solidFill>
                <a:srgbClr val="FFFFFF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66928" y="1007421"/>
            <a:ext cx="11027664" cy="493771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b="0" dirty="0" err="1">
                <a:latin typeface="Microsoft YaHei"/>
                <a:ea typeface="微软雅黑"/>
              </a:rPr>
              <a:t>当前模型自己产生边界样本；风险候选按</a:t>
            </a:r>
            <a:r>
              <a:rPr b="0" dirty="0">
                <a:latin typeface="Microsoft YaHei"/>
                <a:ea typeface="微软雅黑"/>
              </a:rPr>
              <a:t> epoch </a:t>
            </a:r>
            <a:r>
              <a:rPr b="0" dirty="0" err="1">
                <a:latin typeface="Microsoft YaHei"/>
                <a:ea typeface="微软雅黑"/>
              </a:rPr>
              <a:t>冻结，避免每个训练</a:t>
            </a:r>
            <a:r>
              <a:rPr b="0" dirty="0">
                <a:latin typeface="Microsoft YaHei"/>
                <a:ea typeface="微软雅黑"/>
              </a:rPr>
              <a:t> batch </a:t>
            </a:r>
            <a:r>
              <a:rPr b="0" dirty="0" err="1">
                <a:latin typeface="Microsoft YaHei"/>
                <a:ea typeface="微软雅黑"/>
              </a:rPr>
              <a:t>内运行</a:t>
            </a:r>
            <a:r>
              <a:rPr b="0" dirty="0">
                <a:latin typeface="Microsoft YaHei"/>
                <a:ea typeface="微软雅黑"/>
              </a:rPr>
              <a:t> Beam。</a:t>
            </a:r>
          </a:p>
        </p:txBody>
      </p:sp>
      <p:sp>
        <p:nvSpPr>
          <p:cNvPr id="6" name="method_node"/>
          <p:cNvSpPr/>
          <p:nvPr/>
        </p:nvSpPr>
        <p:spPr>
          <a:xfrm>
            <a:off x="603504" y="1920240"/>
            <a:ext cx="2441448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同一扩词基座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Epoch 1 标准 CE</a:t>
            </a:r>
          </a:p>
        </p:txBody>
      </p:sp>
      <p:sp>
        <p:nvSpPr>
          <p:cNvPr id="7" name="method_node"/>
          <p:cNvSpPr/>
          <p:nvPr/>
        </p:nvSpPr>
        <p:spPr>
          <a:xfrm>
            <a:off x="3447288" y="1920240"/>
            <a:ext cx="2441448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Train-only 请求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真实 Beam=10</a:t>
            </a:r>
          </a:p>
        </p:txBody>
      </p:sp>
      <p:cxnSp>
        <p:nvCxnSpPr>
          <p:cNvPr id="8" name="method_edge"/>
          <p:cNvCxnSpPr/>
          <p:nvPr/>
        </p:nvCxnSpPr>
        <p:spPr>
          <a:xfrm>
            <a:off x="3090672" y="2331720"/>
            <a:ext cx="310896" cy="0"/>
          </a:xfrm>
          <a:prstGeom prst="line">
            <a:avLst/>
          </a:prstGeom>
          <a:ln w="14604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method_node"/>
          <p:cNvSpPr/>
          <p:nvPr/>
        </p:nvSpPr>
        <p:spPr>
          <a:xfrm>
            <a:off x="6291072" y="1920240"/>
            <a:ext cx="2441448" cy="822960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状态分类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首次剪枝 / 最终排序</a:t>
            </a:r>
          </a:p>
        </p:txBody>
      </p:sp>
      <p:cxnSp>
        <p:nvCxnSpPr>
          <p:cNvPr id="10" name="method_edge"/>
          <p:cNvCxnSpPr/>
          <p:nvPr/>
        </p:nvCxnSpPr>
        <p:spPr>
          <a:xfrm>
            <a:off x="5934455" y="2331720"/>
            <a:ext cx="310897" cy="0"/>
          </a:xfrm>
          <a:prstGeom prst="line">
            <a:avLst/>
          </a:prstGeom>
          <a:ln w="14604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method_node"/>
          <p:cNvSpPr/>
          <p:nvPr/>
        </p:nvSpPr>
        <p:spPr>
          <a:xfrm>
            <a:off x="9134856" y="1920240"/>
            <a:ext cx="2441448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冻结风险 pair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下一 epoch 注入</a:t>
            </a:r>
          </a:p>
        </p:txBody>
      </p:sp>
      <p:cxnSp>
        <p:nvCxnSpPr>
          <p:cNvPr id="12" name="method_edge"/>
          <p:cNvCxnSpPr/>
          <p:nvPr/>
        </p:nvCxnSpPr>
        <p:spPr>
          <a:xfrm>
            <a:off x="8778240" y="2331720"/>
            <a:ext cx="310896" cy="0"/>
          </a:xfrm>
          <a:prstGeom prst="line">
            <a:avLst/>
          </a:prstGeom>
          <a:ln w="14604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method_edge"/>
          <p:cNvCxnSpPr/>
          <p:nvPr/>
        </p:nvCxnSpPr>
        <p:spPr>
          <a:xfrm>
            <a:off x="10140696" y="2761488"/>
            <a:ext cx="0" cy="402336"/>
          </a:xfrm>
          <a:prstGeom prst="line">
            <a:avLst/>
          </a:prstGeom>
          <a:ln w="14604">
            <a:solidFill>
              <a:srgbClr val="1A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method_edge"/>
          <p:cNvCxnSpPr/>
          <p:nvPr/>
        </p:nvCxnSpPr>
        <p:spPr>
          <a:xfrm flipH="1">
            <a:off x="7909560" y="3163824"/>
            <a:ext cx="2231136" cy="0"/>
          </a:xfrm>
          <a:prstGeom prst="line">
            <a:avLst/>
          </a:prstGeom>
          <a:ln w="14604">
            <a:solidFill>
              <a:srgbClr val="1A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method_edge"/>
          <p:cNvCxnSpPr/>
          <p:nvPr/>
        </p:nvCxnSpPr>
        <p:spPr>
          <a:xfrm>
            <a:off x="7909560" y="3163824"/>
            <a:ext cx="0" cy="329184"/>
          </a:xfrm>
          <a:prstGeom prst="line">
            <a:avLst/>
          </a:prstGeom>
          <a:ln w="14604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method_node"/>
          <p:cNvSpPr/>
          <p:nvPr/>
        </p:nvSpPr>
        <p:spPr>
          <a:xfrm>
            <a:off x="5925311" y="3511296"/>
            <a:ext cx="5081339" cy="960120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700" b="0" dirty="0" err="1">
                <a:solidFill>
                  <a:srgbClr val="111827"/>
                </a:solidFill>
                <a:latin typeface="Microsoft YaHei"/>
                <a:ea typeface="微软雅黑"/>
              </a:rPr>
              <a:t>风险旁路：重新累计正负路径分数</a:t>
            </a:r>
            <a:endParaRPr sz="1700" b="0" dirty="0">
              <a:solidFill>
                <a:srgbClr val="111827"/>
              </a:solidFill>
              <a:latin typeface="Microsoft YaHei"/>
              <a:ea typeface="微软雅黑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700" b="0" dirty="0" err="1">
                <a:solidFill>
                  <a:srgbClr val="111827"/>
                </a:solidFill>
                <a:latin typeface="Microsoft YaHei"/>
                <a:ea typeface="微软雅黑"/>
              </a:rPr>
              <a:t>每个请求最多一个</a:t>
            </a:r>
            <a:r>
              <a:rPr sz="1700" b="0" dirty="0">
                <a:solidFill>
                  <a:srgbClr val="111827"/>
                </a:solidFill>
                <a:latin typeface="Microsoft YaHei"/>
                <a:ea typeface="微软雅黑"/>
              </a:rPr>
              <a:t> pai</a:t>
            </a:r>
            <a:r>
              <a:rPr lang="en" sz="1700" b="0" dirty="0">
                <a:solidFill>
                  <a:srgbClr val="111827"/>
                </a:solidFill>
                <a:latin typeface="Microsoft YaHei"/>
                <a:ea typeface="微软雅黑"/>
              </a:rPr>
              <a:t>r</a:t>
            </a:r>
            <a:endParaRPr sz="1700" b="0" dirty="0">
              <a:solidFill>
                <a:srgbClr val="111827"/>
              </a:solidFill>
              <a:latin typeface="Microsoft YaHei"/>
              <a:ea typeface="微软雅黑"/>
            </a:endParaRPr>
          </a:p>
        </p:txBody>
      </p:sp>
      <p:sp>
        <p:nvSpPr>
          <p:cNvPr id="17" name="method_node"/>
          <p:cNvSpPr/>
          <p:nvPr/>
        </p:nvSpPr>
        <p:spPr>
          <a:xfrm>
            <a:off x="594360" y="3511296"/>
            <a:ext cx="470916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111827"/>
                </a:solidFill>
                <a:latin typeface="Microsoft YaHei"/>
                <a:ea typeface="微软雅黑"/>
              </a:rPr>
              <a:t>主干：完整训练集标准 CE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111827"/>
                </a:solidFill>
                <a:latin typeface="Microsoft YaHei"/>
                <a:ea typeface="微软雅黑"/>
              </a:rPr>
              <a:t>保留 Query / GID / 历史 / 固定 [S1,S2,S3,C]</a:t>
            </a:r>
          </a:p>
        </p:txBody>
      </p:sp>
      <p:cxnSp>
        <p:nvCxnSpPr>
          <p:cNvPr id="18" name="method_edge"/>
          <p:cNvCxnSpPr/>
          <p:nvPr/>
        </p:nvCxnSpPr>
        <p:spPr>
          <a:xfrm>
            <a:off x="5303520" y="3995928"/>
            <a:ext cx="594360" cy="0"/>
          </a:xfrm>
          <a:prstGeom prst="line">
            <a:avLst/>
          </a:prstGeom>
          <a:ln w="14604">
            <a:solidFill>
              <a:srgbClr val="1A3A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method_node"/>
          <p:cNvSpPr/>
          <p:nvPr/>
        </p:nvSpPr>
        <p:spPr>
          <a:xfrm>
            <a:off x="4069080" y="4800600"/>
            <a:ext cx="4343400" cy="713232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700" b="0" dirty="0" err="1">
                <a:solidFill>
                  <a:srgbClr val="111827"/>
                </a:solidFill>
                <a:latin typeface="Microsoft YaHei"/>
                <a:ea typeface="微软雅黑"/>
              </a:rPr>
              <a:t>共享</a:t>
            </a:r>
            <a:r>
              <a:rPr sz="1700" b="0" dirty="0">
                <a:solidFill>
                  <a:srgbClr val="111827"/>
                </a:solidFill>
                <a:latin typeface="Microsoft YaHei"/>
                <a:ea typeface="微软雅黑"/>
              </a:rPr>
              <a:t> Qwen </a:t>
            </a:r>
            <a:r>
              <a:rPr sz="1700" b="0" dirty="0" err="1">
                <a:solidFill>
                  <a:srgbClr val="111827"/>
                </a:solidFill>
                <a:latin typeface="Microsoft YaHei"/>
                <a:ea typeface="微软雅黑"/>
              </a:rPr>
              <a:t>参数更新</a:t>
            </a:r>
            <a:endParaRPr sz="1700" b="0" dirty="0">
              <a:solidFill>
                <a:srgbClr val="111827"/>
              </a:solidFill>
              <a:latin typeface="Microsoft YaHei"/>
              <a:ea typeface="微软雅黑"/>
            </a:endParaRPr>
          </a:p>
        </p:txBody>
      </p:sp>
      <p:cxnSp>
        <p:nvCxnSpPr>
          <p:cNvPr id="20" name="method_edge"/>
          <p:cNvCxnSpPr/>
          <p:nvPr/>
        </p:nvCxnSpPr>
        <p:spPr>
          <a:xfrm>
            <a:off x="2953512" y="4471416"/>
            <a:ext cx="0" cy="685800"/>
          </a:xfrm>
          <a:prstGeom prst="line">
            <a:avLst/>
          </a:prstGeom>
          <a:ln w="14604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method_edge"/>
          <p:cNvCxnSpPr/>
          <p:nvPr/>
        </p:nvCxnSpPr>
        <p:spPr>
          <a:xfrm>
            <a:off x="2953512" y="5157216"/>
            <a:ext cx="1088136" cy="0"/>
          </a:xfrm>
          <a:prstGeom prst="line">
            <a:avLst/>
          </a:prstGeom>
          <a:ln w="14604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itle 1">
            <a:extLst>
              <a:ext uri="{FF2B5EF4-FFF2-40B4-BE49-F238E27FC236}">
                <a16:creationId xmlns:a16="http://schemas.microsoft.com/office/drawing/2014/main" id="{89D1B162-CDDD-7DCE-8877-EE214C384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67" y="121919"/>
            <a:ext cx="2777066" cy="536450"/>
          </a:xfrm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altLang="zh-CN" sz="2800" b="1" dirty="0" err="1">
                <a:solidFill>
                  <a:srgbClr val="FFFFFF"/>
                </a:solidFill>
                <a:latin typeface="Microsoft YaHei"/>
                <a:ea typeface="微软雅黑"/>
              </a:rPr>
              <a:t>BeamRisk</a:t>
            </a:r>
            <a:r>
              <a:rPr lang="en-US" altLang="zh-CN" sz="2800" b="1" dirty="0">
                <a:solidFill>
                  <a:srgbClr val="FFFFFF"/>
                </a:solidFill>
                <a:latin typeface="Microsoft YaHei"/>
                <a:ea typeface="微软雅黑"/>
              </a:rPr>
              <a:t>-SFT</a:t>
            </a:r>
            <a:endParaRPr sz="2800" b="1" dirty="0">
              <a:solidFill>
                <a:srgbClr val="FFFFFF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66928" y="1030674"/>
            <a:ext cx="11027664" cy="560381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b="0" dirty="0" err="1">
                <a:latin typeface="Microsoft YaHei"/>
                <a:ea typeface="微软雅黑"/>
              </a:rPr>
              <a:t>如果</a:t>
            </a:r>
            <a:r>
              <a:rPr b="0" dirty="0">
                <a:latin typeface="Microsoft YaHei"/>
                <a:ea typeface="微软雅黑"/>
              </a:rPr>
              <a:t> gold </a:t>
            </a:r>
            <a:r>
              <a:rPr b="0" dirty="0" err="1">
                <a:latin typeface="Microsoft YaHei"/>
                <a:ea typeface="微软雅黑"/>
              </a:rPr>
              <a:t>在深度</a:t>
            </a:r>
            <a:r>
              <a:rPr b="0" dirty="0">
                <a:latin typeface="Microsoft YaHei"/>
                <a:ea typeface="微软雅黑"/>
              </a:rPr>
              <a:t> t* </a:t>
            </a:r>
            <a:r>
              <a:rPr b="0" dirty="0" err="1">
                <a:latin typeface="Microsoft YaHei"/>
                <a:ea typeface="微软雅黑"/>
              </a:rPr>
              <a:t>首次掉出</a:t>
            </a:r>
            <a:r>
              <a:rPr b="0" dirty="0">
                <a:latin typeface="Microsoft YaHei"/>
                <a:ea typeface="微软雅黑"/>
              </a:rPr>
              <a:t> </a:t>
            </a:r>
            <a:r>
              <a:rPr b="0" dirty="0" err="1">
                <a:latin typeface="Microsoft YaHei"/>
                <a:ea typeface="微软雅黑"/>
              </a:rPr>
              <a:t>Beam，只比较同深度</a:t>
            </a:r>
            <a:r>
              <a:rPr b="0" dirty="0">
                <a:latin typeface="Microsoft YaHei"/>
                <a:ea typeface="微软雅黑"/>
              </a:rPr>
              <a:t> gold </a:t>
            </a:r>
            <a:r>
              <a:rPr b="0" dirty="0" err="1">
                <a:latin typeface="Microsoft YaHei"/>
                <a:ea typeface="微软雅黑"/>
              </a:rPr>
              <a:t>前缀与实际第</a:t>
            </a:r>
            <a:r>
              <a:rPr b="0" dirty="0">
                <a:latin typeface="Microsoft YaHei"/>
                <a:ea typeface="微软雅黑"/>
              </a:rPr>
              <a:t> K </a:t>
            </a:r>
            <a:r>
              <a:rPr b="0" dirty="0" err="1">
                <a:latin typeface="Microsoft YaHei"/>
                <a:ea typeface="微软雅黑"/>
              </a:rPr>
              <a:t>名边界</a:t>
            </a:r>
            <a:r>
              <a:rPr b="0" dirty="0">
                <a:latin typeface="Microsoft YaHei"/>
                <a:ea typeface="微软雅黑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64792"/>
            <a:ext cx="5257800" cy="3749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1">
                <a:solidFill>
                  <a:srgbClr val="000000"/>
                </a:solidFill>
                <a:latin typeface="Microsoft YaHei"/>
                <a:ea typeface="微软雅黑"/>
              </a:rPr>
              <a:t>示意：K=3，gold 在 S2 首次掉出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49424"/>
            <a:ext cx="658368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64748B"/>
                </a:solidFill>
                <a:latin typeface="Microsoft YaHei"/>
                <a:ea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2249424"/>
            <a:ext cx="658368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64748B"/>
                </a:solidFill>
                <a:latin typeface="Microsoft YaHei"/>
                <a:ea typeface="微软雅黑"/>
              </a:rPr>
              <a:t>S2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249424"/>
            <a:ext cx="658368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64748B"/>
                </a:solidFill>
                <a:latin typeface="Microsoft YaHei"/>
                <a:ea typeface="微软雅黑"/>
              </a:rPr>
              <a:t>S3</a:t>
            </a:r>
          </a:p>
        </p:txBody>
      </p:sp>
      <p:sp>
        <p:nvSpPr>
          <p:cNvPr id="11" name="method_token"/>
          <p:cNvSpPr/>
          <p:nvPr/>
        </p:nvSpPr>
        <p:spPr>
          <a:xfrm>
            <a:off x="1097280" y="3108960"/>
            <a:ext cx="640080" cy="457200"/>
          </a:xfrm>
          <a:prstGeom prst="roundRect">
            <a:avLst/>
          </a:prstGeom>
          <a:solidFill>
            <a:srgbClr val="EAF2FF"/>
          </a:solidFill>
          <a:ln w="17780"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111827"/>
                </a:solidFill>
                <a:latin typeface="Microsoft YaHei"/>
                <a:ea typeface="微软雅黑"/>
              </a:rPr>
              <a:t>g1</a:t>
            </a:r>
          </a:p>
        </p:txBody>
      </p:sp>
      <p:sp>
        <p:nvSpPr>
          <p:cNvPr id="12" name="method_token"/>
          <p:cNvSpPr/>
          <p:nvPr/>
        </p:nvSpPr>
        <p:spPr>
          <a:xfrm>
            <a:off x="2514600" y="2670048"/>
            <a:ext cx="640080" cy="457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  <a:ea typeface="微软雅黑"/>
              </a:rPr>
              <a:t>a2</a:t>
            </a:r>
          </a:p>
        </p:txBody>
      </p:sp>
      <p:cxnSp>
        <p:nvCxnSpPr>
          <p:cNvPr id="13" name="method_edge"/>
          <p:cNvCxnSpPr/>
          <p:nvPr/>
        </p:nvCxnSpPr>
        <p:spPr>
          <a:xfrm flipV="1">
            <a:off x="1737360" y="2898648"/>
            <a:ext cx="740664" cy="438912"/>
          </a:xfrm>
          <a:prstGeom prst="line">
            <a:avLst/>
          </a:prstGeom>
          <a:ln w="889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method_token"/>
          <p:cNvSpPr/>
          <p:nvPr/>
        </p:nvSpPr>
        <p:spPr>
          <a:xfrm>
            <a:off x="2514600" y="3246120"/>
            <a:ext cx="640080" cy="457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  <a:ea typeface="微软雅黑"/>
              </a:rPr>
              <a:t>b2</a:t>
            </a:r>
          </a:p>
        </p:txBody>
      </p:sp>
      <p:cxnSp>
        <p:nvCxnSpPr>
          <p:cNvPr id="15" name="method_edge"/>
          <p:cNvCxnSpPr/>
          <p:nvPr/>
        </p:nvCxnSpPr>
        <p:spPr>
          <a:xfrm>
            <a:off x="1737360" y="3337560"/>
            <a:ext cx="740664" cy="137160"/>
          </a:xfrm>
          <a:prstGeom prst="line">
            <a:avLst/>
          </a:prstGeom>
          <a:ln w="889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method_token"/>
          <p:cNvSpPr/>
          <p:nvPr/>
        </p:nvSpPr>
        <p:spPr>
          <a:xfrm>
            <a:off x="2514600" y="3822191"/>
            <a:ext cx="640080" cy="457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  <a:ea typeface="微软雅黑"/>
              </a:rPr>
              <a:t>c2</a:t>
            </a:r>
          </a:p>
        </p:txBody>
      </p:sp>
      <p:cxnSp>
        <p:nvCxnSpPr>
          <p:cNvPr id="17" name="method_edge"/>
          <p:cNvCxnSpPr/>
          <p:nvPr/>
        </p:nvCxnSpPr>
        <p:spPr>
          <a:xfrm>
            <a:off x="1737360" y="3337560"/>
            <a:ext cx="740664" cy="713231"/>
          </a:xfrm>
          <a:prstGeom prst="line">
            <a:avLst/>
          </a:prstGeom>
          <a:ln w="889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method_token"/>
          <p:cNvSpPr/>
          <p:nvPr/>
        </p:nvSpPr>
        <p:spPr>
          <a:xfrm>
            <a:off x="2514600" y="4398264"/>
            <a:ext cx="640080" cy="457200"/>
          </a:xfrm>
          <a:prstGeom prst="roundRect">
            <a:avLst/>
          </a:prstGeom>
          <a:solidFill>
            <a:srgbClr val="EAF2FF"/>
          </a:solidFill>
          <a:ln w="17780"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111827"/>
                </a:solidFill>
                <a:latin typeface="Microsoft YaHei"/>
                <a:ea typeface="微软雅黑"/>
              </a:rPr>
              <a:t>g2</a:t>
            </a:r>
          </a:p>
        </p:txBody>
      </p:sp>
      <p:cxnSp>
        <p:nvCxnSpPr>
          <p:cNvPr id="19" name="method_edge"/>
          <p:cNvCxnSpPr/>
          <p:nvPr/>
        </p:nvCxnSpPr>
        <p:spPr>
          <a:xfrm>
            <a:off x="1737360" y="3337560"/>
            <a:ext cx="740664" cy="1289304"/>
          </a:xfrm>
          <a:prstGeom prst="line">
            <a:avLst/>
          </a:prstGeom>
          <a:ln w="25400">
            <a:solidFill>
              <a:srgbClr val="1A3A6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method_token"/>
          <p:cNvSpPr/>
          <p:nvPr/>
        </p:nvSpPr>
        <p:spPr>
          <a:xfrm>
            <a:off x="3931920" y="2670048"/>
            <a:ext cx="640080" cy="457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  <a:ea typeface="微软雅黑"/>
              </a:rPr>
              <a:t>a3</a:t>
            </a:r>
          </a:p>
        </p:txBody>
      </p:sp>
      <p:cxnSp>
        <p:nvCxnSpPr>
          <p:cNvPr id="21" name="method_edge"/>
          <p:cNvCxnSpPr/>
          <p:nvPr/>
        </p:nvCxnSpPr>
        <p:spPr>
          <a:xfrm>
            <a:off x="3154680" y="2898648"/>
            <a:ext cx="740664" cy="0"/>
          </a:xfrm>
          <a:prstGeom prst="line">
            <a:avLst/>
          </a:prstGeom>
          <a:ln w="889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method_token"/>
          <p:cNvSpPr/>
          <p:nvPr/>
        </p:nvSpPr>
        <p:spPr>
          <a:xfrm>
            <a:off x="3931920" y="3246120"/>
            <a:ext cx="640080" cy="457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  <a:ea typeface="微软雅黑"/>
              </a:rPr>
              <a:t>b3</a:t>
            </a:r>
          </a:p>
        </p:txBody>
      </p:sp>
      <p:cxnSp>
        <p:nvCxnSpPr>
          <p:cNvPr id="23" name="method_edge"/>
          <p:cNvCxnSpPr/>
          <p:nvPr/>
        </p:nvCxnSpPr>
        <p:spPr>
          <a:xfrm>
            <a:off x="3154680" y="3474720"/>
            <a:ext cx="740664" cy="0"/>
          </a:xfrm>
          <a:prstGeom prst="line">
            <a:avLst/>
          </a:prstGeom>
          <a:ln w="889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method_token"/>
          <p:cNvSpPr/>
          <p:nvPr/>
        </p:nvSpPr>
        <p:spPr>
          <a:xfrm>
            <a:off x="3931920" y="3822191"/>
            <a:ext cx="640080" cy="457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  <a:ea typeface="微软雅黑"/>
              </a:rPr>
              <a:t>c3</a:t>
            </a:r>
          </a:p>
        </p:txBody>
      </p:sp>
      <p:cxnSp>
        <p:nvCxnSpPr>
          <p:cNvPr id="25" name="method_edge"/>
          <p:cNvCxnSpPr/>
          <p:nvPr/>
        </p:nvCxnSpPr>
        <p:spPr>
          <a:xfrm>
            <a:off x="3154680" y="4050791"/>
            <a:ext cx="740664" cy="0"/>
          </a:xfrm>
          <a:prstGeom prst="line">
            <a:avLst/>
          </a:prstGeom>
          <a:ln w="889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94944" y="4846320"/>
            <a:ext cx="155448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 dirty="0" err="1">
                <a:latin typeface="Microsoft YaHei"/>
                <a:ea typeface="微软雅黑"/>
              </a:rPr>
              <a:t>正样本</a:t>
            </a:r>
            <a:r>
              <a:rPr sz="1600" b="1" dirty="0">
                <a:latin typeface="Microsoft YaHei"/>
                <a:ea typeface="微软雅黑"/>
              </a:rPr>
              <a:t> </a:t>
            </a:r>
            <a:r>
              <a:rPr sz="1600" b="1" dirty="0" err="1">
                <a:latin typeface="Microsoft YaHei"/>
                <a:ea typeface="微软雅黑"/>
              </a:rPr>
              <a:t>g_t</a:t>
            </a:r>
            <a:r>
              <a:rPr sz="1600" b="1" dirty="0">
                <a:latin typeface="Microsoft YaHei"/>
                <a:ea typeface="微软雅黑"/>
              </a:rPr>
              <a:t>*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32304" y="5074919"/>
            <a:ext cx="2999232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 dirty="0" err="1">
                <a:latin typeface="Microsoft YaHei"/>
                <a:ea typeface="微软雅黑"/>
              </a:rPr>
              <a:t>负样本</a:t>
            </a:r>
            <a:r>
              <a:rPr sz="1600" b="0" dirty="0">
                <a:latin typeface="Microsoft YaHei"/>
                <a:ea typeface="微软雅黑"/>
              </a:rPr>
              <a:t> </a:t>
            </a:r>
            <a:r>
              <a:rPr sz="1600" b="0" dirty="0" err="1">
                <a:latin typeface="Microsoft YaHei"/>
                <a:ea typeface="微软雅黑"/>
              </a:rPr>
              <a:t>b_t</a:t>
            </a:r>
            <a:r>
              <a:rPr sz="1600" b="0" dirty="0">
                <a:latin typeface="Microsoft YaHei"/>
                <a:ea typeface="微软雅黑"/>
              </a:rPr>
              <a:t>*：</a:t>
            </a:r>
            <a:r>
              <a:rPr sz="1600" b="0" dirty="0" err="1">
                <a:latin typeface="Microsoft YaHei"/>
                <a:ea typeface="微软雅黑"/>
              </a:rPr>
              <a:t>真实第</a:t>
            </a:r>
            <a:r>
              <a:rPr sz="1600" b="0" dirty="0">
                <a:latin typeface="Microsoft YaHei"/>
                <a:ea typeface="微软雅黑"/>
              </a:rPr>
              <a:t> K </a:t>
            </a:r>
            <a:r>
              <a:rPr sz="1600" b="0" dirty="0" err="1">
                <a:latin typeface="Microsoft YaHei"/>
                <a:ea typeface="微软雅黑"/>
              </a:rPr>
              <a:t>名</a:t>
            </a:r>
            <a:endParaRPr sz="1600" b="0" dirty="0">
              <a:latin typeface="Microsoft YaHei"/>
              <a:ea typeface="微软雅黑"/>
            </a:endParaRPr>
          </a:p>
        </p:txBody>
      </p:sp>
      <p:cxnSp>
        <p:nvCxnSpPr>
          <p:cNvPr id="28" name="method_edge"/>
          <p:cNvCxnSpPr/>
          <p:nvPr/>
        </p:nvCxnSpPr>
        <p:spPr>
          <a:xfrm>
            <a:off x="5998464" y="1773936"/>
            <a:ext cx="0" cy="3493008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19088" y="1847088"/>
            <a:ext cx="5129784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1">
                <a:solidFill>
                  <a:srgbClr val="000000"/>
                </a:solidFill>
                <a:latin typeface="Microsoft YaHei"/>
                <a:ea typeface="微软雅黑"/>
              </a:rPr>
              <a:t>路径累计分数</a:t>
            </a:r>
          </a:p>
        </p:txBody>
      </p:sp>
      <p:sp>
        <p:nvSpPr>
          <p:cNvPr id="30" name="method_formula_bg"/>
          <p:cNvSpPr/>
          <p:nvPr/>
        </p:nvSpPr>
        <p:spPr>
          <a:xfrm>
            <a:off x="6419088" y="2432304"/>
            <a:ext cx="5129784" cy="768096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latex_formula" descr="LaTeX: \operatorname{Score}(g_t\mid x)=\sum_{j=1}^{t}\log P_\theta(y_j\mid x,y_{&lt;j}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9069" y="2505456"/>
            <a:ext cx="3189820" cy="62179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419088" y="3511296"/>
            <a:ext cx="5129784" cy="9509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只重算两条同长度路径，保证分数可比较</a:t>
            </a: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。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不对</a:t>
            </a: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 t* </a:t>
            </a: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之后的错误重复造</a:t>
            </a: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pair，避免一个请求产生多份高度相关梯度</a:t>
            </a: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。</a:t>
            </a:r>
          </a:p>
        </p:txBody>
      </p:sp>
      <p:sp>
        <p:nvSpPr>
          <p:cNvPr id="33" name="method_formula_bg"/>
          <p:cNvSpPr/>
          <p:nvPr/>
        </p:nvSpPr>
        <p:spPr>
          <a:xfrm>
            <a:off x="6419088" y="4626864"/>
            <a:ext cx="5129784" cy="66751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latex_formula" descr="LaTeX: \Delta_{\mathrm{survive}}=\operatorname{Score}(b_{t^\star}\mid x)-\operatorname{Score}(g_{t^\star}\mid x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59" y="4778700"/>
            <a:ext cx="4892040" cy="363838"/>
          </a:xfrm>
          <a:prstGeom prst="rect">
            <a:avLst/>
          </a:prstGeom>
        </p:spPr>
      </p:pic>
      <p:sp>
        <p:nvSpPr>
          <p:cNvPr id="36" name="Title 1">
            <a:extLst>
              <a:ext uri="{FF2B5EF4-FFF2-40B4-BE49-F238E27FC236}">
                <a16:creationId xmlns:a16="http://schemas.microsoft.com/office/drawing/2014/main" id="{F32712A1-C6F1-DCE4-351D-928F44C34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66" y="121919"/>
            <a:ext cx="7100711" cy="536450"/>
          </a:xfrm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CN" altLang="en-US" sz="2800" b="1" dirty="0">
                <a:solidFill>
                  <a:srgbClr val="FFFFFF"/>
                </a:solidFill>
                <a:latin typeface="Microsoft YaHei"/>
                <a:ea typeface="微软雅黑"/>
              </a:rPr>
              <a:t>机制一：只在首次剪枝的因果位置纠偏</a:t>
            </a:r>
            <a:endParaRPr sz="2800" b="1" dirty="0">
              <a:solidFill>
                <a:srgbClr val="FFFFFF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03995" y="1051560"/>
            <a:ext cx="9022384" cy="321055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b="0" dirty="0" err="1">
                <a:latin typeface="Microsoft YaHei"/>
                <a:ea typeface="微软雅黑"/>
              </a:rPr>
              <a:t>每个请求只解决当前最接近检索指标的一个问题，避免从多个前缀重复施加风险梯度</a:t>
            </a:r>
            <a:r>
              <a:rPr b="0" dirty="0">
                <a:latin typeface="Microsoft YaHei"/>
                <a:ea typeface="微软雅黑"/>
              </a:rPr>
              <a:t>。</a:t>
            </a:r>
          </a:p>
        </p:txBody>
      </p:sp>
      <p:sp>
        <p:nvSpPr>
          <p:cNvPr id="6" name="method_node"/>
          <p:cNvSpPr/>
          <p:nvPr/>
        </p:nvSpPr>
        <p:spPr>
          <a:xfrm>
            <a:off x="375994" y="2920893"/>
            <a:ext cx="2606040" cy="914400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700" b="0" dirty="0" err="1">
                <a:solidFill>
                  <a:srgbClr val="111827"/>
                </a:solidFill>
                <a:latin typeface="Microsoft YaHei"/>
                <a:ea typeface="微软雅黑"/>
              </a:rPr>
              <a:t>当前模型对请求</a:t>
            </a:r>
            <a:r>
              <a:rPr sz="1700" b="0" dirty="0">
                <a:solidFill>
                  <a:srgbClr val="111827"/>
                </a:solidFill>
                <a:latin typeface="Microsoft YaHei"/>
                <a:ea typeface="微软雅黑"/>
              </a:rPr>
              <a:t> x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700" b="0" dirty="0" err="1">
                <a:solidFill>
                  <a:srgbClr val="111827"/>
                </a:solidFill>
                <a:latin typeface="Microsoft YaHei"/>
                <a:ea typeface="微软雅黑"/>
              </a:rPr>
              <a:t>运行</a:t>
            </a:r>
            <a:r>
              <a:rPr sz="1700" b="0" dirty="0">
                <a:solidFill>
                  <a:srgbClr val="111827"/>
                </a:solidFill>
                <a:latin typeface="Microsoft YaHei"/>
                <a:ea typeface="微软雅黑"/>
              </a:rPr>
              <a:t> Beam=10</a:t>
            </a:r>
          </a:p>
        </p:txBody>
      </p:sp>
      <p:sp>
        <p:nvSpPr>
          <p:cNvPr id="7" name="method_node"/>
          <p:cNvSpPr/>
          <p:nvPr/>
        </p:nvSpPr>
        <p:spPr>
          <a:xfrm>
            <a:off x="3759273" y="1878477"/>
            <a:ext cx="2176272" cy="71323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gold 未进 Top-10</a:t>
            </a:r>
          </a:p>
        </p:txBody>
      </p:sp>
      <p:sp>
        <p:nvSpPr>
          <p:cNvPr id="8" name="method_node"/>
          <p:cNvSpPr/>
          <p:nvPr/>
        </p:nvSpPr>
        <p:spPr>
          <a:xfrm>
            <a:off x="6502474" y="1878477"/>
            <a:ext cx="1426464" cy="713232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111827"/>
                </a:solidFill>
                <a:latin typeface="Microsoft YaHei"/>
                <a:ea typeface="微软雅黑"/>
              </a:rPr>
              <a:t>Survive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50697" y="1852061"/>
            <a:ext cx="1826529" cy="8412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gold </a:t>
            </a: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首剪枝前缀</a:t>
            </a:r>
            <a:endParaRPr sz="1600" b="0" dirty="0">
              <a:solidFill>
                <a:srgbClr val="111827"/>
              </a:solidFill>
              <a:latin typeface="Microsoft YaHei"/>
              <a:ea typeface="微软雅黑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vs </a:t>
            </a: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当层第</a:t>
            </a: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 10 </a:t>
            </a: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名</a:t>
            </a:r>
            <a:endParaRPr sz="1600" b="0" dirty="0">
              <a:solidFill>
                <a:srgbClr val="111827"/>
              </a:solidFill>
              <a:latin typeface="Microsoft YaHei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333810" y="1873905"/>
            <a:ext cx="896112" cy="7680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600" b="0" dirty="0">
                <a:latin typeface="Microsoft YaHei"/>
                <a:ea typeface="微软雅黑"/>
              </a:rPr>
              <a:t>目标：HR@10</a:t>
            </a:r>
          </a:p>
        </p:txBody>
      </p:sp>
      <p:cxnSp>
        <p:nvCxnSpPr>
          <p:cNvPr id="11" name="method_edge"/>
          <p:cNvCxnSpPr/>
          <p:nvPr/>
        </p:nvCxnSpPr>
        <p:spPr>
          <a:xfrm>
            <a:off x="2982034" y="3378093"/>
            <a:ext cx="384048" cy="0"/>
          </a:xfrm>
          <a:prstGeom prst="line">
            <a:avLst/>
          </a:prstGeom>
          <a:ln w="14604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method_edge"/>
          <p:cNvCxnSpPr/>
          <p:nvPr/>
        </p:nvCxnSpPr>
        <p:spPr>
          <a:xfrm flipV="1">
            <a:off x="3366082" y="2235093"/>
            <a:ext cx="0" cy="1143000"/>
          </a:xfrm>
          <a:prstGeom prst="line">
            <a:avLst/>
          </a:prstGeom>
          <a:ln w="14604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method_edge"/>
          <p:cNvCxnSpPr/>
          <p:nvPr/>
        </p:nvCxnSpPr>
        <p:spPr>
          <a:xfrm>
            <a:off x="3366082" y="2235093"/>
            <a:ext cx="365760" cy="0"/>
          </a:xfrm>
          <a:prstGeom prst="line">
            <a:avLst/>
          </a:prstGeom>
          <a:ln w="14604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method_edge"/>
          <p:cNvCxnSpPr/>
          <p:nvPr/>
        </p:nvCxnSpPr>
        <p:spPr>
          <a:xfrm>
            <a:off x="5935546" y="2235093"/>
            <a:ext cx="539496" cy="0"/>
          </a:xfrm>
          <a:prstGeom prst="line">
            <a:avLst/>
          </a:prstGeom>
          <a:ln w="14604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method_edge"/>
          <p:cNvCxnSpPr/>
          <p:nvPr/>
        </p:nvCxnSpPr>
        <p:spPr>
          <a:xfrm>
            <a:off x="7928938" y="2235093"/>
            <a:ext cx="237744" cy="0"/>
          </a:xfrm>
          <a:prstGeom prst="line">
            <a:avLst/>
          </a:prstGeom>
          <a:ln w="14604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method_node"/>
          <p:cNvSpPr/>
          <p:nvPr/>
        </p:nvSpPr>
        <p:spPr>
          <a:xfrm>
            <a:off x="3759273" y="3250077"/>
            <a:ext cx="2176272" cy="71323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gold 在第 2–10 名</a:t>
            </a:r>
          </a:p>
        </p:txBody>
      </p:sp>
      <p:sp>
        <p:nvSpPr>
          <p:cNvPr id="17" name="method_node"/>
          <p:cNvSpPr/>
          <p:nvPr/>
        </p:nvSpPr>
        <p:spPr>
          <a:xfrm>
            <a:off x="6502474" y="3250077"/>
            <a:ext cx="1426464" cy="713232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1" dirty="0">
                <a:solidFill>
                  <a:srgbClr val="111827"/>
                </a:solidFill>
                <a:latin typeface="Microsoft YaHei"/>
                <a:ea typeface="微软雅黑"/>
              </a:rPr>
              <a:t>Rank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0697" y="3215448"/>
            <a:ext cx="2139696" cy="8412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完整</a:t>
            </a: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 gold SID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vs </a:t>
            </a: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当前</a:t>
            </a: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 rank-1 SID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34394" y="3222645"/>
            <a:ext cx="896112" cy="7680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600" b="0" dirty="0">
                <a:latin typeface="Microsoft YaHei"/>
                <a:ea typeface="微软雅黑"/>
              </a:rPr>
              <a:t>目标：HR@1 / NDCG</a:t>
            </a:r>
          </a:p>
        </p:txBody>
      </p:sp>
      <p:cxnSp>
        <p:nvCxnSpPr>
          <p:cNvPr id="20" name="method_edge"/>
          <p:cNvCxnSpPr/>
          <p:nvPr/>
        </p:nvCxnSpPr>
        <p:spPr>
          <a:xfrm>
            <a:off x="2982034" y="3378093"/>
            <a:ext cx="384048" cy="0"/>
          </a:xfrm>
          <a:prstGeom prst="line">
            <a:avLst/>
          </a:prstGeom>
          <a:ln w="14604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method_edge"/>
          <p:cNvCxnSpPr/>
          <p:nvPr/>
        </p:nvCxnSpPr>
        <p:spPr>
          <a:xfrm>
            <a:off x="3366082" y="3378093"/>
            <a:ext cx="0" cy="228600"/>
          </a:xfrm>
          <a:prstGeom prst="line">
            <a:avLst/>
          </a:prstGeom>
          <a:ln w="14604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method_edge"/>
          <p:cNvCxnSpPr/>
          <p:nvPr/>
        </p:nvCxnSpPr>
        <p:spPr>
          <a:xfrm>
            <a:off x="3366082" y="3606693"/>
            <a:ext cx="365760" cy="0"/>
          </a:xfrm>
          <a:prstGeom prst="line">
            <a:avLst/>
          </a:prstGeom>
          <a:ln w="14604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method_edge"/>
          <p:cNvCxnSpPr/>
          <p:nvPr/>
        </p:nvCxnSpPr>
        <p:spPr>
          <a:xfrm>
            <a:off x="5935546" y="3606693"/>
            <a:ext cx="539496" cy="0"/>
          </a:xfrm>
          <a:prstGeom prst="line">
            <a:avLst/>
          </a:prstGeom>
          <a:ln w="14604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method_edge"/>
          <p:cNvCxnSpPr/>
          <p:nvPr/>
        </p:nvCxnSpPr>
        <p:spPr>
          <a:xfrm>
            <a:off x="7928938" y="3606693"/>
            <a:ext cx="237744" cy="0"/>
          </a:xfrm>
          <a:prstGeom prst="line">
            <a:avLst/>
          </a:prstGeom>
          <a:ln w="14604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method_node"/>
          <p:cNvSpPr/>
          <p:nvPr/>
        </p:nvSpPr>
        <p:spPr>
          <a:xfrm>
            <a:off x="3759273" y="4621677"/>
            <a:ext cx="2176272" cy="71323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  <a:ea typeface="微软雅黑"/>
              </a:rPr>
              <a:t>gold 已经 rank-1</a:t>
            </a:r>
          </a:p>
        </p:txBody>
      </p:sp>
      <p:sp>
        <p:nvSpPr>
          <p:cNvPr id="26" name="method_node"/>
          <p:cNvSpPr/>
          <p:nvPr/>
        </p:nvSpPr>
        <p:spPr>
          <a:xfrm>
            <a:off x="6502474" y="4621677"/>
            <a:ext cx="1426464" cy="71323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111827"/>
                </a:solidFill>
                <a:latin typeface="Microsoft YaHei"/>
                <a:ea typeface="微软雅黑"/>
              </a:rPr>
              <a:t>CE only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9187" y="4513430"/>
            <a:ext cx="1826524" cy="8412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不构造风险</a:t>
            </a: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 pair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防止过度优化已正确样本</a:t>
            </a:r>
            <a:endParaRPr sz="1600" b="0" dirty="0">
              <a:solidFill>
                <a:srgbClr val="111827"/>
              </a:solidFill>
              <a:latin typeface="Microsoft YaHei"/>
              <a:ea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490393" y="4566813"/>
            <a:ext cx="896112" cy="7680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600" b="0" dirty="0" err="1">
                <a:latin typeface="Microsoft YaHei"/>
                <a:ea typeface="微软雅黑"/>
              </a:rPr>
              <a:t>目标</a:t>
            </a:r>
            <a:r>
              <a:rPr sz="1600" b="0" dirty="0">
                <a:latin typeface="Microsoft YaHei"/>
                <a:ea typeface="微软雅黑"/>
              </a:rPr>
              <a:t>：</a:t>
            </a:r>
            <a:endParaRPr lang="en-US" sz="1600" b="0" dirty="0">
              <a:latin typeface="Microsoft YaHei"/>
              <a:ea typeface="微软雅黑"/>
            </a:endParaRP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600" b="0" dirty="0" err="1">
                <a:latin typeface="Microsoft YaHei"/>
                <a:ea typeface="微软雅黑"/>
              </a:rPr>
              <a:t>保持</a:t>
            </a:r>
            <a:endParaRPr sz="1600" b="0" dirty="0">
              <a:latin typeface="Microsoft YaHei"/>
              <a:ea typeface="微软雅黑"/>
            </a:endParaRPr>
          </a:p>
        </p:txBody>
      </p:sp>
      <p:cxnSp>
        <p:nvCxnSpPr>
          <p:cNvPr id="29" name="method_edge"/>
          <p:cNvCxnSpPr/>
          <p:nvPr/>
        </p:nvCxnSpPr>
        <p:spPr>
          <a:xfrm>
            <a:off x="2982034" y="3378093"/>
            <a:ext cx="384048" cy="0"/>
          </a:xfrm>
          <a:prstGeom prst="line">
            <a:avLst/>
          </a:prstGeom>
          <a:ln w="14604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method_edge"/>
          <p:cNvCxnSpPr/>
          <p:nvPr/>
        </p:nvCxnSpPr>
        <p:spPr>
          <a:xfrm>
            <a:off x="3366082" y="3378093"/>
            <a:ext cx="0" cy="1600200"/>
          </a:xfrm>
          <a:prstGeom prst="line">
            <a:avLst/>
          </a:prstGeom>
          <a:ln w="14604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method_edge"/>
          <p:cNvCxnSpPr/>
          <p:nvPr/>
        </p:nvCxnSpPr>
        <p:spPr>
          <a:xfrm>
            <a:off x="3366082" y="4978293"/>
            <a:ext cx="365760" cy="0"/>
          </a:xfrm>
          <a:prstGeom prst="line">
            <a:avLst/>
          </a:prstGeom>
          <a:ln w="14604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method_edge"/>
          <p:cNvCxnSpPr/>
          <p:nvPr/>
        </p:nvCxnSpPr>
        <p:spPr>
          <a:xfrm>
            <a:off x="5935546" y="4978293"/>
            <a:ext cx="539496" cy="0"/>
          </a:xfrm>
          <a:prstGeom prst="line">
            <a:avLst/>
          </a:prstGeom>
          <a:ln w="14604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method_edge"/>
          <p:cNvCxnSpPr/>
          <p:nvPr/>
        </p:nvCxnSpPr>
        <p:spPr>
          <a:xfrm>
            <a:off x="7928938" y="4978293"/>
            <a:ext cx="237744" cy="0"/>
          </a:xfrm>
          <a:prstGeom prst="line">
            <a:avLst/>
          </a:prstGeom>
          <a:ln w="14604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itle 1">
            <a:extLst>
              <a:ext uri="{FF2B5EF4-FFF2-40B4-BE49-F238E27FC236}">
                <a16:creationId xmlns:a16="http://schemas.microsoft.com/office/drawing/2014/main" id="{936214AC-EE09-EE95-B74D-10FDC0F0C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66" y="121919"/>
            <a:ext cx="7100711" cy="536450"/>
          </a:xfrm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CN" altLang="en-US" sz="2800" b="1" dirty="0">
                <a:solidFill>
                  <a:srgbClr val="FFFFFF"/>
                </a:solidFill>
                <a:latin typeface="Microsoft YaHei"/>
                <a:ea typeface="微软雅黑"/>
              </a:rPr>
              <a:t>机制二：先存活，再排序，三种状态互斥</a:t>
            </a:r>
            <a:endParaRPr sz="2800" b="1" dirty="0">
              <a:solidFill>
                <a:srgbClr val="FFFFFF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66928" y="1523886"/>
            <a:ext cx="11027664" cy="496147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b="0" dirty="0" err="1">
                <a:latin typeface="Microsoft YaHei"/>
                <a:ea typeface="微软雅黑"/>
              </a:rPr>
              <a:t>训练时用当前参数重新计算</a:t>
            </a:r>
            <a:r>
              <a:rPr b="0" dirty="0">
                <a:latin typeface="Microsoft YaHei"/>
                <a:ea typeface="微软雅黑"/>
              </a:rPr>
              <a:t> gold </a:t>
            </a:r>
            <a:r>
              <a:rPr b="0" dirty="0" err="1">
                <a:latin typeface="Microsoft YaHei"/>
                <a:ea typeface="微软雅黑"/>
              </a:rPr>
              <a:t>与</a:t>
            </a:r>
            <a:r>
              <a:rPr b="0" dirty="0">
                <a:latin typeface="Microsoft YaHei"/>
                <a:ea typeface="微软雅黑"/>
              </a:rPr>
              <a:t> negative </a:t>
            </a:r>
            <a:r>
              <a:rPr b="0" dirty="0" err="1">
                <a:latin typeface="Microsoft YaHei"/>
                <a:ea typeface="微软雅黑"/>
              </a:rPr>
              <a:t>的累计</a:t>
            </a:r>
            <a:r>
              <a:rPr b="0" dirty="0">
                <a:latin typeface="Microsoft YaHei"/>
                <a:ea typeface="微软雅黑"/>
              </a:rPr>
              <a:t> log </a:t>
            </a:r>
            <a:r>
              <a:rPr b="0" dirty="0" err="1">
                <a:latin typeface="Microsoft YaHei"/>
                <a:ea typeface="微软雅黑"/>
              </a:rPr>
              <a:t>概率</a:t>
            </a:r>
            <a:r>
              <a:rPr b="0" dirty="0">
                <a:latin typeface="Microsoft YaHei"/>
                <a:ea typeface="微软雅黑"/>
              </a:rPr>
              <a:t>。</a:t>
            </a:r>
          </a:p>
        </p:txBody>
      </p:sp>
      <p:sp>
        <p:nvSpPr>
          <p:cNvPr id="6" name="method_formula_bg"/>
          <p:cNvSpPr/>
          <p:nvPr/>
        </p:nvSpPr>
        <p:spPr>
          <a:xfrm>
            <a:off x="594360" y="2276066"/>
            <a:ext cx="5303520" cy="758952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latex_formula" descr="LaTeX: \operatorname{Score}(p\mid x)=\sum_{j=1}^{|p|}\log P_\theta(p_j\mid x,p_{&lt;j}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9499" y="2295609"/>
            <a:ext cx="3213242" cy="685799"/>
          </a:xfrm>
          <a:prstGeom prst="rect">
            <a:avLst/>
          </a:prstGeom>
        </p:spPr>
      </p:pic>
      <p:sp>
        <p:nvSpPr>
          <p:cNvPr id="8" name="method_formula_bg"/>
          <p:cNvSpPr/>
          <p:nvPr/>
        </p:nvSpPr>
        <p:spPr>
          <a:xfrm>
            <a:off x="6245352" y="2276066"/>
            <a:ext cx="5303520" cy="758952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latex_formula" descr="LaTeX: \Delta=\operatorname{Score}(p^-\mid x)-\operatorname{Score}(p^+\mid x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3008" y="2434935"/>
            <a:ext cx="4956048" cy="43165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3492218"/>
            <a:ext cx="1243584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>
                <a:solidFill>
                  <a:srgbClr val="1A3A6B"/>
                </a:solidFill>
                <a:latin typeface="Microsoft YaHei"/>
                <a:ea typeface="微软雅黑"/>
              </a:rPr>
              <a:t>miss@10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1265" y="3492218"/>
            <a:ext cx="4215384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negative = </a:t>
            </a: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首剪枝深度的第</a:t>
            </a: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 K </a:t>
            </a: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名边界前缀</a:t>
            </a:r>
            <a:endParaRPr sz="1600" b="0" dirty="0">
              <a:solidFill>
                <a:srgbClr val="111827"/>
              </a:solidFill>
              <a:latin typeface="Microsoft YaHei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45352" y="3492218"/>
            <a:ext cx="1883664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>
                <a:solidFill>
                  <a:srgbClr val="1A3A6B"/>
                </a:solidFill>
                <a:latin typeface="Microsoft YaHei"/>
                <a:ea typeface="微软雅黑"/>
              </a:rPr>
              <a:t>hit@10_not@1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3014" y="3462414"/>
            <a:ext cx="3374136" cy="6035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50" b="0" dirty="0">
                <a:solidFill>
                  <a:srgbClr val="111827"/>
                </a:solidFill>
                <a:latin typeface="Microsoft YaHei"/>
                <a:ea typeface="微软雅黑"/>
              </a:rPr>
              <a:t>negative = </a:t>
            </a:r>
            <a:r>
              <a:rPr sz="1550" b="0" dirty="0" err="1">
                <a:solidFill>
                  <a:srgbClr val="111827"/>
                </a:solidFill>
                <a:latin typeface="Microsoft YaHei"/>
                <a:ea typeface="微软雅黑"/>
              </a:rPr>
              <a:t>当前</a:t>
            </a:r>
            <a:r>
              <a:rPr sz="1550" b="0" dirty="0">
                <a:solidFill>
                  <a:srgbClr val="111827"/>
                </a:solidFill>
                <a:latin typeface="Microsoft YaHei"/>
                <a:ea typeface="微软雅黑"/>
              </a:rPr>
              <a:t> Beam </a:t>
            </a:r>
            <a:r>
              <a:rPr sz="1550" b="0" dirty="0" err="1">
                <a:solidFill>
                  <a:srgbClr val="111827"/>
                </a:solidFill>
                <a:latin typeface="Microsoft YaHei"/>
                <a:ea typeface="微软雅黑"/>
              </a:rPr>
              <a:t>第</a:t>
            </a:r>
            <a:r>
              <a:rPr sz="1550" b="0" dirty="0">
                <a:solidFill>
                  <a:srgbClr val="111827"/>
                </a:solidFill>
                <a:latin typeface="Microsoft YaHei"/>
                <a:ea typeface="微软雅黑"/>
              </a:rPr>
              <a:t> 1 </a:t>
            </a:r>
            <a:r>
              <a:rPr sz="1550" b="0" dirty="0" err="1">
                <a:solidFill>
                  <a:srgbClr val="111827"/>
                </a:solidFill>
                <a:latin typeface="Microsoft YaHei"/>
                <a:ea typeface="微软雅黑"/>
              </a:rPr>
              <a:t>名错误完整</a:t>
            </a:r>
            <a:r>
              <a:rPr sz="1550" b="0" dirty="0">
                <a:solidFill>
                  <a:srgbClr val="111827"/>
                </a:solidFill>
                <a:latin typeface="Microsoft YaHei"/>
                <a:ea typeface="微软雅黑"/>
              </a:rPr>
              <a:t> SID</a:t>
            </a:r>
          </a:p>
        </p:txBody>
      </p:sp>
      <p:sp>
        <p:nvSpPr>
          <p:cNvPr id="14" name="method_formula_bg"/>
          <p:cNvSpPr/>
          <p:nvPr/>
        </p:nvSpPr>
        <p:spPr>
          <a:xfrm>
            <a:off x="1252728" y="4342610"/>
            <a:ext cx="4480560" cy="75895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latex_formula" descr="LaTeX: L_{\mathrm{risk}}^{(v1)}=\operatorname{softplus}\!\left(\frac{\Delta+\mu}{\tau}\right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1856" y="4424183"/>
            <a:ext cx="3493611" cy="604226"/>
          </a:xfrm>
          <a:prstGeom prst="rect">
            <a:avLst/>
          </a:prstGeom>
        </p:spPr>
      </p:pic>
      <p:sp>
        <p:nvSpPr>
          <p:cNvPr id="16" name="method_formula_bg"/>
          <p:cNvSpPr/>
          <p:nvPr/>
        </p:nvSpPr>
        <p:spPr>
          <a:xfrm>
            <a:off x="6473952" y="4342610"/>
            <a:ext cx="4480560" cy="75895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latex_formula" descr="LaTeX: L_{\mathrm{total}}=L_{\mathrm{CE}}+\lambda_{\mathrm{risk}}L_{\mathrm{risk}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4501" y="4505164"/>
            <a:ext cx="3555644" cy="43925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58952" y="5234558"/>
            <a:ext cx="1097280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endParaRPr sz="1600" b="0" dirty="0">
              <a:solidFill>
                <a:srgbClr val="111827"/>
              </a:solidFill>
              <a:latin typeface="Microsoft YaHei"/>
              <a:ea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76072" y="5727080"/>
            <a:ext cx="10972800" cy="5120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endParaRPr sz="1600" b="0" dirty="0">
              <a:latin typeface="Microsoft YaHei"/>
              <a:ea typeface="微软雅黑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643A011D-0749-DC8B-83C5-F20E96D293E3}"/>
              </a:ext>
            </a:extLst>
          </p:cNvPr>
          <p:cNvSpPr txBox="1">
            <a:spLocks/>
          </p:cNvSpPr>
          <p:nvPr/>
        </p:nvSpPr>
        <p:spPr>
          <a:xfrm>
            <a:off x="57150" y="256709"/>
            <a:ext cx="11430000" cy="762000"/>
          </a:xfrm>
          <a:prstGeom prst="rect">
            <a:avLst/>
          </a:prstGeom>
        </p:spPr>
        <p:txBody>
          <a:bodyPr vert="horz" wrap="square" lIns="27432" tIns="18288" rIns="27432" bIns="18288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1" kern="1200" baseline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j-cs"/>
              </a:defRPr>
            </a:lvl1pPr>
          </a:lstStyle>
          <a:p>
            <a:pPr>
              <a:lnSpc>
                <a:spcPct val="120000"/>
              </a:lnSpc>
              <a:spcAft>
                <a:spcPts val="400"/>
              </a:spcAft>
            </a:pPr>
            <a:endParaRPr lang="zh-CN" altLang="en-US" sz="2800" dirty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B54B14C9-986F-BF94-A0EF-1976433E1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66" y="121919"/>
            <a:ext cx="7100711" cy="536450"/>
          </a:xfrm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altLang="zh-CN" sz="2800" b="1" dirty="0" err="1">
                <a:solidFill>
                  <a:srgbClr val="FFFFFF"/>
                </a:solidFill>
                <a:latin typeface="Microsoft YaHei"/>
                <a:ea typeface="微软雅黑"/>
              </a:rPr>
              <a:t>BeamRisk</a:t>
            </a:r>
            <a:r>
              <a:rPr lang="en-US" altLang="zh-CN" sz="2800" b="1" dirty="0">
                <a:solidFill>
                  <a:srgbClr val="FFFFFF"/>
                </a:solidFill>
                <a:latin typeface="Microsoft YaHei"/>
                <a:ea typeface="微软雅黑"/>
              </a:rPr>
              <a:t> </a:t>
            </a:r>
            <a:endParaRPr sz="2800" b="1" dirty="0">
              <a:solidFill>
                <a:srgbClr val="FFFFFF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48640" y="1166875"/>
            <a:ext cx="11027664" cy="536449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b="0" dirty="0" err="1">
                <a:latin typeface="Microsoft YaHei"/>
                <a:ea typeface="微软雅黑"/>
              </a:rPr>
              <a:t>从基座</a:t>
            </a:r>
            <a:r>
              <a:rPr lang="zh-CN" altLang="en-US" b="0" dirty="0">
                <a:latin typeface="Microsoft YaHei"/>
                <a:ea typeface="微软雅黑"/>
              </a:rPr>
              <a:t>开始</a:t>
            </a:r>
            <a:r>
              <a:rPr b="0" dirty="0">
                <a:latin typeface="Microsoft YaHei"/>
                <a:ea typeface="微软雅黑"/>
              </a:rPr>
              <a:t>训练；500k </a:t>
            </a:r>
            <a:r>
              <a:rPr b="0" dirty="0" err="1">
                <a:latin typeface="Microsoft YaHei"/>
                <a:ea typeface="微软雅黑"/>
              </a:rPr>
              <a:t>挖掘候选池，主</a:t>
            </a:r>
            <a:r>
              <a:rPr b="0" dirty="0">
                <a:latin typeface="Microsoft YaHei"/>
                <a:ea typeface="微软雅黑"/>
              </a:rPr>
              <a:t> CE </a:t>
            </a:r>
            <a:r>
              <a:rPr b="0" dirty="0" err="1">
                <a:latin typeface="Microsoft YaHei"/>
                <a:ea typeface="微软雅黑"/>
              </a:rPr>
              <a:t>每轮遍历全量</a:t>
            </a:r>
            <a:r>
              <a:rPr b="0" dirty="0">
                <a:latin typeface="Microsoft YaHei"/>
                <a:ea typeface="微软雅黑"/>
              </a:rPr>
              <a:t> Train。</a:t>
            </a:r>
          </a:p>
        </p:txBody>
      </p:sp>
      <p:sp>
        <p:nvSpPr>
          <p:cNvPr id="6" name="method_node"/>
          <p:cNvSpPr/>
          <p:nvPr/>
        </p:nvSpPr>
        <p:spPr>
          <a:xfrm>
            <a:off x="603504" y="1999263"/>
            <a:ext cx="1493520" cy="8412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初始化</a:t>
            </a:r>
            <a:endParaRPr sz="1600" b="0" dirty="0">
              <a:solidFill>
                <a:srgbClr val="111827"/>
              </a:solidFill>
              <a:latin typeface="Microsoft YaHei"/>
              <a:ea typeface="微软雅黑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Qwen</a:t>
            </a:r>
          </a:p>
        </p:txBody>
      </p:sp>
      <p:sp>
        <p:nvSpPr>
          <p:cNvPr id="7" name="method_node"/>
          <p:cNvSpPr/>
          <p:nvPr/>
        </p:nvSpPr>
        <p:spPr>
          <a:xfrm>
            <a:off x="2499360" y="1999263"/>
            <a:ext cx="1493520" cy="8412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Epoch 1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全量标准</a:t>
            </a: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 CE</a:t>
            </a:r>
          </a:p>
        </p:txBody>
      </p:sp>
      <p:cxnSp>
        <p:nvCxnSpPr>
          <p:cNvPr id="8" name="method_edge"/>
          <p:cNvCxnSpPr/>
          <p:nvPr/>
        </p:nvCxnSpPr>
        <p:spPr>
          <a:xfrm>
            <a:off x="2142744" y="2419887"/>
            <a:ext cx="310896" cy="0"/>
          </a:xfrm>
          <a:prstGeom prst="line">
            <a:avLst/>
          </a:prstGeom>
          <a:ln w="14604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method_node"/>
          <p:cNvSpPr/>
          <p:nvPr/>
        </p:nvSpPr>
        <p:spPr>
          <a:xfrm>
            <a:off x="4395216" y="1999263"/>
            <a:ext cx="1493520" cy="841248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Mine #1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Train-only Beam=10</a:t>
            </a:r>
          </a:p>
        </p:txBody>
      </p:sp>
      <p:cxnSp>
        <p:nvCxnSpPr>
          <p:cNvPr id="10" name="method_edge"/>
          <p:cNvCxnSpPr/>
          <p:nvPr/>
        </p:nvCxnSpPr>
        <p:spPr>
          <a:xfrm>
            <a:off x="4038600" y="2419887"/>
            <a:ext cx="310896" cy="0"/>
          </a:xfrm>
          <a:prstGeom prst="line">
            <a:avLst/>
          </a:prstGeom>
          <a:ln w="14604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method_node"/>
          <p:cNvSpPr/>
          <p:nvPr/>
        </p:nvSpPr>
        <p:spPr>
          <a:xfrm>
            <a:off x="6291072" y="1999263"/>
            <a:ext cx="1493520" cy="8412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Epoch 2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CE + Survive</a:t>
            </a:r>
          </a:p>
        </p:txBody>
      </p:sp>
      <p:cxnSp>
        <p:nvCxnSpPr>
          <p:cNvPr id="12" name="method_edge"/>
          <p:cNvCxnSpPr/>
          <p:nvPr/>
        </p:nvCxnSpPr>
        <p:spPr>
          <a:xfrm>
            <a:off x="5934456" y="2419887"/>
            <a:ext cx="310896" cy="0"/>
          </a:xfrm>
          <a:prstGeom prst="line">
            <a:avLst/>
          </a:prstGeom>
          <a:ln w="14604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ethod_node"/>
          <p:cNvSpPr/>
          <p:nvPr/>
        </p:nvSpPr>
        <p:spPr>
          <a:xfrm>
            <a:off x="8186928" y="1999263"/>
            <a:ext cx="1493520" cy="8412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Mine #2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刷新风险</a:t>
            </a:r>
            <a:endParaRPr sz="1600" b="0" dirty="0">
              <a:solidFill>
                <a:srgbClr val="111827"/>
              </a:solidFill>
              <a:latin typeface="Microsoft YaHei"/>
              <a:ea typeface="微软雅黑"/>
            </a:endParaRPr>
          </a:p>
        </p:txBody>
      </p:sp>
      <p:cxnSp>
        <p:nvCxnSpPr>
          <p:cNvPr id="14" name="method_edge"/>
          <p:cNvCxnSpPr/>
          <p:nvPr/>
        </p:nvCxnSpPr>
        <p:spPr>
          <a:xfrm>
            <a:off x="7830312" y="2419887"/>
            <a:ext cx="310896" cy="0"/>
          </a:xfrm>
          <a:prstGeom prst="line">
            <a:avLst/>
          </a:prstGeom>
          <a:ln w="14604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method_node"/>
          <p:cNvSpPr/>
          <p:nvPr/>
        </p:nvSpPr>
        <p:spPr>
          <a:xfrm>
            <a:off x="10082784" y="1999263"/>
            <a:ext cx="1493520" cy="84124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Epoch 3</a:t>
            </a:r>
          </a:p>
          <a:p>
            <a:pPr algn="ctr">
              <a:lnSpc>
                <a:spcPct val="120000"/>
              </a:lnSpc>
            </a:pP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CE + </a:t>
            </a:r>
            <a:r>
              <a:rPr lang="en" altLang="zh-CN" sz="1600" dirty="0">
                <a:solidFill>
                  <a:srgbClr val="111827"/>
                </a:solidFill>
                <a:latin typeface="Microsoft YaHei"/>
                <a:ea typeface="微软雅黑"/>
              </a:rPr>
              <a:t>Rank</a:t>
            </a:r>
          </a:p>
        </p:txBody>
      </p:sp>
      <p:cxnSp>
        <p:nvCxnSpPr>
          <p:cNvPr id="16" name="method_edge"/>
          <p:cNvCxnSpPr/>
          <p:nvPr/>
        </p:nvCxnSpPr>
        <p:spPr>
          <a:xfrm>
            <a:off x="9726168" y="2419887"/>
            <a:ext cx="310896" cy="0"/>
          </a:xfrm>
          <a:prstGeom prst="line">
            <a:avLst/>
          </a:prstGeom>
          <a:ln w="14604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4360" y="3763265"/>
            <a:ext cx="1611938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b="1">
                <a:solidFill>
                  <a:srgbClr val="000000"/>
                </a:solidFill>
                <a:latin typeface="Microsoft YaHei"/>
                <a:ea typeface="微软雅黑"/>
              </a:rPr>
              <a:t>每次挖掘保存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9192" y="3763265"/>
            <a:ext cx="8869680" cy="6583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每层</a:t>
            </a: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 live Beam </a:t>
            </a: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前缀与分数；gold</a:t>
            </a: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rank；首剪枝深度；第</a:t>
            </a: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 K </a:t>
            </a: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名边界；最终</a:t>
            </a: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rank；合法性和目录可展开属性</a:t>
            </a: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。</a:t>
            </a:r>
          </a:p>
        </p:txBody>
      </p:sp>
      <p:cxnSp>
        <p:nvCxnSpPr>
          <p:cNvPr id="19" name="method_edge"/>
          <p:cNvCxnSpPr/>
          <p:nvPr/>
        </p:nvCxnSpPr>
        <p:spPr>
          <a:xfrm>
            <a:off x="594360" y="4622801"/>
            <a:ext cx="10954512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94360" y="4897121"/>
            <a:ext cx="1753729" cy="6217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b="1">
                <a:solidFill>
                  <a:srgbClr val="000000"/>
                </a:solidFill>
                <a:latin typeface="Microsoft YaHei"/>
                <a:ea typeface="微软雅黑"/>
              </a:rPr>
              <a:t>风险 pair 进入训练前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16352" y="4915409"/>
            <a:ext cx="8732520" cy="6949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 dirty="0" err="1">
                <a:solidFill>
                  <a:srgbClr val="111827"/>
                </a:solidFill>
                <a:latin typeface="Microsoft YaHei"/>
                <a:ea typeface="微软雅黑"/>
              </a:rPr>
              <a:t>重算当前正负路径分数；过滤相同路径、结构非法、目录不可展开和已满足边界样本；保护目录等价与关系型近等价实体</a:t>
            </a:r>
            <a:r>
              <a:rPr sz="1600" b="0" dirty="0">
                <a:solidFill>
                  <a:srgbClr val="111827"/>
                </a:solidFill>
                <a:latin typeface="Microsoft YaHei"/>
                <a:ea typeface="微软雅黑"/>
              </a:rPr>
              <a:t>。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AB7448F1-6353-AF28-5419-300AD84A9B8E}"/>
              </a:ext>
            </a:extLst>
          </p:cNvPr>
          <p:cNvSpPr txBox="1">
            <a:spLocks/>
          </p:cNvSpPr>
          <p:nvPr/>
        </p:nvSpPr>
        <p:spPr>
          <a:xfrm>
            <a:off x="0" y="277368"/>
            <a:ext cx="11430000" cy="762000"/>
          </a:xfrm>
          <a:prstGeom prst="rect">
            <a:avLst/>
          </a:prstGeom>
        </p:spPr>
        <p:txBody>
          <a:bodyPr vert="horz" wrap="square" lIns="27432" tIns="18288" rIns="27432" bIns="18288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1" kern="1200" baseline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j-cs"/>
              </a:defRPr>
            </a:lvl1pPr>
          </a:lstStyle>
          <a:p>
            <a:pPr>
              <a:lnSpc>
                <a:spcPct val="120000"/>
              </a:lnSpc>
              <a:spcAft>
                <a:spcPts val="400"/>
              </a:spcAft>
            </a:pPr>
            <a:endParaRPr lang="zh-CN" altLang="en-US" sz="2800" dirty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2142C2E6-A912-9B56-6CBB-83014DBD9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66" y="121919"/>
            <a:ext cx="7100711" cy="536450"/>
          </a:xfrm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altLang="zh-CN" sz="2800" b="1" dirty="0" err="1">
                <a:solidFill>
                  <a:srgbClr val="FFFFFF"/>
                </a:solidFill>
                <a:latin typeface="Microsoft YaHei"/>
                <a:ea typeface="微软雅黑"/>
              </a:rPr>
              <a:t>Beamrisk</a:t>
            </a:r>
            <a:r>
              <a:rPr lang="en-US" altLang="zh-CN" sz="2800" b="1" dirty="0">
                <a:solidFill>
                  <a:srgbClr val="FFFFFF"/>
                </a:solidFill>
                <a:latin typeface="Microsoft YaHei"/>
                <a:ea typeface="微软雅黑"/>
              </a:rPr>
              <a:t>-SFT </a:t>
            </a:r>
            <a:r>
              <a:rPr lang="zh-CN" altLang="en-US" sz="2800" b="1" dirty="0">
                <a:solidFill>
                  <a:srgbClr val="FFFFFF"/>
                </a:solidFill>
                <a:latin typeface="Microsoft YaHei"/>
                <a:ea typeface="微软雅黑"/>
              </a:rPr>
              <a:t>构建</a:t>
            </a:r>
            <a:endParaRPr sz="2800" b="1" dirty="0">
              <a:solidFill>
                <a:srgbClr val="FFFFFF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8DA5E6B4-0D77-C242-7831-0414A6859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66" y="121919"/>
            <a:ext cx="7100711" cy="536450"/>
          </a:xfrm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CN" altLang="en-US" sz="2800" b="1" dirty="0">
                <a:solidFill>
                  <a:srgbClr val="FFFFFF"/>
                </a:solidFill>
                <a:latin typeface="Microsoft YaHei"/>
                <a:ea typeface="微软雅黑"/>
              </a:rPr>
              <a:t>总结</a:t>
            </a:r>
            <a:endParaRPr sz="2800" b="1" dirty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2018A1B-1F37-F8D8-DB25-1DD9862053AB}"/>
              </a:ext>
            </a:extLst>
          </p:cNvPr>
          <p:cNvSpPr txBox="1"/>
          <p:nvPr/>
        </p:nvSpPr>
        <p:spPr>
          <a:xfrm>
            <a:off x="505376" y="1489460"/>
            <a:ext cx="813365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生成式 POI 检索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存在问题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包括 SID 的 Query 可预测性以及 Teacher-Forcing 与 Beam Search 的训练推理差异。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按照方案进行实验，并根据实验结果不断优化完善方案。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RkYTBlMGFkODI3ZDFhOWRjMTg5ZjcxNDZhYWMwYzQ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6293</TotalTime>
  <Words>1191</Words>
  <Application>Microsoft Macintosh PowerPoint</Application>
  <PresentationFormat>宽屏</PresentationFormat>
  <Paragraphs>297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微软雅黑</vt:lpstr>
      <vt:lpstr>微软雅黑</vt:lpstr>
      <vt:lpstr>Noto Sans CJK SC</vt:lpstr>
      <vt:lpstr>Arial</vt:lpstr>
      <vt:lpstr>Calibri</vt:lpstr>
      <vt:lpstr>Cambria Math</vt:lpstr>
      <vt:lpstr>Times New Roman</vt:lpstr>
      <vt:lpstr>Office Theme</vt:lpstr>
      <vt:lpstr>PowerPoint 演示文稿</vt:lpstr>
      <vt:lpstr>生成式检索存在问题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机制二：POI 与 Query 双质心，共享同一个离散 token</vt:lpstr>
      <vt:lpstr>类别软锚点，残差逐层传递</vt:lpstr>
      <vt:lpstr>机制三：S3用局部地理和困难实体做消歧</vt:lpstr>
      <vt:lpstr>QG-HRQ 构建</vt:lpstr>
      <vt:lpstr>SFT 问题</vt:lpstr>
      <vt:lpstr>相关论文</vt:lpstr>
      <vt:lpstr>BeamRisk-SFT</vt:lpstr>
      <vt:lpstr>机制一：只在首次剪枝的因果位置纠偏</vt:lpstr>
      <vt:lpstr>机制二：先存活，再排序，三种状态互斥</vt:lpstr>
      <vt:lpstr>BeamRisk </vt:lpstr>
      <vt:lpstr>Beamrisk-SFT 构建</vt:lpstr>
      <vt:lpstr>总结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生成式 POI 检索项目方案与实验进展（汇报版）</dc:title>
  <dc:subject>内容讲解与实验指标混合排版</dc:subject>
  <dc:creator>POI Generative Retrieval</dc:creator>
  <dc:description>generated using python-pptx</dc:description>
  <cp:lastModifiedBy>didi</cp:lastModifiedBy>
  <cp:revision>333</cp:revision>
  <dcterms:created xsi:type="dcterms:W3CDTF">2013-01-27T09:14:00Z</dcterms:created>
  <dcterms:modified xsi:type="dcterms:W3CDTF">2026-09-13T14:49:16Z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DE24D9AFC49D4824B665D83DF2C9688F_13</vt:lpwstr>
  </property>
  <property fmtid="{D5CDD505-2E9C-101B-9397-08002B2CF9AE}" pid="3" name="KSOProductBuildVer">
    <vt:lpwstr>2052-12.1.0.17827</vt:lpwstr>
  </property>
</Properties>
</file>