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70" r:id="rId14"/>
    <p:sldId id="271" r:id="rId15"/>
    <p:sldId id="272" r:id="rId16"/>
    <p:sldId id="273" r:id="rId17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6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4FF"/>
    <a:srgbClr val="F8FBFD"/>
    <a:srgbClr val="2E7CF6"/>
    <a:srgbClr val="9ECCFD"/>
    <a:srgbClr val="93C5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110"/>
    <p:restoredTop sz="96143"/>
  </p:normalViewPr>
  <p:slideViewPr>
    <p:cSldViewPr snapToGrid="0" snapToObjects="1" showGuides="1">
      <p:cViewPr>
        <p:scale>
          <a:sx n="115" d="100"/>
          <a:sy n="115" d="100"/>
        </p:scale>
        <p:origin x="624" y="344"/>
      </p:cViewPr>
      <p:guideLst>
        <p:guide orient="horz" pos="2226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tags" Target="tags/tag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汇报口径：本次分为“论文方法复现”和“Embedding/SID 优化探索”两部分。所有最终生成式指标都来自固定 10,000 条 Validation，而不是完整 Validation 或 Test，因此当前结论用于方法选择，不能作为最终上线或论文 Test 结论。</a:t>
            </a:r>
          </a:p>
          <a:p/>
          <a:p>
            <a:r>
              <a:t>这里的生成式检索不是直接生成 POI 名称，而是让语言模型生成可映射到 POI 的离散标识符，再通过冻结映射还原实体。后续分析重点区分三件事：标识符结构是否合理、模型是否能预测、解码后是否真正召回目标。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90921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表中的“SID 唯一率”都指追加 C/D 之前的基础三层 SID；三个方法在加入最终 Collision/Dedup 后都可以做到 POI 标识全局唯一。GenPOI 的 GID+SID 仍不是最终唯一 PID，最后一层条件 D 才把剩余碰撞完全展开。</a:t>
            </a:r>
          </a:p>
          <a:p/>
          <a:p>
            <a:r>
              <a:t>碰撞 Case 显示，很多大桶并非纯随机错误，而是连锁品牌网点、楼栋门牌、父子 POI、商场子店和出入口等语义相近实体。让它们共享基础 SID 有合理性，但随机序号只解决可逆映射，无法告诉模型“这是 4 号楼、东门还是某分店”。</a:t>
            </a:r>
          </a:p>
          <a:p/>
          <a:p>
            <a:r>
              <a:t>地图检索的错误代价高于一般推荐，因此后续需要把“共享检索语义”和“实体级身份”拆开：基础 SID 负责可预测语义，只有冲突项再用真实楼号、父实体、商铺号或局部空间关系完成最小消歧。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5007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统一复现控制了北京 POI 目录、订单时间切分、Qwen3-0.6B、最近 10 条历史、三轮训练和固定评测集合；但保留了论文各自最关键的标识符和解码方式。因此这里比较的是三种方法在同一地图数据上的适配结果，不是直接复刻论文公开表格中的绝对数值。</a:t>
            </a:r>
          </a:p>
          <a:p/>
          <a:p>
            <a:r>
              <a:t>TIGER 的第四层 C 是固定长度规则：即使三层 SID 不碰撞，单例也追加 C0；碰撞桶内再使用 C1、C2……。GNPR 和 GenPOI 只对碰撞项追加 D，单例不增加该层，所以目标长度是条件变化的。</a:t>
            </a:r>
          </a:p>
          <a:p/>
          <a:p>
            <a:r>
              <a:t>GenPOI 的 SSP 只根据当前 Query 预测需要预填的地理前缀深度；TCG Trie 再限制每一步只能走向目录中的合法 PID。该约束不读取目标 POI，因此不存在目标泄漏，但它与 TIGER/GNPR 的无约束生成不是同一种搜索空间。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固定 10,000 条不是训练前 10,000 条，也不是曾用于 SFT smoke 的小样本，而是从 07-13 Validation 中按冻结业务键 order_id+searchid 对齐出的同一批样本。三种方法的样本顺序、目标 POI 和业务键均一致。</a:t>
            </a:r>
          </a:p>
          <a:p/>
          <a:p>
            <a:r>
              <a:t>历史事件必须早于目标订单，04-01—06-30 的历史窗口与 07 月目标期完全分离；空历史保留，避免只评估活跃用户。Test 只完成数据构建，没有用于参数选择或本次指标汇报。</a:t>
            </a:r>
          </a:p>
          <a:p/>
          <a:p>
            <a:r>
              <a:t>Validation 的订单键与 Train 不重叠，但地图查询文本自然会重复：10,000 条中有 8,399 条 Query 文本在 Train 出现，7,691 条精确 Query–目标 POI 对出现过。后续 Embedding 实验另外报告了未见 Query 和未见 Query–POI 子集，确认增益并非只来自文本复现。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TIGER 原本面向推荐，本项目把用户序列改为“当前 Query/GID + 最近历史 Query/GID/POI”，同时保留 RQ-VAE SID 和固定 Collision Code。GNPR 原始思路更偏行为表征；早期行为稀疏特征版本只覆盖 703,306 个有行为 POI，且用户哈希碰撞审计未通过，因此没有进入全目录复现，最终改用 BGE 文本、静态类别和 PlusCode6 的 content-geo 输入覆盖全部 POI。</a:t>
            </a:r>
          </a:p>
          <a:p/>
          <a:p>
            <a:r>
              <a:t>GenPOI 适配保留 GID、SSP 和 TCG；GeoPE32 版本额外做全局均值中心化，是为修复旧 GeoPE 输入第一层码本严重失活，不是为了修改评测协议。</a:t>
            </a:r>
          </a:p>
          <a:p/>
          <a:p>
            <a:r>
              <a:t>TIGER 使用 4×RTX PRO 6000D，另外两种使用 4×A100，但三组 SFT 的全局 batch 都是 512，均为 BF16 全参数训练、相同学习率和三轮保存。GPU 型号主要影响吞吐，不会合理解释 GNPR 的层级准确率差距；方法输入、SID 和解码差异才是主要变量。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 训练中出现过一次明确失败：最初直接沿用 learning rate=1e-3 的 256×3 RQ-VAE，最终只得到 330 个不同 SID，Validation 三层仅使用 55/3/2 个码字，最大桶达到 29,472，属于码本塌缩。通过小规模稳定性扫描将学习率改为 3e-4 后，三种容量均正常训练，失败产物未纳入表中结果。</a:t>
            </a:r>
          </a:p>
          <a:p/>
          <a:p>
            <a:r>
              <a:t>TIGER 的全量 Tokenized Cache 第一次在 Train 分词完成后被系统回收；已生成的 16 个 Arrow 分片没有重算，而是用 4 个 worker 逐分片校验并恢复 Validation，最终正式 Cache 退出码为 0，首/中/末样本与 Assistant label 均通过回读。</a:t>
            </a:r>
          </a:p>
          <a:p/>
          <a:p>
            <a:r>
              <a:t>无约束评测中的非法 ID 不是 JSON 解析失败，而是模型生成了语法看似正确、但不存在于冻结全量映射中的四元组。评测没有删除或补位，而是保留原 Beam 排名并计为 miss，避免人为抬高召回。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GNPR 的容量选择并非简单取最大码本。1024×3 的原 epoch 20 checkpoint 出现严重塌缩：全量仅 73,183 个不同 SID，最大桶 4,757；随后从头复跑 epoch 16，虽然浅层类别纯度较高，但唯一率只有 63.18%，第三层利用率 45.31%，且跨 GPU 复现不稳定，因此最终冻结更均衡的 512×3，而不是使用 1024。</a:t>
            </a:r>
          </a:p>
          <a:p/>
          <a:p>
            <a:r>
              <a:t>SFT 训练本身完整结束：四卡 A100 完成 3 epoch 和 16,167 step，最终模型、三个 checkpoint、Tokenizer、Trainer state 和指标均已落盘。训练平台显示 failed 的直接原因是 Trainer 退出后继续执行旧包装脚本，第 87 行存在未闭合双引号，shell 以 exit code 2 结束；错误发生在模型保存和 NCCL 正常销毁之后。三个 checkpoint 经 CUDA 实际生成核验可用，无需重训，当前入口也已通过 bash -n。</a:t>
            </a:r>
          </a:p>
          <a:p/>
          <a:p>
            <a:r>
              <a:t>逐层诊断表明真正差异集中在第一层，而不是训练资源：GNPR 后两层在 gold prefix 条件下并不差，但 S1 与 Query/历史的对应关系弱，第一步错误会在自由生成中阻断正确路径。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旧 GeoPE32 输入的第一层只使用 59/1024 个码字。原因是 BGE-M3 的全局公共方向经过逐 POI 地理旋转后干扰粗层聚类；对全量向量做均值中心化和 L2 归一化，并复用 TIGER 稳定 RQ-VAE 骨架后，三种容量的三层码本都达到 100% 使用。需要注意，Centered 版本改善的是码本健康和下游可学习性，三层 SID 唯一率并没有超过旧版，因此不能写成所有结构指标全面提高。</a:t>
            </a:r>
          </a:p>
          <a:p/>
          <a:p>
            <a:r>
              <a:t>Geohash6 先消解了约 37.95% 的原碰撞 POI，剩余 690,673 条再使用条件 D。TCG Trie 包含 2,337,178 个叶子和约 642 万节点，保证每条生成路径都能落到目录 POI；100% Valid PID 是约束机制的保证，不代表模型独立学会了所有合法组合。</a:t>
            </a:r>
          </a:p>
          <a:p/>
          <a:p>
            <a:r>
              <a:t>本次四卡 A100 Trainer 同样已完成并保存三个完整 checkpoint，平台外层随后显示 failed，但日志没有 Trainer traceback，模型文件、优化器、调度器、随机状态和 Tokenizer 均完整，当前入口语法检查通过，因此无需重训。Centered 三轮正式评测本身退出码为 0，未发生 OOM 或恢复事件。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三种方法共用同一 10,000 条业务样本和 Beam=10，但不能把表中的端到端差值全部归因于 SID：GenPOI 使用 SSP+Trie，另外两种是无约束生成。Valid ID 更适合作为解码诊断项，不是相关性指标；Trie 可以把合法率提升到 100%，但不会自动保证目标 POI 排在前面。</a:t>
            </a:r>
          </a:p>
          <a:p/>
          <a:p>
            <a:r>
              <a:t>TIGER/GNPR 对非法候选不做过滤后补位，所以其 HR@K 是在原始十个 Beam 位置上计算的。若删除非法项后再补充合法候选，指标会虚高，也会破坏和当前结果的可复现性。</a:t>
            </a:r>
          </a:p>
          <a:p/>
          <a:p>
            <a:r>
              <a:t>目前只在这一批 Validation 上选择 epoch 3，尚未做完整 Validation、独立 Test 或统计显著性检验。GenPOI 相对 TIGER 的优势很小，当前更稳妥的表述是“完整方法略优”，而不是已经证明地理前缀或某个量化器单独有效。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Teacher-Forcing 的作用是定位哪一层难学：模型一次前向，后一位置始终看到真实前缀，因此不包含 Beam Search、非法 ID 和前层错误传播。Top-10 表示真实 Token 是否进入该位置的完整词表 Top-10；“所有位置 Top-10”也不等价于 Beam=10 的序列召回。</a:t>
            </a:r>
          </a:p>
          <a:p/>
          <a:p>
            <a:r>
              <a:t>GenPOI 的三层 SID 指标是在正确 GID1–GID6 已作为 gold prefix 的条件下得到的，不能直接解释成“不带地理前缀时，GenPOI SID 绝对优于 TIGER”。它说明的是：地理范围确定后，Centered Semantic SID 很容易区分；完整路径的损失主要发生在细粒度 GID4–GID6。</a:t>
            </a:r>
          </a:p>
          <a:p/>
          <a:p>
            <a:r>
              <a:t>GNPR 的 S1 Top-1 很低，而 S2/S3 在正确前缀下迅速恢复，说明问题更像根层组织与 Query 不对齐，而不是三层模型容量不足。自由生成时根层一旦选错，后层即使条件准确也无法回到目标分支。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E1 先对同一 POI 的 Train Query 做等权聚合，再与冻结内容向量按统一 α 融合。E2 的权重为 log1p(count)×IDF/DF，用发单频次增强可信 Query，同时抑制跨大量 POI 出现的泛词。E3 用 Kish 有效 Query 数给每个 POI 分配不同 α；其下降是研究假设不成立，不是实现报错，因为单一全库索引中每个 POI同时是别人的负候选，候选级变换破坏了全库相对几何。</a:t>
            </a:r>
          </a:p>
          <a:p/>
          <a:p>
            <a:r>
              <a:t>E4 只对有足够 Train 支持的类别估计公共 Query 中心，再从 POI Query 聚合中减去 β 倍类别方向；类别支持不足时中心置零。全库仍使用统一 α，避免重现 E3 的候选间尺度不一致。</a:t>
            </a:r>
          </a:p>
          <a:p/>
          <a:p>
            <a:r>
              <a:t>所有 Query 统计只使用 Train 正样本，BGE-M3 权重不更新，Validation 只比较预先列出的离散候选。该阶段优化的是离线 POI 向量，不使用目标 Validation POI 反向生成特征。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所有结果都在同一 10,000 条 Query 和 2,337,178 个 POI 上做 float32 精确内积检索，不是 ANN 近似误差。早期一次直接向 Faiss GPU 连续扩容在 98% OOM，改用 CPU 暂存又在 90% 被系统以 137 终止；最终按两批加入 GPU 索引，并在构建前做 35.83 GiB 显存门禁，计算口径仍保持精确 FlatIP，失败运行没有留下不完整指标。</a:t>
            </a:r>
          </a:p>
          <a:p/>
          <a:p>
            <a:r>
              <a:t>E4 的 β=0.85 是离散候选中的 Validation 最优。完整去除类别中心 β=1.00 时 NDCG@10 轻微回落，说明类别公共方向既会造成同类拥挤，也包含少量有用语义，因此采用部分而非完全去除。</a:t>
            </a:r>
          </a:p>
          <a:p/>
          <a:p>
            <a:r>
              <a:t>增益不只出现在 Train 已见 Query：在 1,601 条未见相同 Query 文本的样本上，E2 将 Hit@10 从 55.59% 提高到 63.21%；在 2,309 条未见相同 Query–目标 POI 对的样本上，从 44.09% 提高到 52.14%。不过这些仍是连续向量召回结果，是否转化为生成式收益还要经过 SID 和 SFT。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RQ-KMeans 使用三层顺序残差聚类，不训练神经 Encoder/Decoder。正式协议固定 500,000 条同样本、每层 20 次迭代、3 次重启、seed 42、GPU float32；各布局没有加入类别监督、平衡损失或唯一化后缀，所以这里观察的是纯量化结构。</a:t>
            </a:r>
          </a:p>
          <a:p/>
          <a:p>
            <a:r>
              <a:t>对称 1024³ 中，RQ-KMeans 改善了总体唯一率和码本利用，但最大桶反而从 306 增加到 467，说明平均碰撞改善不代表最坏热点同步改善。容量前移后最大桶明显下降，说明更大的根码本对热点展开有效。</a:t>
            </a:r>
          </a:p>
          <a:p/>
          <a:p>
            <a:r>
              <a:t>三种布局的路径乘积都约为 2^30，但基础 Token 数是各层码本大小之和而不是乘积；因此 4096×1024×256 虽然结构最好，也会扩大词表和第一步分类空间。本页尚无这些 RQ-KMeans 布局的 SFT 结果，不能仅按唯一率选最终方案。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对照固定为同样的 1024³ 容量，目的是区分“Embedding 改了什么”和“Quantizer 改了什么”。E4 与 RQ-KMeans 都会重新展开拥挤区域，因此平均唯一率收益不相加；但 E4 把 RQ-KMeans 的最大桶从 467 降到 288，说明互补性主要体现在极端长尾，而不是平均指标。</a:t>
            </a:r>
          </a:p>
          <a:p/>
          <a:p>
            <a:r>
              <a:t>D1 micro-purity 使用的是 POI 静态 category_code，不是 Query 对第一层 Token 的可预测性。E4 主动削弱类别公共 Query 方向，因此浅层静态类别纯度下降是预期现象，不能直接判定生成变差；相反，也不能只用连续 Hit@K 断言 SID 更好，最终需要同一 SFT 协议验证。</a:t>
            </a:r>
          </a:p>
          <a:p/>
          <a:p>
            <a:r>
              <a:t>基于结构和工程成本，2048×1024×512 被保留为主候选，4096×1024×256 作为结构上界；二者都要与对称布局在下游可预测性上比较。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这里的熵不是按全目录 POI 均匀计数，而是按 7,586,410 条 Train 目标出现频次加权，更接近 SFT 实际看到的标签分布。“有效 S1 分支”定义为 2^H(S1)：它比码本名义大小更能反映模型第一步实际面对多少常见分支。</a:t>
            </a:r>
          </a:p>
          <a:p/>
          <a:p>
            <a:r>
              <a:t>容量前移时，完整路径熵只从约 15.25 增加到 15.44，但 H(S1) 和有效根分支显著增加，H(S2|S1)、H(S3|S1:S2)反而下降。也就是说，总任务信息量变化不大，只是难度被从有条件的后层搬到了无前缀的第一层。</a:t>
            </a:r>
          </a:p>
          <a:p/>
          <a:p>
            <a:r>
              <a:t>下一步应先补纯容量后移 512×1024×2048，和现有前移布局形成可归因对照。更有方法价值的候选是用全量可用的 402 个 category_code 作为原子根 Token，再用 1024×2048 量化类别残差；但必须保留 learned 512 根对照，否则无法区分“容量后移”和“类别监督”各自贡献。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后续最小实验矩阵建议保持三格：现有 E4 2048×1024×512、纯 learned 512×1024×2048、Category(402)×1024×2048。先比较唯一率、碰撞桶、目标频次熵和低支持分支；结构门禁通过后才按同一 Qwen、同一训练配置和固定 10,000 条运行 SFT，不直接为每个结构投入完整训练。</a:t>
            </a:r>
          </a:p>
          <a:p/>
          <a:p>
            <a:r>
              <a:t>类别根方案中，六位 category_code 应映射成单个特殊 Token，例如 &lt;CAT_281010&gt;，不能拆成数字串；后两层优先量化类别中心化后的 E4 残差，并共享全局码本，避免为长尾类别分别训练小码本。第一层类别纯度会因构造天然达到 100%，真正应看的是 Query→类别 Top-1/Top-5 和最终 HR/NDCG。</a:t>
            </a:r>
          </a:p>
          <a:p/>
          <a:p>
            <a:r>
              <a:t>当前结论还有三项边界：所有创新参数在 Validation 上选择，最终仍需独立 Test；GenPOI 与另外两种解码空间不同；随机关系后缀所需的楼号、父子和商铺关系覆盖率尚未完成全量审计。下一阶段应优先把可预测根、细粒度残差和最小关系后缀拆开验证。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F8015-DF84-41FA-9E94-BA51DE2E4658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3B06F-833C-4282-8B21-93F195BE9DCF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21281-1D44-441C-9DDE-B4936627E1FE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997AF-337D-4308-80A8-0E4FAAFEF77A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0E11C-AF29-404B-84BD-C97916AD109A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8B016-4D35-4FFA-AAB2-911F490527D3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98FBFD-206E-4DB4-97C7-5AD8A1A0F586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EDB8-0579-4265-A8F4-6EA70868C754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23B87-9435-4C0A-8A1E-F5BBFA32C3C5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62101-079D-4F99-B83B-6106A3082DC1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6800F-0336-42AD-AB4C-E188E73DB4FB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结束页">
    <p:bg>
      <p:bgPr>
        <a:solidFill>
          <a:srgbClr val="0252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-5259" y="6586256"/>
            <a:ext cx="12192001" cy="23495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311" y="6615448"/>
            <a:ext cx="207699" cy="176566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46" y="6473952"/>
            <a:ext cx="11201983" cy="0"/>
          </a:xfrm>
          <a:prstGeom prst="line">
            <a:avLst/>
          </a:prstGeom>
          <a:noFill/>
          <a:ln w="9525">
            <a:solidFill>
              <a:srgbClr val="E6E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93145" y="6519672"/>
            <a:ext cx="2011785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7C9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MobilityBench POI, N=109385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9207" y="6519672"/>
            <a:ext cx="800042" cy="300000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rgbClr val="9AA8B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"/>
          <p:cNvSpPr/>
          <p:nvPr userDrawn="1"/>
        </p:nvSpPr>
        <p:spPr>
          <a:xfrm>
            <a:off x="0" y="0"/>
            <a:ext cx="12192000" cy="762000"/>
          </a:xfrm>
          <a:prstGeom prst="rect">
            <a:avLst/>
          </a:prstGeom>
          <a:gradFill>
            <a:gsLst>
              <a:gs pos="0">
                <a:srgbClr val="1A3A6B"/>
              </a:gs>
              <a:gs pos="100000">
                <a:srgbClr val="2E7CF6"/>
              </a:gs>
            </a:gsLst>
            <a:lin ang="0" scaled="1"/>
          </a:gradFill>
          <a:ln>
            <a:noFill/>
          </a:ln>
        </p:spPr>
      </p:sp>
      <p:sp>
        <p:nvSpPr>
          <p:cNvPr id="8" name="Rectangle 4"/>
          <p:cNvSpPr/>
          <p:nvPr userDrawn="1"/>
        </p:nvSpPr>
        <p:spPr>
          <a:xfrm>
            <a:off x="0" y="0"/>
            <a:ext cx="57150" cy="762000"/>
          </a:xfrm>
          <a:prstGeom prst="rect">
            <a:avLst/>
          </a:prstGeom>
          <a:solidFill>
            <a:srgbClr val="00C2A8"/>
          </a:solidFill>
          <a:ln>
            <a:noFill/>
          </a:ln>
        </p:spPr>
      </p:sp>
      <p:sp>
        <p:nvSpPr>
          <p:cNvPr id="9" name="Rectangle 8"/>
          <p:cNvSpPr/>
          <p:nvPr userDrawn="1"/>
        </p:nvSpPr>
        <p:spPr>
          <a:xfrm>
            <a:off x="0" y="762000"/>
            <a:ext cx="12192000" cy="38100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150" y="0"/>
            <a:ext cx="8229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614C7-14EB-4084-AC4C-AAFA56794DEF}" type="datetime1">
              <a:rPr lang="en-US" altLang="zh-CN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b="1" kern="1200" baseline="0">
          <a:solidFill>
            <a:schemeClr val="bg1"/>
          </a:solidFill>
          <a:latin typeface="Times New Roman" panose="02020603050405020304" pitchFamily="18" charset="0"/>
          <a:ea typeface="微软雅黑" panose="020B0503020204020204" pitchFamily="34" charset="-122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749039" y="2897463"/>
            <a:ext cx="4700016" cy="56015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 dirty="0" err="1">
                <a:solidFill>
                  <a:srgbClr val="111827"/>
                </a:solidFill>
                <a:latin typeface="微软雅黑"/>
              </a:rPr>
              <a:t>生成式检索</a:t>
            </a:r>
            <a:endParaRPr sz="3400" b="1" dirty="0">
              <a:solidFill>
                <a:srgbClr val="111827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9473"/>
            <a:ext cx="3291840" cy="34028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latin typeface="微软雅黑"/>
              </a:rPr>
              <a:t>TIGER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73936"/>
            <a:ext cx="329184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latin typeface="微软雅黑"/>
              </a:rPr>
              <a:t>Recommender Systems with Generative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3291840" cy="12984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POI 表征：BGE-M3
SID：RQ-VAE 1024×3
标识：S1 / S2 / S3 / C
</a:t>
            </a:r>
            <a:r>
              <a:rPr sz="1600" b="0" dirty="0" err="1">
                <a:latin typeface="微软雅黑"/>
              </a:rPr>
              <a:t>解码：无约束</a:t>
            </a:r>
            <a:r>
              <a:rPr sz="1600" b="0" dirty="0">
                <a:latin typeface="微软雅黑"/>
              </a:rPr>
              <a:t> Beam=10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9219" y="1329473"/>
            <a:ext cx="3291840" cy="34028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latin typeface="微软雅黑"/>
              </a:rPr>
              <a:t>GNPR-SID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9218" y="1773936"/>
            <a:ext cx="3502151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Generative Next POI Recommendation with Semantic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9219" y="2468880"/>
            <a:ext cx="3291840" cy="12984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POI </a:t>
            </a:r>
            <a:r>
              <a:rPr sz="1600" b="0" dirty="0" err="1">
                <a:latin typeface="微软雅黑"/>
              </a:rPr>
              <a:t>表征：文本</a:t>
            </a:r>
            <a:r>
              <a:rPr sz="1600" b="0" dirty="0">
                <a:latin typeface="微软雅黑"/>
              </a:rPr>
              <a:t> + </a:t>
            </a:r>
            <a:r>
              <a:rPr sz="1600" b="0" dirty="0" err="1">
                <a:latin typeface="微软雅黑"/>
              </a:rPr>
              <a:t>类别</a:t>
            </a:r>
            <a:r>
              <a:rPr sz="1600" b="0" dirty="0">
                <a:latin typeface="微软雅黑"/>
              </a:rPr>
              <a:t> + </a:t>
            </a:r>
            <a:r>
              <a:rPr sz="1600" b="0" dirty="0" err="1">
                <a:latin typeface="微软雅黑"/>
              </a:rPr>
              <a:t>区域</a:t>
            </a:r>
            <a:r>
              <a:rPr sz="1600" b="0" dirty="0">
                <a:latin typeface="微软雅黑"/>
              </a:rPr>
              <a:t>
</a:t>
            </a:r>
            <a:r>
              <a:rPr sz="1600" b="0" dirty="0" err="1">
                <a:latin typeface="微软雅黑"/>
              </a:rPr>
              <a:t>SID：Diversity</a:t>
            </a:r>
            <a:r>
              <a:rPr sz="1600" b="0" dirty="0">
                <a:latin typeface="微软雅黑"/>
              </a:rPr>
              <a:t> RQ-VAE 512×3
标识：S1 / S2 / S3 / [D]
</a:t>
            </a:r>
            <a:r>
              <a:rPr sz="1600" b="0" dirty="0" err="1">
                <a:latin typeface="微软雅黑"/>
              </a:rPr>
              <a:t>解码：无约束</a:t>
            </a:r>
            <a:r>
              <a:rPr sz="1600" b="0" dirty="0">
                <a:latin typeface="微软雅黑"/>
              </a:rPr>
              <a:t> Beam=10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2" y="1329473"/>
            <a:ext cx="3291840" cy="34028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latin typeface="微软雅黑"/>
              </a:rPr>
              <a:t>GenPOI</a:t>
            </a:r>
            <a:endParaRPr sz="2000" b="1" dirty="0"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119872" y="1773936"/>
            <a:ext cx="329184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Revisiting General Map Search via Generative POI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2468880"/>
            <a:ext cx="3651714" cy="12984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POI </a:t>
            </a:r>
            <a:r>
              <a:rPr sz="1600" b="0" dirty="0" err="1">
                <a:latin typeface="微软雅黑"/>
              </a:rPr>
              <a:t>表征：Centered</a:t>
            </a:r>
            <a:r>
              <a:rPr sz="1600" b="0" dirty="0">
                <a:latin typeface="微软雅黑"/>
              </a:rPr>
              <a:t> BGE + GeoPE32
SID：RQ-VAE 1024×3
标识：GID6 + SID3 + [D]
</a:t>
            </a:r>
            <a:r>
              <a:rPr sz="1600" b="0" dirty="0" err="1">
                <a:latin typeface="微软雅黑"/>
              </a:rPr>
              <a:t>解码：SSP</a:t>
            </a:r>
            <a:r>
              <a:rPr sz="1600" b="0" dirty="0">
                <a:latin typeface="微软雅黑"/>
              </a:rPr>
              <a:t> + TCG Beam=10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855174"/>
            <a:ext cx="2291886" cy="34028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latin typeface="微软雅黑"/>
              </a:rPr>
              <a:t>统一复现链路</a:t>
            </a:r>
            <a:endParaRPr sz="2000" b="1" dirty="0">
              <a:latin typeface="微软雅黑"/>
            </a:endParaRP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581588"/>
              </p:ext>
            </p:extLst>
          </p:nvPr>
        </p:nvGraphicFramePr>
        <p:xfrm>
          <a:off x="557048" y="4507991"/>
          <a:ext cx="11119945" cy="107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77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4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473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79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34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A3A6B"/>
                          </a:solidFill>
                          <a:latin typeface="微软雅黑"/>
                        </a:rPr>
                        <a:t>POI </a:t>
                      </a:r>
                      <a:r>
                        <a:rPr sz="1600" b="1" dirty="0" err="1">
                          <a:solidFill>
                            <a:srgbClr val="1A3A6B"/>
                          </a:solidFill>
                          <a:latin typeface="微软雅黑"/>
                        </a:rPr>
                        <a:t>表征</a:t>
                      </a:r>
                      <a:endParaRPr sz="1600" b="1" dirty="0">
                        <a:solidFill>
                          <a:srgbClr val="1A3A6B"/>
                        </a:solidFill>
                        <a:latin typeface="微软雅黑"/>
                      </a:endParaRP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A3A6B"/>
                          </a:solidFill>
                          <a:latin typeface="微软雅黑"/>
                        </a:rPr>
                        <a:t>SID </a:t>
                      </a:r>
                      <a:r>
                        <a:rPr sz="1600" b="1" dirty="0" err="1">
                          <a:solidFill>
                            <a:srgbClr val="1A3A6B"/>
                          </a:solidFill>
                          <a:latin typeface="微软雅黑"/>
                        </a:rPr>
                        <a:t>构建</a:t>
                      </a:r>
                      <a:endParaRPr sz="1600" b="1" dirty="0">
                        <a:solidFill>
                          <a:srgbClr val="1A3A6B"/>
                        </a:solidFill>
                        <a:latin typeface="微软雅黑"/>
                      </a:endParaRP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rgbClr val="1A3A6B"/>
                          </a:solidFill>
                          <a:latin typeface="微软雅黑"/>
                        </a:rPr>
                        <a:t>唯一标识</a:t>
                      </a:r>
                      <a:endParaRPr sz="1600" b="1" dirty="0">
                        <a:solidFill>
                          <a:srgbClr val="1A3A6B"/>
                        </a:solidFill>
                        <a:latin typeface="微软雅黑"/>
                      </a:endParaRP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rgbClr val="1A3A6B"/>
                          </a:solidFill>
                          <a:latin typeface="微软雅黑"/>
                        </a:rPr>
                        <a:t>生成模型</a:t>
                      </a:r>
                      <a:endParaRPr sz="1600" b="1" dirty="0">
                        <a:solidFill>
                          <a:srgbClr val="1A3A6B"/>
                        </a:solidFill>
                        <a:latin typeface="微软雅黑"/>
                      </a:endParaRP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rgbClr val="1A3A6B"/>
                          </a:solidFill>
                          <a:latin typeface="微软雅黑"/>
                        </a:rPr>
                        <a:t>固定评测</a:t>
                      </a:r>
                      <a:endParaRPr sz="1600" b="1" dirty="0">
                        <a:solidFill>
                          <a:srgbClr val="1A3A6B"/>
                        </a:solidFill>
                        <a:latin typeface="微软雅黑"/>
                      </a:endParaRP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37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rgbClr val="111827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北京</a:t>
                      </a:r>
                      <a:r>
                        <a:rPr lang="zh-CN" altLang="en-US" sz="1600" b="0" kern="1200" dirty="0">
                          <a:solidFill>
                            <a:srgbClr val="111827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+mn-cs"/>
                        </a:rPr>
                        <a:t>全量</a:t>
                      </a: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</a:t>
                      </a: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POI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三层残差量化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全量映射唯一 POI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Qwen3-0.6B / 历史10条 / 3 epoch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10,000 Valid / Beam=10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Title 1">
            <a:extLst>
              <a:ext uri="{FF2B5EF4-FFF2-40B4-BE49-F238E27FC236}">
                <a16:creationId xmlns:a16="http://schemas.microsoft.com/office/drawing/2014/main" id="{A89B8E87-80EC-16E1-1C73-6467FE604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0"/>
            <a:ext cx="1708588" cy="762000"/>
          </a:xfrm>
        </p:spPr>
        <p:txBody>
          <a:bodyPr anchor="ctr"/>
          <a:lstStyle/>
          <a:p>
            <a:pPr algn="l"/>
            <a:r>
              <a:rPr lang="zh-CN" altLang="en-US" sz="2800" dirty="0">
                <a:solidFill>
                  <a:srgbClr val="FFFFFF"/>
                </a:solidFill>
                <a:latin typeface="微软雅黑"/>
              </a:rPr>
              <a:t>论文</a:t>
            </a:r>
            <a:r>
              <a:rPr sz="2800" b="1" dirty="0" err="1">
                <a:solidFill>
                  <a:srgbClr val="FFFFFF"/>
                </a:solidFill>
                <a:latin typeface="微软雅黑"/>
              </a:rPr>
              <a:t>复现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3441"/>
            <a:ext cx="3273552" cy="34028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latin typeface="微软雅黑"/>
              </a:rPr>
              <a:t>北京</a:t>
            </a:r>
            <a:r>
              <a:rPr sz="2000" b="1" dirty="0">
                <a:latin typeface="微软雅黑"/>
              </a:rPr>
              <a:t> POI </a:t>
            </a:r>
            <a:r>
              <a:rPr sz="2000" b="1" dirty="0" err="1">
                <a:latin typeface="微软雅黑"/>
              </a:rPr>
              <a:t>数据</a:t>
            </a:r>
            <a:endParaRPr sz="2000" b="1" dirty="0"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3273552" cy="47548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latin typeface="微软雅黑"/>
              </a:rPr>
              <a:t>2,337,178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04288"/>
            <a:ext cx="3273552" cy="12984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latin typeface="微软雅黑"/>
              </a:rPr>
              <a:t>2026-07-15 固定分区
在线可检索，POI ID 唯一
文本：名称 / 地址 / 别名
空间：lng / lat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4321" y="1073441"/>
            <a:ext cx="3273552" cy="34028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用户</a:t>
            </a:r>
            <a:r>
              <a:rPr sz="2000" b="1" dirty="0" err="1">
                <a:latin typeface="微软雅黑"/>
              </a:rPr>
              <a:t>检索发单数据</a:t>
            </a:r>
            <a:endParaRPr sz="2000" b="1" dirty="0"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084321" y="1609344"/>
            <a:ext cx="3273552" cy="47548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latin typeface="微软雅黑"/>
              </a:rPr>
              <a:t>8,790,513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4321" y="2304288"/>
            <a:ext cx="3273552" cy="12984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Train：7,586,410（07-01—12）
Valid：597,421（07-13）
Test：606,682（07-14）
</a:t>
            </a:r>
            <a:r>
              <a:rPr sz="1600" b="0" dirty="0" err="1">
                <a:latin typeface="微软雅黑"/>
              </a:rPr>
              <a:t>标签：最终发单</a:t>
            </a:r>
            <a:r>
              <a:rPr sz="1600" b="0" dirty="0">
                <a:latin typeface="微软雅黑"/>
              </a:rPr>
              <a:t> POI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9872" y="1073441"/>
            <a:ext cx="3273552" cy="34028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latin typeface="微软雅黑"/>
              </a:rPr>
              <a:t>用户历史数据</a:t>
            </a:r>
            <a:endParaRPr sz="2000" b="1" dirty="0"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119872" y="1609344"/>
            <a:ext cx="3273552" cy="47548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 err="1">
                <a:latin typeface="微软雅黑"/>
              </a:rPr>
              <a:t>最近</a:t>
            </a:r>
            <a:r>
              <a:rPr sz="2800" b="1" dirty="0">
                <a:latin typeface="微软雅黑"/>
              </a:rPr>
              <a:t> 10 </a:t>
            </a:r>
            <a:r>
              <a:rPr sz="2800" b="1" dirty="0" err="1">
                <a:latin typeface="微软雅黑"/>
              </a:rPr>
              <a:t>条</a:t>
            </a:r>
            <a:endParaRPr sz="2800" b="1" dirty="0"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119872" y="2304288"/>
            <a:ext cx="3273552" cy="12984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latin typeface="微软雅黑"/>
              </a:rPr>
              <a:t>历史窗口：04-01—06-30
覆盖率：72.02%
平均历史长度：4.92
空历史样本保留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E5E35D-D134-E42B-ABD0-5813EAE4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0"/>
            <a:ext cx="1708588" cy="762000"/>
          </a:xfrm>
        </p:spPr>
        <p:txBody>
          <a:bodyPr anchor="ctr">
            <a:normAutofit/>
          </a:bodyPr>
          <a:lstStyle/>
          <a:p>
            <a:pPr algn="l"/>
            <a:r>
              <a:rPr lang="zh-CN" altLang="en-US" sz="2800" dirty="0">
                <a:solidFill>
                  <a:srgbClr val="FFFFFF"/>
                </a:solidFill>
                <a:latin typeface="微软雅黑"/>
              </a:rPr>
              <a:t>数据集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4A4C505D-E632-0B4C-8F76-7B33B9A23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291" y="3458409"/>
            <a:ext cx="2774730" cy="32258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FE5CD34A-1404-BF91-77A9-11477CE58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3429000"/>
            <a:ext cx="3273552" cy="319777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F12A7298-944D-65DA-06DE-276F26B13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69" y="3602736"/>
            <a:ext cx="3122422" cy="27933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" y="0"/>
            <a:ext cx="5061388" cy="762000"/>
          </a:xfrm>
        </p:spPr>
        <p:txBody>
          <a:bodyPr anchor="ctr"/>
          <a:lstStyle/>
          <a:p>
            <a:pPr algn="l"/>
            <a:r>
              <a:rPr sz="2800" b="1" dirty="0" err="1">
                <a:solidFill>
                  <a:srgbClr val="FFFFFF"/>
                </a:solidFill>
                <a:latin typeface="微软雅黑"/>
              </a:rPr>
              <a:t>地图</a:t>
            </a:r>
            <a:r>
              <a:rPr lang="zh-CN" altLang="en-US" sz="2800" b="1" dirty="0">
                <a:solidFill>
                  <a:srgbClr val="FFFFFF"/>
                </a:solidFill>
                <a:latin typeface="微软雅黑"/>
              </a:rPr>
              <a:t>检索 </a:t>
            </a:r>
            <a:r>
              <a:rPr sz="2800" b="1" dirty="0">
                <a:solidFill>
                  <a:srgbClr val="FFFFFF"/>
                </a:solidFill>
                <a:latin typeface="微软雅黑"/>
              </a:rPr>
              <a:t>POI</a:t>
            </a:r>
            <a:r>
              <a:rPr lang="zh-CN" altLang="en-US" sz="2800" b="1" dirty="0">
                <a:solidFill>
                  <a:srgbClr val="FFFFFF"/>
                </a:solidFill>
                <a:latin typeface="微软雅黑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微软雅黑"/>
              </a:rPr>
              <a:t>复现适配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940107"/>
              </p:ext>
            </p:extLst>
          </p:nvPr>
        </p:nvGraphicFramePr>
        <p:xfrm>
          <a:off x="325821" y="956441"/>
          <a:ext cx="11314491" cy="528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17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800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29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环节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TIGER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GNPR-SID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GenPOI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微软雅黑"/>
                        </a:rPr>
                        <a:t>POI </a:t>
                      </a: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</a:rPr>
                        <a:t>输入</a:t>
                      </a:r>
                      <a:endParaRPr sz="1600" b="1" dirty="0">
                        <a:solidFill>
                          <a:srgbClr val="111827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BGE-M3 </a:t>
                      </a: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</a:rPr>
                        <a:t>文本向量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BGE-M3 + 类别 + PlusCode6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BGE-M3 </a:t>
                      </a: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</a:rPr>
                        <a:t>中心化</a:t>
                      </a: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 + GeoPE32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</a:rPr>
                        <a:t>量化器</a:t>
                      </a:r>
                      <a:endParaRPr sz="1600" b="1" dirty="0">
                        <a:solidFill>
                          <a:srgbClr val="111827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RQ-VAE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Diversity Loss RQ-VAE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RQ-VAE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1" dirty="0">
                          <a:solidFill>
                            <a:srgbClr val="111827"/>
                          </a:solidFill>
                          <a:latin typeface="微软雅黑"/>
                        </a:rPr>
                        <a:t>SID</a:t>
                      </a:r>
                      <a:r>
                        <a:rPr lang="zh-CN" altLang="en-US" sz="1600" b="1" dirty="0">
                          <a:solidFill>
                            <a:srgbClr val="111827"/>
                          </a:solidFill>
                          <a:latin typeface="微软雅黑"/>
                        </a:rPr>
                        <a:t> </a:t>
                      </a: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</a:rPr>
                        <a:t>标识</a:t>
                      </a:r>
                      <a:endParaRPr sz="1600" b="1" dirty="0">
                        <a:solidFill>
                          <a:srgbClr val="111827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S1–S3 + 固定 C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S1–S3 + </a:t>
                      </a: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</a:rPr>
                        <a:t>条件</a:t>
                      </a: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 D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GID1–6 + S1–S3 + 条件 D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微软雅黑"/>
                        </a:rPr>
                        <a:t>SID </a:t>
                      </a: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</a:rPr>
                        <a:t>唯一率</a:t>
                      </a:r>
                      <a:endParaRPr sz="1600" b="1" dirty="0">
                        <a:solidFill>
                          <a:srgbClr val="111827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71.6766%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77.7969%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65.7629%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</a:rPr>
                        <a:t>SFT 输入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</a:rPr>
                        <a:t>当前</a:t>
                      </a: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 Query/GID + 最近10条历史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当前 </a:t>
                      </a:r>
                      <a:r>
                        <a:rPr lang="en" altLang="zh-CN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Query/GID + 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最近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条历史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当前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Query/GID + 最近10条历史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</a:rPr>
                        <a:t>解码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</a:rPr>
                        <a:t>无约束 Beam=10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无约束 Beam=10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SSP + TCG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Trie，Beam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=10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08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</a:rPr>
                        <a:t>训练资源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</a:rPr>
                        <a:t>4× RTX PRO 6000D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4× A100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4× A100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96112"/>
            <a:ext cx="4389120" cy="34747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dirty="0">
                <a:solidFill>
                  <a:srgbClr val="111827"/>
                </a:solidFill>
                <a:latin typeface="微软雅黑"/>
              </a:rPr>
              <a:t>SID</a:t>
            </a:r>
            <a:r>
              <a:rPr lang="zh-CN" altLang="en-US" sz="2000" b="1" dirty="0">
                <a:solidFill>
                  <a:srgbClr val="111827"/>
                </a:solidFill>
                <a:latin typeface="微软雅黑"/>
              </a:rPr>
              <a:t> </a:t>
            </a:r>
            <a:r>
              <a:rPr lang="zh-CN" altLang="en-US" sz="2000" b="1" dirty="0">
                <a:solidFill>
                  <a:srgbClr val="11182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</a:t>
            </a:r>
            <a:endParaRPr sz="2000" b="1" dirty="0">
              <a:solidFill>
                <a:srgbClr val="11182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3146374"/>
            <a:ext cx="6858000" cy="34747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11827"/>
                </a:solidFill>
                <a:latin typeface="微软雅黑"/>
              </a:rPr>
              <a:t>SFT </a:t>
            </a:r>
            <a:r>
              <a:rPr sz="2000" b="1" dirty="0" err="1">
                <a:solidFill>
                  <a:srgbClr val="111827"/>
                </a:solidFill>
                <a:latin typeface="微软雅黑"/>
              </a:rPr>
              <a:t>结果</a:t>
            </a:r>
            <a:endParaRPr sz="2000" b="1" dirty="0">
              <a:solidFill>
                <a:srgbClr val="111827"/>
              </a:solidFill>
              <a:latin typeface="微软雅黑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403871"/>
              </p:ext>
            </p:extLst>
          </p:nvPr>
        </p:nvGraphicFramePr>
        <p:xfrm>
          <a:off x="566928" y="3621862"/>
          <a:ext cx="10863072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Epoch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Valid Loss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HR@1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HR@3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HR@5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HR@10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NDCG@10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Valid ID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0.3848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44.78%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68.31%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74.98%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80.22%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63.2821%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69.350%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0.3058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50.14%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74.77%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80.98%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86.11%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69.0533%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74.428%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0.2965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51.87%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76.00%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82.26%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87.16%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70.4190%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74.105%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58368" y="5632704"/>
            <a:ext cx="10863072" cy="512064"/>
          </a:xfrm>
          <a:prstGeom prst="roundRect">
            <a:avLst/>
          </a:prstGeom>
          <a:solidFill>
            <a:srgbClr val="EFF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5687568"/>
            <a:ext cx="10479024" cy="38404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latin typeface="微软雅黑"/>
              </a:rPr>
              <a:t>三层</a:t>
            </a:r>
            <a:r>
              <a:rPr b="1" dirty="0">
                <a:latin typeface="微软雅黑"/>
              </a:rPr>
              <a:t> SID </a:t>
            </a:r>
            <a:r>
              <a:rPr b="1" dirty="0" err="1">
                <a:latin typeface="微软雅黑"/>
              </a:rPr>
              <a:t>学习相对均衡；无约束生成中约</a:t>
            </a:r>
            <a:r>
              <a:rPr b="1" dirty="0">
                <a:latin typeface="微软雅黑"/>
              </a:rPr>
              <a:t> 25.90% </a:t>
            </a:r>
            <a:r>
              <a:rPr b="1" dirty="0" err="1">
                <a:latin typeface="微软雅黑"/>
              </a:rPr>
              <a:t>的候选不在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合法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SID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b="1" dirty="0">
                <a:latin typeface="微软雅黑"/>
              </a:rPr>
              <a:t>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CA9B45-43F8-25A9-953B-AD7A77C9F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0"/>
            <a:ext cx="2801664" cy="762000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2800" dirty="0">
                <a:solidFill>
                  <a:srgbClr val="FFFFFF"/>
                </a:solidFill>
                <a:latin typeface="微软雅黑"/>
              </a:rPr>
              <a:t>TIGER</a:t>
            </a:r>
            <a:r>
              <a:rPr lang="zh-CN" altLang="en-US" sz="2800" dirty="0">
                <a:solidFill>
                  <a:srgbClr val="FFFFFF"/>
                </a:solidFill>
                <a:latin typeface="微软雅黑"/>
              </a:rPr>
              <a:t> 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E0E91ADD-9AD9-7239-BDFD-2D7108CB8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3585663"/>
              </p:ext>
            </p:extLst>
          </p:nvPr>
        </p:nvGraphicFramePr>
        <p:xfrm>
          <a:off x="566928" y="1283724"/>
          <a:ext cx="11297410" cy="1645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335">
                  <a:extLst>
                    <a:ext uri="{9D8B030D-6E8A-4147-A177-3AD203B41FA5}">
                      <a16:colId xmlns:a16="http://schemas.microsoft.com/office/drawing/2014/main" val="361122583"/>
                    </a:ext>
                  </a:extLst>
                </a:gridCol>
                <a:gridCol w="736598">
                  <a:extLst>
                    <a:ext uri="{9D8B030D-6E8A-4147-A177-3AD203B41FA5}">
                      <a16:colId xmlns:a16="http://schemas.microsoft.com/office/drawing/2014/main" val="3180244028"/>
                    </a:ext>
                  </a:extLst>
                </a:gridCol>
                <a:gridCol w="1648496">
                  <a:extLst>
                    <a:ext uri="{9D8B030D-6E8A-4147-A177-3AD203B41FA5}">
                      <a16:colId xmlns:a16="http://schemas.microsoft.com/office/drawing/2014/main" val="2028771202"/>
                    </a:ext>
                  </a:extLst>
                </a:gridCol>
                <a:gridCol w="1380709">
                  <a:extLst>
                    <a:ext uri="{9D8B030D-6E8A-4147-A177-3AD203B41FA5}">
                      <a16:colId xmlns:a16="http://schemas.microsoft.com/office/drawing/2014/main" val="227297792"/>
                    </a:ext>
                  </a:extLst>
                </a:gridCol>
                <a:gridCol w="1560119">
                  <a:extLst>
                    <a:ext uri="{9D8B030D-6E8A-4147-A177-3AD203B41FA5}">
                      <a16:colId xmlns:a16="http://schemas.microsoft.com/office/drawing/2014/main" val="1387340014"/>
                    </a:ext>
                  </a:extLst>
                </a:gridCol>
                <a:gridCol w="1398727">
                  <a:extLst>
                    <a:ext uri="{9D8B030D-6E8A-4147-A177-3AD203B41FA5}">
                      <a16:colId xmlns:a16="http://schemas.microsoft.com/office/drawing/2014/main" val="3252763199"/>
                    </a:ext>
                  </a:extLst>
                </a:gridCol>
                <a:gridCol w="3335426">
                  <a:extLst>
                    <a:ext uri="{9D8B030D-6E8A-4147-A177-3AD203B41FA5}">
                      <a16:colId xmlns:a16="http://schemas.microsoft.com/office/drawing/2014/main" val="3420284929"/>
                    </a:ext>
                  </a:extLst>
                </a:gridCol>
              </a:tblGrid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码本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Epoch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重构余弦</a:t>
                      </a: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相似度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Distinct SID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Colliding POI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P99 / Max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Prefix1 / 2 / 3 Micro Purity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90648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256×3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48.0925%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68.1294%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15 / 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63.20% / 69.00% / 88.69%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970169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512×3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87.41%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61.7156%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52.7641%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 / 389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65.77% / 72.29% / 93.35%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544237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1024×3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88.52%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71.6766%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40.7894%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 / 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69.28% / 77.27% / 96.28%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4725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14845"/>
            <a:ext cx="6858000" cy="34747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11827"/>
                </a:solidFill>
                <a:latin typeface="微软雅黑"/>
              </a:rPr>
              <a:t>SFT </a:t>
            </a:r>
            <a:r>
              <a:rPr sz="2000" b="1" dirty="0" err="1">
                <a:solidFill>
                  <a:srgbClr val="111827"/>
                </a:solidFill>
                <a:latin typeface="微软雅黑"/>
              </a:rPr>
              <a:t>结果</a:t>
            </a:r>
            <a:endParaRPr sz="2000" b="1" dirty="0">
              <a:solidFill>
                <a:srgbClr val="111827"/>
              </a:solidFill>
              <a:latin typeface="微软雅黑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2880829"/>
              </p:ext>
            </p:extLst>
          </p:nvPr>
        </p:nvGraphicFramePr>
        <p:xfrm>
          <a:off x="566928" y="3590333"/>
          <a:ext cx="10863072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Epoch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Valid Loss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HR@1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HR@3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HR@5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HR@10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NDCG@10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Valid ID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0.5472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40.73%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63.42%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68.88%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73.42%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57.9210%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74.799%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0.4210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47.71%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70.90%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77.30%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81.52%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65.5149%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79.342%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0.4065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49.66%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72.61%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78.62%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83.07%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67.2390%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78.808%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58368" y="5632704"/>
            <a:ext cx="10863072" cy="512064"/>
          </a:xfrm>
          <a:prstGeom prst="roundRect">
            <a:avLst/>
          </a:prstGeom>
          <a:solidFill>
            <a:srgbClr val="EFF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5687568"/>
            <a:ext cx="10479024" cy="38404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1" dirty="0">
                <a:latin typeface="微软雅黑"/>
              </a:rPr>
              <a:t>SID </a:t>
            </a:r>
            <a:r>
              <a:rPr b="1" dirty="0" err="1">
                <a:latin typeface="微软雅黑"/>
              </a:rPr>
              <a:t>唯一率高于</a:t>
            </a:r>
            <a:r>
              <a:rPr b="1" dirty="0">
                <a:latin typeface="微软雅黑"/>
              </a:rPr>
              <a:t> </a:t>
            </a:r>
            <a:r>
              <a:rPr b="1" dirty="0" err="1">
                <a:latin typeface="微软雅黑"/>
              </a:rPr>
              <a:t>TIGER，但召回更低；逐层诊断将主因定位到</a:t>
            </a:r>
            <a:r>
              <a:rPr b="1" dirty="0">
                <a:latin typeface="微软雅黑"/>
              </a:rPr>
              <a:t> SID1 Query </a:t>
            </a:r>
            <a:r>
              <a:rPr b="1" dirty="0" err="1">
                <a:latin typeface="微软雅黑"/>
              </a:rPr>
              <a:t>可预测性</a:t>
            </a:r>
            <a:r>
              <a:rPr b="1" dirty="0">
                <a:latin typeface="微软雅黑"/>
              </a:rPr>
              <a:t>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2C915F-3AF3-7894-0520-1F1B6B5FC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" y="0"/>
            <a:ext cx="2181553" cy="762000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2800" b="1" dirty="0">
                <a:solidFill>
                  <a:srgbClr val="FFFFFF"/>
                </a:solidFill>
                <a:latin typeface="微软雅黑"/>
              </a:rPr>
              <a:t>GNPR-SID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6" name="TextBox 3">
            <a:extLst>
              <a:ext uri="{FF2B5EF4-FFF2-40B4-BE49-F238E27FC236}">
                <a16:creationId xmlns:a16="http://schemas.microsoft.com/office/drawing/2014/main" id="{A24ABC41-1C55-0FEA-CFF9-63F1B3CFB0A6}"/>
              </a:ext>
            </a:extLst>
          </p:cNvPr>
          <p:cNvSpPr txBox="1"/>
          <p:nvPr/>
        </p:nvSpPr>
        <p:spPr>
          <a:xfrm>
            <a:off x="566928" y="896112"/>
            <a:ext cx="4389120" cy="34747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dirty="0">
                <a:solidFill>
                  <a:srgbClr val="111827"/>
                </a:solidFill>
                <a:latin typeface="微软雅黑"/>
              </a:rPr>
              <a:t>SID</a:t>
            </a:r>
            <a:r>
              <a:rPr lang="zh-CN" altLang="en-US" sz="2000" b="1" dirty="0">
                <a:solidFill>
                  <a:srgbClr val="111827"/>
                </a:solidFill>
                <a:latin typeface="微软雅黑"/>
              </a:rPr>
              <a:t> </a:t>
            </a:r>
            <a:r>
              <a:rPr lang="zh-CN" altLang="en-US" sz="2000" b="1" dirty="0">
                <a:solidFill>
                  <a:srgbClr val="11182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</a:t>
            </a:r>
            <a:endParaRPr sz="2000" b="1" dirty="0">
              <a:solidFill>
                <a:srgbClr val="11182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323C3606-3043-1077-6DA1-46B4703D3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480602"/>
              </p:ext>
            </p:extLst>
          </p:nvPr>
        </p:nvGraphicFramePr>
        <p:xfrm>
          <a:off x="566928" y="1283724"/>
          <a:ext cx="11297410" cy="1645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335">
                  <a:extLst>
                    <a:ext uri="{9D8B030D-6E8A-4147-A177-3AD203B41FA5}">
                      <a16:colId xmlns:a16="http://schemas.microsoft.com/office/drawing/2014/main" val="361122583"/>
                    </a:ext>
                  </a:extLst>
                </a:gridCol>
                <a:gridCol w="736598">
                  <a:extLst>
                    <a:ext uri="{9D8B030D-6E8A-4147-A177-3AD203B41FA5}">
                      <a16:colId xmlns:a16="http://schemas.microsoft.com/office/drawing/2014/main" val="3180244028"/>
                    </a:ext>
                  </a:extLst>
                </a:gridCol>
                <a:gridCol w="1648496">
                  <a:extLst>
                    <a:ext uri="{9D8B030D-6E8A-4147-A177-3AD203B41FA5}">
                      <a16:colId xmlns:a16="http://schemas.microsoft.com/office/drawing/2014/main" val="2028771202"/>
                    </a:ext>
                  </a:extLst>
                </a:gridCol>
                <a:gridCol w="1380709">
                  <a:extLst>
                    <a:ext uri="{9D8B030D-6E8A-4147-A177-3AD203B41FA5}">
                      <a16:colId xmlns:a16="http://schemas.microsoft.com/office/drawing/2014/main" val="227297792"/>
                    </a:ext>
                  </a:extLst>
                </a:gridCol>
                <a:gridCol w="1560119">
                  <a:extLst>
                    <a:ext uri="{9D8B030D-6E8A-4147-A177-3AD203B41FA5}">
                      <a16:colId xmlns:a16="http://schemas.microsoft.com/office/drawing/2014/main" val="1387340014"/>
                    </a:ext>
                  </a:extLst>
                </a:gridCol>
                <a:gridCol w="1398727">
                  <a:extLst>
                    <a:ext uri="{9D8B030D-6E8A-4147-A177-3AD203B41FA5}">
                      <a16:colId xmlns:a16="http://schemas.microsoft.com/office/drawing/2014/main" val="3252763199"/>
                    </a:ext>
                  </a:extLst>
                </a:gridCol>
                <a:gridCol w="3335426">
                  <a:extLst>
                    <a:ext uri="{9D8B030D-6E8A-4147-A177-3AD203B41FA5}">
                      <a16:colId xmlns:a16="http://schemas.microsoft.com/office/drawing/2014/main" val="3420284929"/>
                    </a:ext>
                  </a:extLst>
                </a:gridCol>
              </a:tblGrid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码本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Epoch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重构余弦</a:t>
                      </a: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相似度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Distinct SID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Colliding POI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P99 / Max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Prefix1 / 2 / 3 Micro Purity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90648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256×3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76.44%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42.64%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78.15%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12 / 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35.34% / 41.39% / 75.27%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970169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512×3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79.58%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77.80%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35.52%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 / 223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44.63% / 62.02% / 96.69%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544237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1024×3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80.19%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63.18%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9 / 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71.45% / 85.17% / 97.19%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4725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14844"/>
            <a:ext cx="6858000" cy="34747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11827"/>
                </a:solidFill>
                <a:latin typeface="微软雅黑"/>
              </a:rPr>
              <a:t>SFT </a:t>
            </a:r>
            <a:r>
              <a:rPr sz="2000" b="1" dirty="0" err="1">
                <a:solidFill>
                  <a:srgbClr val="111827"/>
                </a:solidFill>
                <a:latin typeface="微软雅黑"/>
              </a:rPr>
              <a:t>结果</a:t>
            </a:r>
            <a:endParaRPr sz="2000" b="1" dirty="0">
              <a:solidFill>
                <a:srgbClr val="111827"/>
              </a:solidFill>
              <a:latin typeface="微软雅黑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788993"/>
              </p:ext>
            </p:extLst>
          </p:nvPr>
        </p:nvGraphicFramePr>
        <p:xfrm>
          <a:off x="566928" y="3590332"/>
          <a:ext cx="10863072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Epoch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Valid Loss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HR@1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HR@3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HR@5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HR@10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NDCG@10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Valid PID</a:t>
                      </a:r>
                    </a:p>
                  </a:txBody>
                  <a:tcPr marL="36576" marR="36576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0.2987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43.56%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67.84%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74.89%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80.49%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62.6556%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100%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0.2257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50.04%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74.54%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81.12%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86.89%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69.2006%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100%</a:t>
                      </a:r>
                    </a:p>
                  </a:txBody>
                  <a:tcPr marL="36576" marR="36576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0.2171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51.98%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76.31%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82.77%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87.83%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70.7430%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100%</a:t>
                      </a:r>
                    </a:p>
                  </a:txBody>
                  <a:tcPr marL="36576" marR="36576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58368" y="5632704"/>
            <a:ext cx="10863072" cy="512064"/>
          </a:xfrm>
          <a:prstGeom prst="roundRect">
            <a:avLst/>
          </a:prstGeom>
          <a:solidFill>
            <a:srgbClr val="EFF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5687568"/>
            <a:ext cx="10479024" cy="38404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latin typeface="微软雅黑"/>
              </a:rPr>
              <a:t>GenPOI</a:t>
            </a:r>
            <a:r>
              <a:rPr b="1" dirty="0">
                <a:latin typeface="微软雅黑"/>
              </a:rPr>
              <a:t> 取得当前最佳结果；100% Valid PID </a:t>
            </a:r>
            <a:r>
              <a:rPr b="1" dirty="0" err="1">
                <a:latin typeface="微软雅黑"/>
              </a:rPr>
              <a:t>来自</a:t>
            </a:r>
            <a:r>
              <a:rPr b="1" dirty="0">
                <a:latin typeface="微软雅黑"/>
              </a:rPr>
              <a:t> TCG </a:t>
            </a:r>
            <a:r>
              <a:rPr b="1" dirty="0" err="1">
                <a:latin typeface="微软雅黑"/>
              </a:rPr>
              <a:t>合法路径约束</a:t>
            </a:r>
            <a:r>
              <a:rPr b="1" dirty="0">
                <a:latin typeface="微软雅黑"/>
              </a:rPr>
              <a:t>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FF2B07-AE1F-A44E-DF80-27B243E73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" y="0"/>
            <a:ext cx="1855733" cy="762000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2800" b="1" dirty="0" err="1">
                <a:solidFill>
                  <a:srgbClr val="FFFFFF"/>
                </a:solidFill>
                <a:latin typeface="微软雅黑"/>
              </a:rPr>
              <a:t>GenPOI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5" name="TextBox 3">
            <a:extLst>
              <a:ext uri="{FF2B5EF4-FFF2-40B4-BE49-F238E27FC236}">
                <a16:creationId xmlns:a16="http://schemas.microsoft.com/office/drawing/2014/main" id="{0CE0ABA6-E7FA-673F-90C2-F331AC4FF93C}"/>
              </a:ext>
            </a:extLst>
          </p:cNvPr>
          <p:cNvSpPr txBox="1"/>
          <p:nvPr/>
        </p:nvSpPr>
        <p:spPr>
          <a:xfrm>
            <a:off x="566928" y="896112"/>
            <a:ext cx="4389120" cy="34747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dirty="0">
                <a:solidFill>
                  <a:srgbClr val="111827"/>
                </a:solidFill>
                <a:latin typeface="微软雅黑"/>
              </a:rPr>
              <a:t>SID</a:t>
            </a:r>
            <a:r>
              <a:rPr lang="zh-CN" altLang="en-US" sz="2000" b="1" dirty="0">
                <a:solidFill>
                  <a:srgbClr val="111827"/>
                </a:solidFill>
                <a:latin typeface="微软雅黑"/>
              </a:rPr>
              <a:t> </a:t>
            </a:r>
            <a:r>
              <a:rPr lang="zh-CN" altLang="en-US" sz="2000" b="1" dirty="0">
                <a:solidFill>
                  <a:srgbClr val="11182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</a:t>
            </a:r>
            <a:endParaRPr sz="2000" b="1" dirty="0">
              <a:solidFill>
                <a:srgbClr val="11182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5D40CD07-603F-6AA2-7E12-713A473169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630177"/>
              </p:ext>
            </p:extLst>
          </p:nvPr>
        </p:nvGraphicFramePr>
        <p:xfrm>
          <a:off x="566928" y="1283724"/>
          <a:ext cx="11297410" cy="1645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335">
                  <a:extLst>
                    <a:ext uri="{9D8B030D-6E8A-4147-A177-3AD203B41FA5}">
                      <a16:colId xmlns:a16="http://schemas.microsoft.com/office/drawing/2014/main" val="361122583"/>
                    </a:ext>
                  </a:extLst>
                </a:gridCol>
                <a:gridCol w="736598">
                  <a:extLst>
                    <a:ext uri="{9D8B030D-6E8A-4147-A177-3AD203B41FA5}">
                      <a16:colId xmlns:a16="http://schemas.microsoft.com/office/drawing/2014/main" val="3180244028"/>
                    </a:ext>
                  </a:extLst>
                </a:gridCol>
                <a:gridCol w="1648496">
                  <a:extLst>
                    <a:ext uri="{9D8B030D-6E8A-4147-A177-3AD203B41FA5}">
                      <a16:colId xmlns:a16="http://schemas.microsoft.com/office/drawing/2014/main" val="2028771202"/>
                    </a:ext>
                  </a:extLst>
                </a:gridCol>
                <a:gridCol w="1380709">
                  <a:extLst>
                    <a:ext uri="{9D8B030D-6E8A-4147-A177-3AD203B41FA5}">
                      <a16:colId xmlns:a16="http://schemas.microsoft.com/office/drawing/2014/main" val="227297792"/>
                    </a:ext>
                  </a:extLst>
                </a:gridCol>
                <a:gridCol w="1560119">
                  <a:extLst>
                    <a:ext uri="{9D8B030D-6E8A-4147-A177-3AD203B41FA5}">
                      <a16:colId xmlns:a16="http://schemas.microsoft.com/office/drawing/2014/main" val="1387340014"/>
                    </a:ext>
                  </a:extLst>
                </a:gridCol>
                <a:gridCol w="1398727">
                  <a:extLst>
                    <a:ext uri="{9D8B030D-6E8A-4147-A177-3AD203B41FA5}">
                      <a16:colId xmlns:a16="http://schemas.microsoft.com/office/drawing/2014/main" val="3252763199"/>
                    </a:ext>
                  </a:extLst>
                </a:gridCol>
                <a:gridCol w="3335426">
                  <a:extLst>
                    <a:ext uri="{9D8B030D-6E8A-4147-A177-3AD203B41FA5}">
                      <a16:colId xmlns:a16="http://schemas.microsoft.com/office/drawing/2014/main" val="3420284929"/>
                    </a:ext>
                  </a:extLst>
                </a:gridCol>
              </a:tblGrid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码本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Epoch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重构余弦</a:t>
                      </a: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相似度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Distinct SID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Colliding POI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P99 / Max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Prefix1 / 2 / 3 Micro Purity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90648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256×3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56.98%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37.6343%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77.2117%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23 / 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55.06% / 65.01% / 82.92%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970169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512×3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60.44%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54.2313%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60.8117%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12 / 585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59.34% / 68.77% / 89.67%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544237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1024×3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63.56%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65.7629%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47.6248%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 / 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62.39% / 73.21% / 93.70%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4725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199015"/>
              </p:ext>
            </p:extLst>
          </p:nvPr>
        </p:nvGraphicFramePr>
        <p:xfrm>
          <a:off x="409903" y="1082566"/>
          <a:ext cx="11382703" cy="26276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12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61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25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3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0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666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40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75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564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6563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方法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HR@1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HR@3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HR@5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HR@10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NDCG@1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NDCG@3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NDCG@5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NDCG@10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Valid ID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16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TIGER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51.87%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76.00%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82.26%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87.16%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51.87%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66.2040%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68.7975%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70.4190%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74.105%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16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GNPR-SID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49.66%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72.61%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78.62%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83.07%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49.66%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63.2718%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65.7607%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67.2390%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78.808%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563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GenPOI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51.98%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76.31%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82.77%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87.83%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51.98%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66.4127%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69.0840%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70.7430%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100%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13632"/>
            <a:ext cx="43891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827"/>
                </a:solidFill>
                <a:latin typeface="微软雅黑"/>
              </a:rPr>
              <a:t>结果分析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70832"/>
            <a:ext cx="10745356" cy="1977416"/>
          </a:xfrm>
          <a:prstGeom prst="rect">
            <a:avLst/>
          </a:prstGeom>
          <a:noFill/>
        </p:spPr>
        <p:txBody>
          <a:bodyPr wrap="square" lIns="36576" tIns="27432" rIns="36576" bIns="27432" anchor="t">
            <a:no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GenPOI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取得当前最佳完整方法结果，但相对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TIGER 的优势较小：HR@1 +0.11pp、HR@10 +0.67pp、NDCG@10 +0.324pp。
GNPR-SID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相对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TIGER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的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HR@1 / HR@10 / NDCG@10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分别低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2.21 / 4.09 / 3.180pp，尽管 Valid ID Rate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高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4.703pp。
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GenPOI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的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100% Valid PID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来自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TCG Trie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约束；TIGER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/GNPR 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按无约束生成，非法</a:t>
            </a:r>
            <a:r>
              <a:rPr lang="en-US" altLang="zh-CN"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SID</a:t>
            </a:r>
            <a:r>
              <a:rPr sz="16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保留排名并计为</a:t>
            </a:r>
            <a:r>
              <a:rPr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miss。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54A94-21D4-EEF2-16DD-B62503A73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0"/>
            <a:ext cx="1708588" cy="762000"/>
          </a:xfrm>
        </p:spPr>
        <p:txBody>
          <a:bodyPr anchor="ctr">
            <a:normAutofit/>
          </a:bodyPr>
          <a:lstStyle/>
          <a:p>
            <a:pPr algn="l"/>
            <a:r>
              <a:rPr lang="zh-CN" altLang="en-US" sz="2800" dirty="0">
                <a:solidFill>
                  <a:srgbClr val="FFFFFF"/>
                </a:solidFill>
                <a:latin typeface="微软雅黑"/>
              </a:rPr>
              <a:t>复现结果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3045"/>
            <a:ext cx="10698480" cy="301621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微软雅黑"/>
              </a:rPr>
              <a:t>Gold-prefix </a:t>
            </a:r>
            <a:r>
              <a:rPr sz="1600" b="1" dirty="0" err="1">
                <a:latin typeface="微软雅黑"/>
              </a:rPr>
              <a:t>Teacher-Forcing：后一层始终看到正确前缀，用于定位层级学习难度</a:t>
            </a:r>
            <a:r>
              <a:rPr sz="1600" b="1" dirty="0">
                <a:latin typeface="微软雅黑"/>
              </a:rPr>
              <a:t>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542091"/>
              </p:ext>
            </p:extLst>
          </p:nvPr>
        </p:nvGraphicFramePr>
        <p:xfrm>
          <a:off x="566928" y="1499616"/>
          <a:ext cx="1085392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方法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SID1 Top-1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SID2 Top-1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SID3 Top-1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前2层累计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前3层累计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完整 ID Top-1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TIGER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75.06%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81.04%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85.70%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61.75%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53.98%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50.76%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GNPR-SID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53.69%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83.43%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92.02%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49.31%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48.50%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48.40%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GenPOI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83.97%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88.67%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89.27%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76.03%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69.90%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50.00%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767328"/>
            <a:ext cx="5303520" cy="3291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11827"/>
                </a:solidFill>
                <a:latin typeface="微软雅黑"/>
              </a:rPr>
              <a:t>GenPOI</a:t>
            </a:r>
            <a:r>
              <a:rPr sz="1800" b="1" dirty="0">
                <a:solidFill>
                  <a:srgbClr val="111827"/>
                </a:solidFill>
                <a:latin typeface="微软雅黑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微软雅黑"/>
              </a:rPr>
              <a:t>的</a:t>
            </a:r>
            <a:r>
              <a:rPr sz="1800" b="1" dirty="0">
                <a:solidFill>
                  <a:srgbClr val="111827"/>
                </a:solidFill>
                <a:latin typeface="微软雅黑"/>
              </a:rPr>
              <a:t> GID </a:t>
            </a:r>
            <a:r>
              <a:rPr sz="1800" b="1" dirty="0" err="1">
                <a:solidFill>
                  <a:srgbClr val="111827"/>
                </a:solidFill>
                <a:latin typeface="微软雅黑"/>
              </a:rPr>
              <a:t>累计</a:t>
            </a:r>
            <a:r>
              <a:rPr sz="1800" b="1" dirty="0">
                <a:solidFill>
                  <a:srgbClr val="111827"/>
                </a:solidFill>
                <a:latin typeface="微软雅黑"/>
              </a:rPr>
              <a:t> Top-1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612281"/>
              </p:ext>
            </p:extLst>
          </p:nvPr>
        </p:nvGraphicFramePr>
        <p:xfrm>
          <a:off x="566928" y="4206240"/>
          <a:ext cx="1080820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位置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GID1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GID2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GID3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GID4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GID5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GID6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累计 Top-1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99.99%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99.99%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99.68%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91.66%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82.86%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73.12%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59536" y="5696606"/>
            <a:ext cx="9745402" cy="77734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dirty="0">
                <a:latin typeface="微软雅黑"/>
              </a:rPr>
              <a:t>GNPR </a:t>
            </a:r>
            <a:r>
              <a:rPr b="1" dirty="0" err="1">
                <a:latin typeface="微软雅黑"/>
              </a:rPr>
              <a:t>的主要瓶颈是第一层</a:t>
            </a:r>
            <a:r>
              <a:rPr b="1" dirty="0">
                <a:latin typeface="微软雅黑"/>
              </a:rPr>
              <a:t> </a:t>
            </a:r>
            <a:r>
              <a:rPr b="1" dirty="0" err="1">
                <a:latin typeface="微软雅黑"/>
              </a:rPr>
              <a:t>SID；GenPOI</a:t>
            </a:r>
            <a:r>
              <a:rPr b="1" dirty="0">
                <a:latin typeface="微软雅黑"/>
              </a:rPr>
              <a:t> </a:t>
            </a:r>
            <a:r>
              <a:rPr b="1" dirty="0" err="1">
                <a:latin typeface="微软雅黑"/>
              </a:rPr>
              <a:t>在正确</a:t>
            </a:r>
            <a:r>
              <a:rPr b="1" dirty="0">
                <a:latin typeface="微软雅黑"/>
              </a:rPr>
              <a:t> GID </a:t>
            </a:r>
            <a:r>
              <a:rPr b="1" dirty="0" err="1">
                <a:latin typeface="微软雅黑"/>
              </a:rPr>
              <a:t>下三层</a:t>
            </a:r>
            <a:r>
              <a:rPr b="1" dirty="0">
                <a:latin typeface="微软雅黑"/>
              </a:rPr>
              <a:t> SID </a:t>
            </a:r>
            <a:r>
              <a:rPr b="1" dirty="0" err="1">
                <a:latin typeface="微软雅黑"/>
              </a:rPr>
              <a:t>最易学，但</a:t>
            </a:r>
            <a:r>
              <a:rPr b="1" dirty="0">
                <a:latin typeface="微软雅黑"/>
              </a:rPr>
              <a:t> GID4—GID6 </a:t>
            </a:r>
            <a:r>
              <a:rPr b="1" dirty="0" err="1">
                <a:latin typeface="微软雅黑"/>
              </a:rPr>
              <a:t>消耗了语义</a:t>
            </a:r>
            <a:r>
              <a:rPr b="1" dirty="0">
                <a:latin typeface="微软雅黑"/>
              </a:rPr>
              <a:t> SID </a:t>
            </a:r>
            <a:r>
              <a:rPr b="1" dirty="0" err="1">
                <a:latin typeface="微软雅黑"/>
              </a:rPr>
              <a:t>优势</a:t>
            </a:r>
            <a:r>
              <a:rPr b="1" dirty="0">
                <a:latin typeface="微软雅黑"/>
              </a:rPr>
              <a:t>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6AC93A-1DF9-3867-F8E7-3E8E692C9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0"/>
            <a:ext cx="2990850" cy="762000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2800" b="1" dirty="0">
                <a:solidFill>
                  <a:srgbClr val="FFFFFF"/>
                </a:solidFill>
                <a:latin typeface="微软雅黑"/>
              </a:rPr>
              <a:t>SID</a:t>
            </a:r>
            <a:r>
              <a:rPr lang="zh-CN" altLang="en-US" sz="2800" b="1" dirty="0">
                <a:solidFill>
                  <a:srgbClr val="FFFFFF"/>
                </a:solidFill>
                <a:latin typeface="微软雅黑"/>
              </a:rPr>
              <a:t> 不同层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09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402731"/>
              </p:ext>
            </p:extLst>
          </p:nvPr>
        </p:nvGraphicFramePr>
        <p:xfrm>
          <a:off x="566928" y="1097280"/>
          <a:ext cx="111731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82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645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方法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SID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唯一率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GID+S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"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HR@1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"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HR@1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NDCG@10</a:t>
                      </a: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</a:t>
                      </a: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问题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36576" marR="36576" marT="32004" marB="3200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TIGER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71.6766%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51.87%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51.87%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70.4190%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非法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S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ID / Collision Token</a:t>
                      </a:r>
                    </a:p>
                  </a:txBody>
                  <a:tcPr marL="36576" marR="36576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GNPR-SID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77.7969%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49.66%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49.66%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67.2390%</a:t>
                      </a: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SID1 Query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可预测性</a:t>
                      </a:r>
                      <a:endParaRPr sz="1600" b="0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36576" marR="36576" marT="32004" marB="32004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GenPOI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65.7629%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79.6911%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51.98%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51.98%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70.7430%</a:t>
                      </a: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GID4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-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GID6 /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Dedup</a:t>
                      </a:r>
                      <a:endParaRPr sz="1600" b="0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36576" marR="36576" marT="32004" marB="32004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73552"/>
            <a:ext cx="43891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827"/>
                </a:solidFill>
                <a:latin typeface="微软雅黑"/>
              </a:rPr>
              <a:t>问题定位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76472"/>
            <a:ext cx="2395728" cy="31089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827"/>
                </a:solidFill>
                <a:latin typeface="微软雅黑"/>
              </a:rPr>
              <a:t>前缀组织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42816"/>
            <a:ext cx="2395728" cy="1024128"/>
          </a:xfrm>
          <a:prstGeom prst="rect">
            <a:avLst/>
          </a:prstGeom>
          <a:noFill/>
        </p:spPr>
        <p:txBody>
          <a:bodyPr wrap="square" lIns="36576" tIns="27432" rIns="36576" bIns="27432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 err="1">
                <a:latin typeface="微软雅黑"/>
              </a:rPr>
              <a:t>自回归检索首先依赖根</a:t>
            </a:r>
            <a:r>
              <a:rPr sz="1600" b="0" dirty="0">
                <a:latin typeface="微软雅黑"/>
              </a:rPr>
              <a:t> </a:t>
            </a:r>
            <a:r>
              <a:rPr sz="1600" b="0" dirty="0" err="1">
                <a:latin typeface="微软雅黑"/>
              </a:rPr>
              <a:t>Token；后层再准，也无法弥补根层预测错误</a:t>
            </a:r>
            <a:r>
              <a:rPr sz="1600" b="0" dirty="0">
                <a:latin typeface="微软雅黑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3776472"/>
            <a:ext cx="2395728" cy="31089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827"/>
                </a:solidFill>
                <a:latin typeface="微软雅黑"/>
              </a:rPr>
              <a:t>地理路径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4242816"/>
            <a:ext cx="2395728" cy="1024128"/>
          </a:xfrm>
          <a:prstGeom prst="rect">
            <a:avLst/>
          </a:prstGeom>
          <a:noFill/>
        </p:spPr>
        <p:txBody>
          <a:bodyPr wrap="square" lIns="36576" tIns="27432" rIns="36576" bIns="27432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GID </a:t>
            </a:r>
            <a:r>
              <a:rPr sz="1600" b="0" dirty="0" err="1">
                <a:latin typeface="微软雅黑"/>
              </a:rPr>
              <a:t>能减少空间碰撞，但细粒度</a:t>
            </a:r>
            <a:r>
              <a:rPr sz="1600" b="0" dirty="0">
                <a:latin typeface="微软雅黑"/>
              </a:rPr>
              <a:t> GID </a:t>
            </a:r>
            <a:r>
              <a:rPr sz="1600" b="0" dirty="0" err="1">
                <a:latin typeface="微软雅黑"/>
              </a:rPr>
              <a:t>本身也必须能由</a:t>
            </a:r>
            <a:r>
              <a:rPr sz="1600" b="0" dirty="0">
                <a:latin typeface="微软雅黑"/>
              </a:rPr>
              <a:t> Query </a:t>
            </a:r>
            <a:r>
              <a:rPr sz="1600" b="0" dirty="0" err="1">
                <a:latin typeface="微软雅黑"/>
              </a:rPr>
              <a:t>稳定预测</a:t>
            </a:r>
            <a:r>
              <a:rPr sz="1600" b="0" dirty="0">
                <a:latin typeface="微软雅黑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776472"/>
            <a:ext cx="2395728" cy="31089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827"/>
                </a:solidFill>
                <a:latin typeface="微软雅黑"/>
              </a:rPr>
              <a:t>解码合法性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4242816"/>
            <a:ext cx="2395728" cy="1024128"/>
          </a:xfrm>
          <a:prstGeom prst="rect">
            <a:avLst/>
          </a:prstGeom>
          <a:noFill/>
        </p:spPr>
        <p:txBody>
          <a:bodyPr wrap="square" lIns="36576" tIns="27432" rIns="36576" bIns="27432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Trie </a:t>
            </a:r>
            <a:r>
              <a:rPr sz="1600" b="0" dirty="0" err="1">
                <a:latin typeface="微软雅黑"/>
              </a:rPr>
              <a:t>可以保证候选合法；合法率更高，不代表相关性和目标排序更优</a:t>
            </a:r>
            <a:r>
              <a:rPr sz="1600" b="0" dirty="0">
                <a:latin typeface="微软雅黑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3776472"/>
            <a:ext cx="2395728" cy="31089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827"/>
                </a:solidFill>
                <a:latin typeface="微软雅黑"/>
              </a:rPr>
              <a:t>实体消歧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4242816"/>
            <a:ext cx="2395728" cy="1024128"/>
          </a:xfrm>
          <a:prstGeom prst="rect">
            <a:avLst/>
          </a:prstGeom>
          <a:noFill/>
        </p:spPr>
        <p:txBody>
          <a:bodyPr wrap="square" lIns="36576" tIns="27432" rIns="36576" bIns="27432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latin typeface="微软雅黑"/>
              </a:rPr>
              <a:t>Collision / </a:t>
            </a:r>
            <a:r>
              <a:rPr sz="1600" b="0" dirty="0" err="1">
                <a:latin typeface="微软雅黑"/>
              </a:rPr>
              <a:t>Dedup</a:t>
            </a:r>
            <a:r>
              <a:rPr sz="1600" b="0" dirty="0">
                <a:latin typeface="微软雅黑"/>
              </a:rPr>
              <a:t> </a:t>
            </a:r>
            <a:r>
              <a:rPr sz="1600" b="0" dirty="0" err="1">
                <a:latin typeface="微软雅黑"/>
              </a:rPr>
              <a:t>保证唯一，但缺少品牌、门牌和父子</a:t>
            </a:r>
            <a:r>
              <a:rPr sz="1600" b="0" dirty="0">
                <a:latin typeface="微软雅黑"/>
              </a:rPr>
              <a:t> POI </a:t>
            </a:r>
            <a:r>
              <a:rPr sz="1600" b="0" dirty="0" err="1">
                <a:latin typeface="微软雅黑"/>
              </a:rPr>
              <a:t>等明确语义</a:t>
            </a:r>
            <a:r>
              <a:rPr sz="1600" b="0" dirty="0">
                <a:latin typeface="微软雅黑"/>
              </a:rPr>
              <a:t>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60136"/>
            <a:ext cx="10460736" cy="38404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GNPR 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的 </a:t>
            </a:r>
            <a:r>
              <a:rPr lang="e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SID 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唯一率最高但检索最差：结构去碰撞不是生成可学习性的充分条件。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82E0E18-EFAE-EF48-38A0-C78E60DB2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0"/>
            <a:ext cx="1992368" cy="762000"/>
          </a:xfrm>
        </p:spPr>
        <p:txBody>
          <a:bodyPr anchor="ctr">
            <a:normAutofit/>
          </a:bodyPr>
          <a:lstStyle/>
          <a:p>
            <a:pPr algn="l"/>
            <a:r>
              <a:rPr lang="zh-CN" altLang="en-US" sz="2800" dirty="0">
                <a:solidFill>
                  <a:srgbClr val="FFFFFF"/>
                </a:solidFill>
                <a:latin typeface="微软雅黑"/>
              </a:rPr>
              <a:t>总结分析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 dirty="0">
                <a:solidFill>
                  <a:srgbClr val="FFFFFF"/>
                </a:solidFill>
                <a:latin typeface="微软雅黑"/>
              </a:rPr>
              <a:t>Query–POI Embedding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30301" y="3444433"/>
            <a:ext cx="6126036" cy="28520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 err="1">
                <a:latin typeface="微软雅黑"/>
              </a:rPr>
              <a:t>冻结</a:t>
            </a:r>
            <a:r>
              <a:rPr sz="1600" b="0" dirty="0">
                <a:latin typeface="微软雅黑"/>
              </a:rPr>
              <a:t> BGE-M3，仅利用 Train </a:t>
            </a:r>
            <a:r>
              <a:rPr sz="1600" b="0" dirty="0" err="1">
                <a:latin typeface="微软雅黑"/>
              </a:rPr>
              <a:t>正样本</a:t>
            </a:r>
            <a:r>
              <a:rPr sz="1600" b="0" dirty="0">
                <a:latin typeface="微软雅黑"/>
              </a:rPr>
              <a:t> </a:t>
            </a:r>
            <a:r>
              <a:rPr sz="1600" b="0" dirty="0" err="1">
                <a:latin typeface="微软雅黑"/>
              </a:rPr>
              <a:t>Query→POI</a:t>
            </a:r>
            <a:r>
              <a:rPr sz="1600" b="0" dirty="0">
                <a:latin typeface="微软雅黑"/>
              </a:rPr>
              <a:t> </a:t>
            </a:r>
            <a:r>
              <a:rPr sz="1600" b="0" dirty="0" err="1">
                <a:latin typeface="微软雅黑"/>
              </a:rPr>
              <a:t>更新</a:t>
            </a:r>
            <a:r>
              <a:rPr sz="1600" b="0" dirty="0">
                <a:latin typeface="微软雅黑"/>
              </a:rPr>
              <a:t> POI </a:t>
            </a:r>
            <a:r>
              <a:rPr sz="1600" b="0" dirty="0" err="1">
                <a:latin typeface="微软雅黑"/>
              </a:rPr>
              <a:t>向量</a:t>
            </a:r>
            <a:r>
              <a:rPr sz="1600" b="0" dirty="0">
                <a:latin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405641"/>
            <a:ext cx="1439561" cy="331757"/>
          </a:xfrm>
          <a:prstGeom prst="rect">
            <a:avLst/>
          </a:prstGeom>
          <a:noFill/>
        </p:spPr>
        <p:txBody>
          <a:bodyPr wrap="none" lIns="18288" tIns="18288" r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 dirty="0">
                <a:solidFill>
                  <a:srgbClr val="111827"/>
                </a:solidFill>
                <a:latin typeface="微软雅黑"/>
              </a:rPr>
              <a:t>E0—E4 </a:t>
            </a:r>
            <a:r>
              <a:rPr sz="1900" b="1" dirty="0" err="1">
                <a:solidFill>
                  <a:srgbClr val="111827"/>
                </a:solidFill>
                <a:latin typeface="微软雅黑"/>
              </a:rPr>
              <a:t>设计</a:t>
            </a:r>
            <a:endParaRPr sz="1900" b="1" dirty="0">
              <a:solidFill>
                <a:srgbClr val="111827"/>
              </a:solidFill>
              <a:latin typeface="微软雅黑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021555"/>
              </p:ext>
            </p:extLst>
          </p:nvPr>
        </p:nvGraphicFramePr>
        <p:xfrm>
          <a:off x="566928" y="3941796"/>
          <a:ext cx="11027664" cy="2385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86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757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版本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具体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处理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固定参数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/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结果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7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E0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BGE-M3 POI embedding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连续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检索基线</a:t>
                      </a:r>
                      <a:endParaRPr sz="1600" b="0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57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E1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同一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POI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的历史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Query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等权均值后融合</a:t>
                      </a:r>
                      <a:endParaRPr sz="1600" b="0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全局 α；最佳 α=0.30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57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E2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log1p(count) × IDF/DF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抑制高频泛词</a:t>
                      </a:r>
                      <a:endParaRPr sz="1600" b="0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全局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α=0.30；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有提升</a:t>
                      </a:r>
                      <a:endParaRPr sz="1600" b="0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57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E3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按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POI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的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Kish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有效样本数动态调整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α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候选级变换破坏全局相对几何；淘汰</a:t>
                      </a:r>
                      <a:endParaRPr sz="1600" b="0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57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E4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在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E2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上去除类别公共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Query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方向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α=0.30，β=0.85；</a:t>
                      </a: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最佳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5B915FB-E67E-C721-F928-AA6D153AA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479298"/>
              </p:ext>
            </p:extLst>
          </p:nvPr>
        </p:nvGraphicFramePr>
        <p:xfrm>
          <a:off x="548647" y="1096203"/>
          <a:ext cx="10581809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7462">
                  <a:extLst>
                    <a:ext uri="{9D8B030D-6E8A-4147-A177-3AD203B41FA5}">
                      <a16:colId xmlns:a16="http://schemas.microsoft.com/office/drawing/2014/main" val="2007045088"/>
                    </a:ext>
                  </a:extLst>
                </a:gridCol>
                <a:gridCol w="1225262">
                  <a:extLst>
                    <a:ext uri="{9D8B030D-6E8A-4147-A177-3AD203B41FA5}">
                      <a16:colId xmlns:a16="http://schemas.microsoft.com/office/drawing/2014/main" val="2497572794"/>
                    </a:ext>
                  </a:extLst>
                </a:gridCol>
                <a:gridCol w="1225262">
                  <a:extLst>
                    <a:ext uri="{9D8B030D-6E8A-4147-A177-3AD203B41FA5}">
                      <a16:colId xmlns:a16="http://schemas.microsoft.com/office/drawing/2014/main" val="4067926606"/>
                    </a:ext>
                  </a:extLst>
                </a:gridCol>
                <a:gridCol w="1225262">
                  <a:extLst>
                    <a:ext uri="{9D8B030D-6E8A-4147-A177-3AD203B41FA5}">
                      <a16:colId xmlns:a16="http://schemas.microsoft.com/office/drawing/2014/main" val="2002905061"/>
                    </a:ext>
                  </a:extLst>
                </a:gridCol>
                <a:gridCol w="1225262">
                  <a:extLst>
                    <a:ext uri="{9D8B030D-6E8A-4147-A177-3AD203B41FA5}">
                      <a16:colId xmlns:a16="http://schemas.microsoft.com/office/drawing/2014/main" val="1424856483"/>
                    </a:ext>
                  </a:extLst>
                </a:gridCol>
                <a:gridCol w="1225262">
                  <a:extLst>
                    <a:ext uri="{9D8B030D-6E8A-4147-A177-3AD203B41FA5}">
                      <a16:colId xmlns:a16="http://schemas.microsoft.com/office/drawing/2014/main" val="3887285513"/>
                    </a:ext>
                  </a:extLst>
                </a:gridCol>
                <a:gridCol w="1448037">
                  <a:extLst>
                    <a:ext uri="{9D8B030D-6E8A-4147-A177-3AD203B41FA5}">
                      <a16:colId xmlns:a16="http://schemas.microsoft.com/office/drawing/2014/main" val="1087992972"/>
                    </a:ext>
                  </a:extLst>
                </a:gridCol>
              </a:tblGrid>
              <a:tr h="4679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模型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维度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Hit@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Hit@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3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Hit@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Hit@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</a:t>
                      </a:r>
                      <a:endParaRPr sz="1600" b="1" dirty="0">
                        <a:solidFill>
                          <a:schemeClr val="tx1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NDCG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@10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828824"/>
                  </a:ext>
                </a:extLst>
              </a:tr>
              <a:tr h="48372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Qwen3-Embedding-0.6B</a:t>
                      </a:r>
                    </a:p>
                  </a:txBody>
                  <a:tcPr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1024</a:t>
                      </a:r>
                    </a:p>
                  </a:txBody>
                  <a:tcPr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0.1194</a:t>
                      </a:r>
                    </a:p>
                  </a:txBody>
                  <a:tcPr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0.1892</a:t>
                      </a:r>
                    </a:p>
                  </a:txBody>
                  <a:tcPr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0.2298</a:t>
                      </a:r>
                    </a:p>
                  </a:txBody>
                  <a:tcPr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0.2826</a:t>
                      </a:r>
                    </a:p>
                  </a:txBody>
                  <a:tcPr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0.1938</a:t>
                      </a:r>
                    </a:p>
                  </a:txBody>
                  <a:tcPr>
                    <a:solidFill>
                      <a:srgbClr val="F8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003558"/>
                  </a:ext>
                </a:extLst>
              </a:tr>
              <a:tr h="49340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Qwen3-Embedding-4B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2056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0.0960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0.1505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0.1758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0.2121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dirty="0"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0.1498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427376"/>
                  </a:ext>
                </a:extLst>
              </a:tr>
              <a:tr h="49340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BAAI-bge-m3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1024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0.1199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0.2069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0.2525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0.3239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b="1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0.2121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33825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 dirty="0">
                <a:solidFill>
                  <a:srgbClr val="FFFFFF"/>
                </a:solidFill>
                <a:latin typeface="微软雅黑"/>
              </a:rPr>
              <a:t>E0—E4 </a:t>
            </a:r>
            <a:r>
              <a:rPr sz="2800" b="1" dirty="0" err="1">
                <a:solidFill>
                  <a:srgbClr val="FFFFFF"/>
                </a:solidFill>
                <a:latin typeface="微软雅黑"/>
              </a:rPr>
              <a:t>结果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630590"/>
              </p:ext>
            </p:extLst>
          </p:nvPr>
        </p:nvGraphicFramePr>
        <p:xfrm>
          <a:off x="453160" y="1024128"/>
          <a:ext cx="11066176" cy="2679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1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5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05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05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06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06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07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408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4653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方法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Hit@1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Hit@3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Hit@5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Hit@10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Hit@20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MRR@10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NDCG@10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53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E0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微软雅黑"/>
                        </a:rPr>
                        <a:t>原始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 BGE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11.99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20.69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25.25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32.39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40.25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17.7627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21.2113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53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E1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微软雅黑"/>
                        </a:rPr>
                        <a:t>等权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 Query（α=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.30）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17.51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29.79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36.98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48.27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58.90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26.0006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31.2401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53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E2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微软雅黑"/>
                        </a:rPr>
                        <a:t>加权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 Query（α=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.30）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18.53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32.52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40.02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51.18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62.10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27.7598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33.2917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53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E3 </a:t>
                      </a:r>
                      <a:r>
                        <a:rPr sz="1600" b="0" dirty="0" err="1">
                          <a:solidFill>
                            <a:schemeClr val="tx1"/>
                          </a:solidFill>
                          <a:latin typeface="微软雅黑"/>
                        </a:rPr>
                        <a:t>动态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 α（</a:t>
                      </a:r>
                      <a:r>
                        <a:rPr lang="en-US" sz="1600" b="0" dirty="0" err="1">
                          <a:solidFill>
                            <a:schemeClr val="tx1"/>
                          </a:solidFill>
                          <a:latin typeface="微软雅黑"/>
                        </a:rPr>
                        <a:t>τ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=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20, </a:t>
                      </a:r>
                      <a:r>
                        <a:rPr lang="en-US" altLang="zh-CN" sz="1600" b="0" dirty="0" err="1">
                          <a:solidFill>
                            <a:schemeClr val="tx1"/>
                          </a:solidFill>
                          <a:latin typeface="微软雅黑"/>
                        </a:rPr>
                        <a:t>γ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=1</a:t>
                      </a: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）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14.85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25.28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31.61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41.13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50.65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22.0580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26.5432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653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E4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类别残差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（β=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0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.85）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20.02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34.92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43.76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56.37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66.78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30.2279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36.3976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48922"/>
            <a:ext cx="1011559" cy="331757"/>
          </a:xfrm>
          <a:prstGeom prst="rect">
            <a:avLst/>
          </a:prstGeom>
          <a:noFill/>
        </p:spPr>
        <p:txBody>
          <a:bodyPr wrap="none" lIns="18288" tIns="18288" r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 dirty="0" err="1">
                <a:solidFill>
                  <a:srgbClr val="111827"/>
                </a:solidFill>
                <a:latin typeface="微软雅黑"/>
              </a:rPr>
              <a:t>结果</a:t>
            </a:r>
            <a:r>
              <a:rPr lang="en-US" sz="1900" b="1" dirty="0" err="1">
                <a:solidFill>
                  <a:srgbClr val="111827"/>
                </a:solidFill>
                <a:latin typeface="微软雅黑"/>
              </a:rPr>
              <a:t>分析</a:t>
            </a:r>
            <a:endParaRPr sz="1900" b="1" dirty="0">
              <a:solidFill>
                <a:srgbClr val="111827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4434840"/>
            <a:ext cx="2344168" cy="12368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E4 vs E0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Hit@1  +8.03pp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Hit@10 +23.98pp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NDCG@10 +15.1863pp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434840"/>
            <a:ext cx="2499146" cy="12368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E4 vs E2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Hit@10 +5.19pp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NDCG@10 +3.1059pp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 err="1">
                <a:latin typeface="微软雅黑"/>
              </a:rPr>
              <a:t>去除类别公共方向继续增益</a:t>
            </a:r>
            <a:endParaRPr sz="1600" b="0" dirty="0"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19872" y="4434840"/>
            <a:ext cx="2285947" cy="12368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E3 vs E2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Hit@10 −10.05pp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NDCG@10 −6.7485pp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 err="1">
                <a:latin typeface="微软雅黑"/>
              </a:rPr>
              <a:t>单索引不能混用候选级</a:t>
            </a:r>
            <a:r>
              <a:rPr sz="1600" b="0" dirty="0">
                <a:latin typeface="微软雅黑"/>
              </a:rPr>
              <a:t> 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948" y="6004779"/>
            <a:ext cx="10664742" cy="3163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Query 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不是</a:t>
            </a:r>
            <a:r>
              <a:rPr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越多越好</a:t>
            </a:r>
            <a:r>
              <a:rPr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在</a:t>
            </a:r>
            <a:r>
              <a:rPr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统一全局变换下，去频次偏置与类别公共方向后，Query</a:t>
            </a:r>
            <a:r>
              <a:rPr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意图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增强</a:t>
            </a:r>
            <a:r>
              <a:rPr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POI </a:t>
            </a:r>
            <a:r>
              <a:rPr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表征</a:t>
            </a:r>
            <a:r>
              <a:rPr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 dirty="0">
                <a:solidFill>
                  <a:srgbClr val="FFFFFF"/>
                </a:solidFill>
                <a:latin typeface="微软雅黑"/>
              </a:rPr>
              <a:t>RQ-</a:t>
            </a:r>
            <a:r>
              <a:rPr sz="2800" b="1" dirty="0" err="1">
                <a:solidFill>
                  <a:srgbClr val="FFFFFF"/>
                </a:solidFill>
                <a:latin typeface="微软雅黑"/>
              </a:rPr>
              <a:t>KMeans</a:t>
            </a:r>
            <a:r>
              <a:rPr sz="2800" b="1" dirty="0">
                <a:solidFill>
                  <a:srgbClr val="FFFFFF"/>
                </a:solidFill>
                <a:latin typeface="微软雅黑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89314"/>
            <a:ext cx="5044651" cy="331757"/>
          </a:xfrm>
          <a:prstGeom prst="rect">
            <a:avLst/>
          </a:prstGeom>
          <a:noFill/>
        </p:spPr>
        <p:txBody>
          <a:bodyPr wrap="none" lIns="18288" tIns="18288" r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lang="en-US" altLang="zh-CN" sz="1900" b="1" dirty="0">
                <a:solidFill>
                  <a:srgbClr val="111827"/>
                </a:solidFill>
                <a:latin typeface="微软雅黑"/>
              </a:rPr>
              <a:t>BGE</a:t>
            </a:r>
            <a:r>
              <a:rPr sz="1900" b="1" dirty="0">
                <a:solidFill>
                  <a:srgbClr val="111827"/>
                </a:solidFill>
                <a:latin typeface="微软雅黑"/>
              </a:rPr>
              <a:t>输入、同容量：RQ-VAE vs RQ-</a:t>
            </a:r>
            <a:r>
              <a:rPr sz="1900" b="1" dirty="0" err="1">
                <a:solidFill>
                  <a:srgbClr val="111827"/>
                </a:solidFill>
                <a:latin typeface="微软雅黑"/>
              </a:rPr>
              <a:t>KMeans</a:t>
            </a:r>
            <a:endParaRPr sz="1900" b="1" dirty="0">
              <a:solidFill>
                <a:srgbClr val="111827"/>
              </a:solidFill>
              <a:latin typeface="微软雅黑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364530"/>
              </p:ext>
            </p:extLst>
          </p:nvPr>
        </p:nvGraphicFramePr>
        <p:xfrm>
          <a:off x="566928" y="1548384"/>
          <a:ext cx="11027664" cy="14325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00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75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Quantizer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唯一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 SID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碰撞 POI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最大桶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L1/L2/L3 使用数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D1/D2/D3 micro-purity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TIGER RQ-VAE 1024³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71.6766%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40.7894%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561 / 1024 / 1024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69.2751 / 77.2651 / 96.2830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RQ-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KMeans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 1024³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76.0725%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36.1501%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467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1024 / 1024 / 1024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67.0196 / 76.8735 / 96.0949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5029200" cy="329184"/>
          </a:xfrm>
          <a:prstGeom prst="rect">
            <a:avLst/>
          </a:prstGeom>
          <a:noFill/>
        </p:spPr>
        <p:txBody>
          <a:bodyPr wrap="none" lIns="18288" tIns="18288" r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 dirty="0" err="1">
                <a:solidFill>
                  <a:srgbClr val="111827"/>
                </a:solidFill>
                <a:latin typeface="微软雅黑"/>
              </a:rPr>
              <a:t>同</a:t>
            </a:r>
            <a:r>
              <a:rPr sz="1900" b="1" dirty="0">
                <a:solidFill>
                  <a:srgbClr val="111827"/>
                </a:solidFill>
                <a:latin typeface="微软雅黑"/>
              </a:rPr>
              <a:t> 30-bit </a:t>
            </a:r>
            <a:r>
              <a:rPr sz="1900" b="1" dirty="0" err="1">
                <a:solidFill>
                  <a:srgbClr val="111827"/>
                </a:solidFill>
                <a:latin typeface="微软雅黑"/>
              </a:rPr>
              <a:t>下的容量分配消融</a:t>
            </a:r>
            <a:endParaRPr sz="1900" b="1" dirty="0">
              <a:solidFill>
                <a:srgbClr val="111827"/>
              </a:solidFill>
              <a:latin typeface="微软雅黑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245814"/>
              </p:ext>
            </p:extLst>
          </p:nvPr>
        </p:nvGraphicFramePr>
        <p:xfrm>
          <a:off x="566929" y="3666744"/>
          <a:ext cx="11027664" cy="1809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34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0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93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53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22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19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032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453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RQ-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KMeans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布局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唯一 SID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碰撞 POI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最大桶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D1 purity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D2 purity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D3 purity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基础 Token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53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1024×1024×1024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76.0725%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36.1501%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67.0196%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76.8735%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96.0949%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3,072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53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2048×1024×512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78.9451%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32.7653%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163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68.8996%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80.2594%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96.7587%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3,584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53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4096×1024×256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81.8938%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29.1512%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96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68.8522%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83.3590%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97.1629%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5,376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25351" y="5650751"/>
            <a:ext cx="8741553" cy="55111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600" b="1" dirty="0">
                <a:latin typeface="微软雅黑"/>
              </a:rPr>
              <a:t>RQ-</a:t>
            </a:r>
            <a:r>
              <a:rPr sz="1600" b="1" dirty="0" err="1">
                <a:latin typeface="微软雅黑"/>
              </a:rPr>
              <a:t>KMeans</a:t>
            </a:r>
            <a:r>
              <a:rPr sz="1600" b="1" dirty="0">
                <a:latin typeface="微软雅黑"/>
              </a:rPr>
              <a:t> </a:t>
            </a:r>
            <a:r>
              <a:rPr sz="16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改善码本利用率与整体碰撞，但对称配置的浅层类别纯度更低、最大桶更大；非对称布局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进一步提升相关指标</a:t>
            </a:r>
            <a:r>
              <a:rPr sz="1600" b="1" dirty="0">
                <a:latin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 dirty="0">
                <a:solidFill>
                  <a:srgbClr val="FFFFFF"/>
                </a:solidFill>
                <a:latin typeface="微软雅黑"/>
              </a:rPr>
              <a:t>Embedding × Quantizer 2×2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35355"/>
              </p:ext>
            </p:extLst>
          </p:nvPr>
        </p:nvGraphicFramePr>
        <p:xfrm>
          <a:off x="566928" y="956441"/>
          <a:ext cx="11027664" cy="215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05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Embedding × Quantizer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唯一 SID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碰撞 POI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最大桶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L1 使用数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D1 micro-purity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BGE × RQ-VAE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71.6766%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40.7894%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561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69.2751%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E4 × RQ-VAE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74.3539%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37.4194%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334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751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64.1303%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BGE × RQ-KMeans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76.0725%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36.1501%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67.0196%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E4 × RQ-KMeans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76.1573%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35.7477%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288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1024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61.7668%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296274"/>
              </p:ext>
            </p:extLst>
          </p:nvPr>
        </p:nvGraphicFramePr>
        <p:xfrm>
          <a:off x="566928" y="3429000"/>
          <a:ext cx="6720840" cy="176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65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2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9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改动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唯一率变化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碰撞 POI 变化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9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BGE→E4，RQ-VAE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+2.6774pp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−3.3700pp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9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BGE→E4，RQ-KMeans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+0.0848pp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−0.4024pp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9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RQ-VAE→RQ-KMeans，BGE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+4.3959pp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−4.6393pp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9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RQ-VAE→RQ-KMeans，E4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+1.8033pp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−1.6717pp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1696" y="3744284"/>
            <a:ext cx="3912896" cy="11342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E4 </a:t>
            </a:r>
            <a:r>
              <a:rPr sz="1600" b="0" dirty="0" err="1">
                <a:latin typeface="微软雅黑"/>
              </a:rPr>
              <a:t>与</a:t>
            </a:r>
            <a:r>
              <a:rPr sz="1600" b="0" dirty="0">
                <a:latin typeface="微软雅黑"/>
              </a:rPr>
              <a:t> RQ-</a:t>
            </a:r>
            <a:r>
              <a:rPr sz="1600" b="0" dirty="0" err="1">
                <a:latin typeface="微软雅黑"/>
              </a:rPr>
              <a:t>KMeans</a:t>
            </a:r>
            <a:r>
              <a:rPr sz="1600" b="0" dirty="0">
                <a:latin typeface="微软雅黑"/>
              </a:rPr>
              <a:t> </a:t>
            </a:r>
            <a:r>
              <a:rPr sz="1600" b="0" dirty="0" err="1">
                <a:latin typeface="微软雅黑"/>
              </a:rPr>
              <a:t>主要修复同一码本展开</a:t>
            </a:r>
            <a:r>
              <a:rPr sz="1600" b="0" dirty="0">
                <a:latin typeface="微软雅黑"/>
              </a:rPr>
              <a:t> / </a:t>
            </a:r>
            <a:r>
              <a:rPr sz="1600" b="0" dirty="0" err="1">
                <a:latin typeface="微软雅黑"/>
              </a:rPr>
              <a:t>碰撞瓶颈，因此平均唯一率收益不相加</a:t>
            </a:r>
            <a:r>
              <a:rPr sz="1600" b="0" dirty="0">
                <a:latin typeface="微软雅黑"/>
              </a:rPr>
              <a:t>。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dirty="0">
                <a:latin typeface="微软雅黑"/>
              </a:rPr>
              <a:t>E4 RQ-</a:t>
            </a:r>
            <a:r>
              <a:rPr sz="1600" b="0" dirty="0" err="1">
                <a:latin typeface="微软雅黑"/>
              </a:rPr>
              <a:t>KMeans</a:t>
            </a:r>
            <a:r>
              <a:rPr sz="1600" b="0" dirty="0">
                <a:latin typeface="微软雅黑"/>
              </a:rPr>
              <a:t> </a:t>
            </a:r>
            <a:r>
              <a:rPr sz="1600" b="0" dirty="0" err="1">
                <a:latin typeface="微软雅黑"/>
              </a:rPr>
              <a:t>最大桶</a:t>
            </a:r>
            <a:r>
              <a:rPr sz="1600" b="0" dirty="0">
                <a:latin typeface="微软雅黑"/>
              </a:rPr>
              <a:t> 467→288，互补性集中在长尾碰撞。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7513" y="5625296"/>
            <a:ext cx="8706493" cy="5525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E4 </a:t>
            </a:r>
            <a:r>
              <a:rPr sz="16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在两种</a:t>
            </a:r>
            <a:r>
              <a:rPr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Quantizer </a:t>
            </a:r>
            <a:r>
              <a:rPr sz="16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下都降低</a:t>
            </a:r>
            <a:r>
              <a:rPr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D1 </a:t>
            </a:r>
            <a:r>
              <a:rPr sz="16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静态类别纯度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zh-C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减去了类别公共 Query 方向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zh-C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强化Query 意图；别名；分店；门牌；局部地址等检索区分信息。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 dirty="0" err="1">
                <a:solidFill>
                  <a:srgbClr val="FFFFFF"/>
                </a:solidFill>
                <a:latin typeface="微软雅黑"/>
              </a:rPr>
              <a:t>容量前移</a:t>
            </a:r>
            <a:r>
              <a:rPr lang="zh-CN" altLang="en-US" sz="2800" dirty="0">
                <a:solidFill>
                  <a:srgbClr val="FFFFFF"/>
                </a:solidFill>
                <a:latin typeface="微软雅黑"/>
              </a:rPr>
              <a:t>和</a:t>
            </a:r>
            <a:r>
              <a:rPr sz="2800" b="1" dirty="0" err="1">
                <a:solidFill>
                  <a:srgbClr val="FFFFFF"/>
                </a:solidFill>
                <a:latin typeface="微软雅黑"/>
              </a:rPr>
              <a:t>生成难度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714401"/>
              </p:ext>
            </p:extLst>
          </p:nvPr>
        </p:nvGraphicFramePr>
        <p:xfrm>
          <a:off x="566928" y="987550"/>
          <a:ext cx="10931389" cy="2007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8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84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18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197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E4 RQ-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KMeans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布局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唯一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 SID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碰撞 POI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最大桶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D1/D2/D3 micro-purity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基础 Token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97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1024³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76.1573%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35.7477%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288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61.7668 / 74.1673 / 95.4859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3,072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97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2048×1024×512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79.8731%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31.4021%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143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63.1348 / 78.1489 / 96.4413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3,584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97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4096×1024×256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82.7331%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27.9655%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63.6370 / 81.3855 / 96.8838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5,376</a:t>
                      </a:r>
                    </a:p>
                  </a:txBody>
                  <a:tcPr marL="54864" marR="54864" marT="27432" marB="27432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62306"/>
            <a:ext cx="5029200" cy="329184"/>
          </a:xfrm>
          <a:prstGeom prst="rect">
            <a:avLst/>
          </a:prstGeom>
          <a:noFill/>
        </p:spPr>
        <p:txBody>
          <a:bodyPr wrap="none" lIns="18288" tIns="18288" r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>
                <a:solidFill>
                  <a:srgbClr val="111827"/>
                </a:solidFill>
                <a:latin typeface="微软雅黑"/>
              </a:rPr>
              <a:t>Train 目标分布：预测难度被前移到 S1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37014"/>
              </p:ext>
            </p:extLst>
          </p:nvPr>
        </p:nvGraphicFramePr>
        <p:xfrm>
          <a:off x="566927" y="3771427"/>
          <a:ext cx="10931390" cy="1875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5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6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4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49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80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891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布局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H(S1)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有效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 S1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</a:rPr>
                        <a:t>分支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</a:endParaRP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</a:rPr>
                        <a:t>H(S2|S1)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H(S3|S1:2)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</a:rPr>
                        <a:t>完整路径熵</a:t>
                      </a:r>
                    </a:p>
                  </a:txBody>
                  <a:tcPr marL="54864" marR="54864" marT="27432" marB="27432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91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1024³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8.5439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373.2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5.5170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1.1841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15.2450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91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2048×1024×512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9.4141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682.2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4.9869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0.9485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15.3495</a:t>
                      </a:r>
                    </a:p>
                  </a:txBody>
                  <a:tcPr marL="54864" marR="54864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91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4096×1024×256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10.2215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1,193.9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</a:rPr>
                        <a:t>4.4830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0.7387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</a:rPr>
                        <a:t>15.4432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612768" y="5854901"/>
            <a:ext cx="5966720" cy="3163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b="1" dirty="0">
                <a:latin typeface="微软雅黑"/>
              </a:rPr>
              <a:t>4096 </a:t>
            </a:r>
            <a:r>
              <a:rPr b="1" dirty="0" err="1">
                <a:latin typeface="微软雅黑"/>
              </a:rPr>
              <a:t>的纯</a:t>
            </a:r>
            <a:r>
              <a:rPr b="1" dirty="0">
                <a:latin typeface="微软雅黑"/>
              </a:rPr>
              <a:t> SID </a:t>
            </a:r>
            <a:r>
              <a:rPr b="1" dirty="0" err="1">
                <a:latin typeface="微软雅黑"/>
              </a:rPr>
              <a:t>结构最好，但第一步分类与词表成本最高</a:t>
            </a:r>
            <a:endParaRPr b="1" dirty="0">
              <a:latin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CN" altLang="en-US" sz="2800" b="1" dirty="0">
                <a:solidFill>
                  <a:srgbClr val="FFFFFF"/>
                </a:solidFill>
                <a:latin typeface="微软雅黑"/>
              </a:rPr>
              <a:t>实验</a:t>
            </a:r>
            <a:r>
              <a:rPr sz="2800" b="1" dirty="0" err="1">
                <a:solidFill>
                  <a:srgbClr val="FFFFFF"/>
                </a:solidFill>
                <a:latin typeface="微软雅黑"/>
              </a:rPr>
              <a:t>总结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018520" y="6473952"/>
            <a:ext cx="621792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微软雅黑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61288"/>
            <a:ext cx="1066061" cy="34387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lang="zh-CN" altLang="en-US" sz="2000" b="1" dirty="0">
                <a:solidFill>
                  <a:srgbClr val="11182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实验</a:t>
            </a:r>
            <a:r>
              <a:rPr sz="2000" b="1" dirty="0" err="1">
                <a:solidFill>
                  <a:srgbClr val="111827"/>
                </a:solidFill>
                <a:latin typeface="微软雅黑"/>
              </a:rPr>
              <a:t>结论</a:t>
            </a:r>
            <a:endParaRPr sz="2000" b="1" dirty="0">
              <a:solidFill>
                <a:srgbClr val="111827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3081540" cy="37838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论文复现： GenPOI、TIGER 整体差距有限；主要瓶颈并非单纯 SID 唯一率，而是 SID 的可预测性与层级语义质量。 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连续表征： 正向 Query 增强显著改善 POI 检索空间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离散量化： RQ-KMeans 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提高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唯一率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缓解 RQ-VAE 第一层码本利用不足问题。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容量分配： 固定 30-bit 时，容量前移至 S1 可继续降低碰撞；但第一层预测复杂度同步增加。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89120" y="1161288"/>
            <a:ext cx="1066061" cy="34387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lang="zh-CN" altLang="en-US" sz="2000" b="1" dirty="0">
                <a:solidFill>
                  <a:srgbClr val="11182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存在</a:t>
            </a:r>
            <a:r>
              <a:rPr sz="2000" b="1" dirty="0" err="1">
                <a:solidFill>
                  <a:srgbClr val="11182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问题</a:t>
            </a:r>
            <a:endParaRPr sz="2000" b="1" dirty="0">
              <a:solidFill>
                <a:srgbClr val="11182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89120" y="1755648"/>
            <a:ext cx="3081540" cy="348403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容量前移虽然提高唯一率，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但加大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S1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生成难度。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E4 强化 Query 检索意图后，静态类别纯度有所下降，需要由 SFT 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后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判断哪种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结果更好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将地理信息作为独立 GID 或生成前缀，会额外增加生成长度和空间 token 预测负担；同时固定 Geohash 离散存在边界效应，地理约束应如何进入生成过程仍未确定。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随机 Collision Token 只能保证唯一，无法表达分店、楼号、楼层、商铺等真实实体差异。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9872" y="1161288"/>
            <a:ext cx="1069267" cy="34387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lang="zh-CN" altLang="en-US" sz="2000" b="1" dirty="0">
                <a:solidFill>
                  <a:srgbClr val="11182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后续优化</a:t>
            </a:r>
            <a:endParaRPr sz="2000" b="1" dirty="0">
              <a:solidFill>
                <a:srgbClr val="11182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19873" y="1755648"/>
            <a:ext cx="3220917" cy="431566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增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加容量后移对照，验证 POI Semantic ID 更强调前层语义组织还是后层实体细分。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选取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不同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布局进行SFT，以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评测指标选择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最终基础 SID。 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不把 Geo 特征混入 Semantic SID；进一步比较 GID 前缀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后缀生成</a:t>
            </a: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、条件空间约束和解码阶段空间剪枝，确定地理信息最合理的作用位置。 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08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zh-CN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在基础 SID 上进一步解决碰撞，探索基础 SID 表达共享检索语义，仅对冲突 POI 使用楼号、父实体、商铺号、局部空间关系等最小关系后缀完成实体消歧。</a:t>
            </a:r>
            <a:endParaRPr lang="en-US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TRkYTBlMGFkODI3ZDFhOWRjMTg5ZjcxNDZhYWMwYzQ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3783</TotalTime>
  <Words>2219</Words>
  <Application>Microsoft Macintosh PowerPoint</Application>
  <PresentationFormat>宽屏</PresentationFormat>
  <Paragraphs>684</Paragraphs>
  <Slides>16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微软雅黑</vt:lpstr>
      <vt:lpstr>微软雅黑</vt:lpstr>
      <vt:lpstr>Noto Sans CJK SC</vt:lpstr>
      <vt:lpstr>Arial</vt:lpstr>
      <vt:lpstr>Calibri</vt:lpstr>
      <vt:lpstr>Times New Roman</vt:lpstr>
      <vt:lpstr>Office Theme</vt:lpstr>
      <vt:lpstr>PowerPoint 演示文稿</vt:lpstr>
      <vt:lpstr>论文复现</vt:lpstr>
      <vt:lpstr>数据集</vt:lpstr>
      <vt:lpstr>地图检索 POI 复现适配</vt:lpstr>
      <vt:lpstr>TIGER </vt:lpstr>
      <vt:lpstr>GNPR-SID</vt:lpstr>
      <vt:lpstr>GenPOI</vt:lpstr>
      <vt:lpstr>复现结果</vt:lpstr>
      <vt:lpstr>SID 不同层</vt:lpstr>
      <vt:lpstr>总结分析</vt:lpstr>
      <vt:lpstr>Query–POI Embedding </vt:lpstr>
      <vt:lpstr>E0—E4 结果</vt:lpstr>
      <vt:lpstr>RQ-KMeans </vt:lpstr>
      <vt:lpstr>Embedding × Quantizer 2×2</vt:lpstr>
      <vt:lpstr>容量前移和生成难度</vt:lpstr>
      <vt:lpstr>实验总结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生成式 POI 检索项目方案与实验进展（汇报版）</dc:title>
  <dc:subject>内容讲解与实验指标混合排版</dc:subject>
  <dc:creator>POI Generative Retrieval</dc:creator>
  <dc:description>generated using python-pptx</dc:description>
  <cp:lastModifiedBy>didi</cp:lastModifiedBy>
  <cp:revision>329</cp:revision>
  <dcterms:created xsi:type="dcterms:W3CDTF">2013-01-27T09:14:00Z</dcterms:created>
  <dcterms:modified xsi:type="dcterms:W3CDTF">2026-08-09T16:13:32Z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DE24D9AFC49D4824B665D83DF2C9688F_13</vt:lpwstr>
  </property>
  <property fmtid="{D5CDD505-2E9C-101B-9397-08002B2CF9AE}" pid="3" name="KSOProductBuildVer">
    <vt:lpwstr>2052-12.1.0.17827</vt:lpwstr>
  </property>
</Properties>
</file>