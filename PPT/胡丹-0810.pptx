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71" r:id="rId15"/>
    <p:sldId id="272" r:id="rId16"/>
    <p:sldId id="273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4FF"/>
    <a:srgbClr val="F8FBFD"/>
    <a:srgbClr val="2E7CF6"/>
    <a:srgbClr val="9ECCFD"/>
    <a:srgbClr val="93C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10"/>
    <p:restoredTop sz="96143"/>
  </p:normalViewPr>
  <p:slideViewPr>
    <p:cSldViewPr snapToGrid="0" snapToObjects="1" showGuides="1">
      <p:cViewPr>
        <p:scale>
          <a:sx n="115" d="100"/>
          <a:sy n="115" d="100"/>
        </p:scale>
        <p:origin x="624" y="344"/>
      </p:cViewPr>
      <p:guideLst>
        <p:guide orient="horz" pos="2226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092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00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8015-DF84-41FA-9E94-BA51DE2E4658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3B06F-833C-4282-8B21-93F195BE9DCF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21281-1D44-441C-9DDE-B4936627E1FE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97AF-337D-4308-80A8-0E4FAAFEF77A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0E11C-AF29-404B-84BD-C97916AD109A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B016-4D35-4FFA-AAB2-911F490527D3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8FBFD-206E-4DB4-97C7-5AD8A1A0F586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EDB8-0579-4265-A8F4-6EA70868C754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23B87-9435-4C0A-8A1E-F5BBFA32C3C5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2101-079D-4F99-B83B-6106A3082DC1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800F-0336-42AD-AB4C-E188E73DB4FB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结束页">
    <p:bg>
      <p:bgPr>
        <a:solidFill>
          <a:srgbClr val="0252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-5259" y="6586256"/>
            <a:ext cx="12192001" cy="2349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311" y="6615448"/>
            <a:ext cx="207699" cy="17656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46" y="6473952"/>
            <a:ext cx="11201983" cy="0"/>
          </a:xfrm>
          <a:prstGeom prst="line">
            <a:avLst/>
          </a:prstGeom>
          <a:noFill/>
          <a:ln w="9525">
            <a:solidFill>
              <a:srgbClr val="E6E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3145" y="6519672"/>
            <a:ext cx="2011785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MobilityBench POI, N=109385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9207" y="6519672"/>
            <a:ext cx="800042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AA8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A3A6B"/>
              </a:gs>
              <a:gs pos="100000">
                <a:srgbClr val="2E7CF6"/>
              </a:gs>
            </a:gsLst>
            <a:lin ang="0" scaled="1"/>
          </a:gradFill>
          <a:ln>
            <a:noFill/>
          </a:ln>
        </p:spPr>
      </p:sp>
      <p:sp>
        <p:nvSpPr>
          <p:cNvPr id="8" name="Rectangle 4"/>
          <p:cNvSpPr/>
          <p:nvPr userDrawn="1"/>
        </p:nvSpPr>
        <p:spPr>
          <a:xfrm>
            <a:off x="0" y="0"/>
            <a:ext cx="57150" cy="762000"/>
          </a:xfrm>
          <a:prstGeom prst="rect">
            <a:avLst/>
          </a:prstGeom>
          <a:solidFill>
            <a:srgbClr val="00C2A8"/>
          </a:solidFill>
          <a:ln>
            <a:noFill/>
          </a:ln>
        </p:spPr>
      </p:sp>
      <p:sp>
        <p:nvSpPr>
          <p:cNvPr id="9" name="Rectangle 8"/>
          <p:cNvSpPr/>
          <p:nvPr userDrawn="1"/>
        </p:nvSpPr>
        <p:spPr>
          <a:xfrm>
            <a:off x="0" y="762000"/>
            <a:ext cx="12192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" y="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614C7-14EB-4084-AC4C-AAFA56794DEF}" type="datetime1">
              <a:rPr lang="en-US" altLang="zh-CN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kern="1200" baseline="0">
          <a:solidFill>
            <a:schemeClr val="bg1"/>
          </a:solidFill>
          <a:latin typeface="Times New Roman" panose="02020603050405020304" pitchFamily="18" charset="0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49039" y="2897463"/>
            <a:ext cx="4700016" cy="56015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 dirty="0" err="1">
                <a:solidFill>
                  <a:srgbClr val="111827"/>
                </a:solidFill>
                <a:latin typeface="微软雅黑"/>
              </a:rPr>
              <a:t>生成式检索</a:t>
            </a:r>
            <a:endParaRPr sz="3400" b="1" dirty="0">
              <a:solidFill>
                <a:srgbClr val="11182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9473"/>
            <a:ext cx="3291840" cy="34028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微软雅黑"/>
              </a:rPr>
              <a:t>TIGER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73936"/>
            <a:ext cx="329184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latin typeface="微软雅黑"/>
              </a:rPr>
              <a:t>Recommender Systems with Generative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68880"/>
            <a:ext cx="3291840" cy="1298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POI 表征：BGE-M3
SID：RQ-VAE 1024×3
标识：S1 / S2 / S3 / C
</a:t>
            </a:r>
            <a:r>
              <a:rPr sz="1600" b="0" dirty="0" err="1">
                <a:latin typeface="微软雅黑"/>
              </a:rPr>
              <a:t>解码：无约束</a:t>
            </a:r>
            <a:r>
              <a:rPr sz="1600" b="0" dirty="0">
                <a:latin typeface="微软雅黑"/>
              </a:rPr>
              <a:t> Beam=10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9219" y="1329473"/>
            <a:ext cx="3291840" cy="34028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微软雅黑"/>
              </a:rPr>
              <a:t>GNPR-SID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9218" y="1773936"/>
            <a:ext cx="3502151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Generative Next POI Recommendation with Semantic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9219" y="2468880"/>
            <a:ext cx="3291840" cy="1298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POI </a:t>
            </a:r>
            <a:r>
              <a:rPr sz="1600" b="0" dirty="0" err="1">
                <a:latin typeface="微软雅黑"/>
              </a:rPr>
              <a:t>表征：文本</a:t>
            </a:r>
            <a:r>
              <a:rPr sz="1600" b="0" dirty="0">
                <a:latin typeface="微软雅黑"/>
              </a:rPr>
              <a:t> + </a:t>
            </a:r>
            <a:r>
              <a:rPr sz="1600" b="0" dirty="0" err="1">
                <a:latin typeface="微软雅黑"/>
              </a:rPr>
              <a:t>类别</a:t>
            </a:r>
            <a:r>
              <a:rPr sz="1600" b="0" dirty="0">
                <a:latin typeface="微软雅黑"/>
              </a:rPr>
              <a:t> + </a:t>
            </a:r>
            <a:r>
              <a:rPr sz="1600" b="0" dirty="0" err="1">
                <a:latin typeface="微软雅黑"/>
              </a:rPr>
              <a:t>区域</a:t>
            </a:r>
            <a:r>
              <a:rPr sz="1600" b="0" dirty="0">
                <a:latin typeface="微软雅黑"/>
              </a:rPr>
              <a:t>
</a:t>
            </a:r>
            <a:r>
              <a:rPr sz="1600" b="0" dirty="0" err="1">
                <a:latin typeface="微软雅黑"/>
              </a:rPr>
              <a:t>SID：Diversity</a:t>
            </a:r>
            <a:r>
              <a:rPr sz="1600" b="0" dirty="0">
                <a:latin typeface="微软雅黑"/>
              </a:rPr>
              <a:t> RQ-VAE 512×3
标识：S1 / S2 / S3 / [D]
</a:t>
            </a:r>
            <a:r>
              <a:rPr sz="1600" b="0" dirty="0" err="1">
                <a:latin typeface="微软雅黑"/>
              </a:rPr>
              <a:t>解码：无约束</a:t>
            </a:r>
            <a:r>
              <a:rPr sz="1600" b="0" dirty="0">
                <a:latin typeface="微软雅黑"/>
              </a:rPr>
              <a:t> Beam=10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1329473"/>
            <a:ext cx="3291840" cy="34028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latin typeface="微软雅黑"/>
              </a:rPr>
              <a:t>GenPOI</a:t>
            </a:r>
            <a:endParaRPr sz="2000" b="1" dirty="0"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19872" y="1773936"/>
            <a:ext cx="329184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Revisiting General Map Search via Generative POI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468880"/>
            <a:ext cx="3651714" cy="1298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POI </a:t>
            </a:r>
            <a:r>
              <a:rPr sz="1600" b="0" dirty="0" err="1">
                <a:latin typeface="微软雅黑"/>
              </a:rPr>
              <a:t>表征：Centered</a:t>
            </a:r>
            <a:r>
              <a:rPr sz="1600" b="0" dirty="0">
                <a:latin typeface="微软雅黑"/>
              </a:rPr>
              <a:t> BGE + GeoPE32
SID：RQ-VAE 1024×3
标识：GID6 + SID3 + [D]
</a:t>
            </a:r>
            <a:r>
              <a:rPr sz="1600" b="0" dirty="0" err="1">
                <a:latin typeface="微软雅黑"/>
              </a:rPr>
              <a:t>解码：SSP</a:t>
            </a:r>
            <a:r>
              <a:rPr sz="1600" b="0" dirty="0">
                <a:latin typeface="微软雅黑"/>
              </a:rPr>
              <a:t> + TCG Beam=10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855174"/>
            <a:ext cx="2291886" cy="34028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latin typeface="微软雅黑"/>
              </a:rPr>
              <a:t>统一复现链路</a:t>
            </a:r>
            <a:endParaRPr sz="2000" b="1" dirty="0">
              <a:latin typeface="微软雅黑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581588"/>
              </p:ext>
            </p:extLst>
          </p:nvPr>
        </p:nvGraphicFramePr>
        <p:xfrm>
          <a:off x="557048" y="4507991"/>
          <a:ext cx="11119945" cy="107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7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7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79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4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A3A6B"/>
                          </a:solidFill>
                          <a:latin typeface="微软雅黑"/>
                        </a:rPr>
                        <a:t>POI </a:t>
                      </a:r>
                      <a:r>
                        <a:rPr sz="1600" b="1" dirty="0" err="1">
                          <a:solidFill>
                            <a:srgbClr val="1A3A6B"/>
                          </a:solidFill>
                          <a:latin typeface="微软雅黑"/>
                        </a:rPr>
                        <a:t>表征</a:t>
                      </a:r>
                      <a:endParaRPr sz="1600" b="1" dirty="0">
                        <a:solidFill>
                          <a:srgbClr val="1A3A6B"/>
                        </a:solidFill>
                        <a:latin typeface="微软雅黑"/>
                      </a:endParaRP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A3A6B"/>
                          </a:solidFill>
                          <a:latin typeface="微软雅黑"/>
                        </a:rPr>
                        <a:t>SID </a:t>
                      </a:r>
                      <a:r>
                        <a:rPr sz="1600" b="1" dirty="0" err="1">
                          <a:solidFill>
                            <a:srgbClr val="1A3A6B"/>
                          </a:solidFill>
                          <a:latin typeface="微软雅黑"/>
                        </a:rPr>
                        <a:t>构建</a:t>
                      </a:r>
                      <a:endParaRPr sz="1600" b="1" dirty="0">
                        <a:solidFill>
                          <a:srgbClr val="1A3A6B"/>
                        </a:solidFill>
                        <a:latin typeface="微软雅黑"/>
                      </a:endParaRP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A3A6B"/>
                          </a:solidFill>
                          <a:latin typeface="微软雅黑"/>
                        </a:rPr>
                        <a:t>唯一标识</a:t>
                      </a:r>
                      <a:endParaRPr sz="1600" b="1" dirty="0">
                        <a:solidFill>
                          <a:srgbClr val="1A3A6B"/>
                        </a:solidFill>
                        <a:latin typeface="微软雅黑"/>
                      </a:endParaRP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A3A6B"/>
                          </a:solidFill>
                          <a:latin typeface="微软雅黑"/>
                        </a:rPr>
                        <a:t>生成模型</a:t>
                      </a:r>
                      <a:endParaRPr sz="1600" b="1" dirty="0">
                        <a:solidFill>
                          <a:srgbClr val="1A3A6B"/>
                        </a:solidFill>
                        <a:latin typeface="微软雅黑"/>
                      </a:endParaRP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A3A6B"/>
                          </a:solidFill>
                          <a:latin typeface="微软雅黑"/>
                        </a:rPr>
                        <a:t>固定评测</a:t>
                      </a:r>
                      <a:endParaRPr sz="1600" b="1" dirty="0">
                        <a:solidFill>
                          <a:srgbClr val="1A3A6B"/>
                        </a:solidFill>
                        <a:latin typeface="微软雅黑"/>
                      </a:endParaRP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3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北京</a:t>
                      </a:r>
                      <a:r>
                        <a:rPr lang="zh-CN" altLang="en-US" sz="1600" b="0" kern="120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全量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POI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</a:rPr>
                        <a:t>三层残差量化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</a:rPr>
                        <a:t>全量映射唯一 POI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</a:rPr>
                        <a:t>Qwen3-0.6B / 历史10条 / 3 epoch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10,000 Valid / Beam=10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A89B8E87-80EC-16E1-1C73-6467FE60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0"/>
            <a:ext cx="1708588" cy="762000"/>
          </a:xfrm>
        </p:spPr>
        <p:txBody>
          <a:bodyPr anchor="ctr"/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/>
              </a:rPr>
              <a:t>论文</a:t>
            </a:r>
            <a:r>
              <a:rPr sz="2800" b="1" dirty="0" err="1">
                <a:solidFill>
                  <a:srgbClr val="FFFFFF"/>
                </a:solidFill>
                <a:latin typeface="微软雅黑"/>
              </a:rPr>
              <a:t>复现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3441"/>
            <a:ext cx="3273552" cy="34028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latin typeface="微软雅黑"/>
              </a:rPr>
              <a:t>北京</a:t>
            </a:r>
            <a:r>
              <a:rPr sz="2000" b="1" dirty="0">
                <a:latin typeface="微软雅黑"/>
              </a:rPr>
              <a:t> POI </a:t>
            </a:r>
            <a:r>
              <a:rPr sz="2000" b="1" dirty="0" err="1">
                <a:latin typeface="微软雅黑"/>
              </a:rPr>
              <a:t>数据</a:t>
            </a:r>
            <a:endParaRPr sz="2000" b="1" dirty="0"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609344"/>
            <a:ext cx="3273552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latin typeface="微软雅黑"/>
              </a:rPr>
              <a:t>2,337,178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04288"/>
            <a:ext cx="3273552" cy="1298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latin typeface="微软雅黑"/>
              </a:rPr>
              <a:t>2026-07-15 固定分区
在线可检索，POI ID 唯一
文本：名称 / 地址 / 别名
空间：lng / 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4321" y="1073441"/>
            <a:ext cx="3273552" cy="34028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</a:t>
            </a:r>
            <a:r>
              <a:rPr sz="2000" b="1" dirty="0" err="1">
                <a:latin typeface="微软雅黑"/>
              </a:rPr>
              <a:t>检索发单数据</a:t>
            </a:r>
            <a:endParaRPr sz="2000" b="1" dirty="0"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84321" y="1609344"/>
            <a:ext cx="3273552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latin typeface="微软雅黑"/>
              </a:rPr>
              <a:t>8,790,513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4321" y="2304288"/>
            <a:ext cx="3273552" cy="1298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Train：7,586,410（07-01—12）
Valid：597,421（07-13）
Test：606,682（07-14）
</a:t>
            </a:r>
            <a:r>
              <a:rPr sz="1600" b="0" dirty="0" err="1">
                <a:latin typeface="微软雅黑"/>
              </a:rPr>
              <a:t>标签：最终发单</a:t>
            </a:r>
            <a:r>
              <a:rPr sz="1600" b="0" dirty="0">
                <a:latin typeface="微软雅黑"/>
              </a:rPr>
              <a:t> POI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1073441"/>
            <a:ext cx="3273552" cy="34028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latin typeface="微软雅黑"/>
              </a:rPr>
              <a:t>用户历史数据</a:t>
            </a:r>
            <a:endParaRPr sz="2000" b="1" dirty="0"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19872" y="1609344"/>
            <a:ext cx="3273552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latin typeface="微软雅黑"/>
              </a:rPr>
              <a:t>最近</a:t>
            </a:r>
            <a:r>
              <a:rPr sz="2800" b="1" dirty="0">
                <a:latin typeface="微软雅黑"/>
              </a:rPr>
              <a:t> 10 </a:t>
            </a:r>
            <a:r>
              <a:rPr sz="2800" b="1" dirty="0" err="1">
                <a:latin typeface="微软雅黑"/>
              </a:rPr>
              <a:t>条</a:t>
            </a:r>
            <a:endParaRPr sz="2800" b="1" dirty="0"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19872" y="2304288"/>
            <a:ext cx="3273552" cy="1298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latin typeface="微软雅黑"/>
              </a:rPr>
              <a:t>历史窗口：04-01—06-30
覆盖率：72.02%
平均历史长度：4.92
空历史样本保留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5E35D-D134-E42B-ABD0-5813EAE4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0"/>
            <a:ext cx="1708588" cy="76200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/>
              </a:rPr>
              <a:t>数据集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A4C505D-E632-0B4C-8F76-7B33B9A23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291" y="3458409"/>
            <a:ext cx="2774730" cy="322585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E5CD34A-1404-BF91-77A9-11477CE58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429000"/>
            <a:ext cx="3273552" cy="319777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12A7298-944D-65DA-06DE-276F26B13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69" y="3602736"/>
            <a:ext cx="3122422" cy="27933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" y="0"/>
            <a:ext cx="5061388" cy="762000"/>
          </a:xfrm>
        </p:spPr>
        <p:txBody>
          <a:bodyPr anchor="ctr"/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微软雅黑"/>
              </a:rPr>
              <a:t>地图</a:t>
            </a:r>
            <a:r>
              <a:rPr lang="zh-CN" altLang="en-US" sz="2800" b="1" dirty="0">
                <a:solidFill>
                  <a:srgbClr val="FFFFFF"/>
                </a:solidFill>
                <a:latin typeface="微软雅黑"/>
              </a:rPr>
              <a:t>检索 </a:t>
            </a:r>
            <a:r>
              <a:rPr sz="2800" b="1" dirty="0">
                <a:solidFill>
                  <a:srgbClr val="FFFFFF"/>
                </a:solidFill>
                <a:latin typeface="微软雅黑"/>
              </a:rPr>
              <a:t>POI</a:t>
            </a:r>
            <a:r>
              <a:rPr lang="zh-CN" altLang="en-US" sz="2800" b="1" dirty="0">
                <a:solidFill>
                  <a:srgbClr val="FFFFFF"/>
                </a:solidFill>
                <a:latin typeface="微软雅黑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微软雅黑"/>
              </a:rPr>
              <a:t>复现适配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940107"/>
              </p:ext>
            </p:extLst>
          </p:nvPr>
        </p:nvGraphicFramePr>
        <p:xfrm>
          <a:off x="325821" y="956441"/>
          <a:ext cx="11314491" cy="528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0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29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8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环节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TIGER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GNPR-SID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GenPOI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8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微软雅黑"/>
                        </a:rPr>
                        <a:t>POI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微软雅黑"/>
                        </a:rPr>
                        <a:t>输入</a:t>
                      </a:r>
                      <a:endParaRPr sz="1600" b="1" dirty="0">
                        <a:solidFill>
                          <a:srgbClr val="111827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BGE-M3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</a:rPr>
                        <a:t>文本向量</a:t>
                      </a:r>
                      <a:endParaRPr sz="1600" b="0" dirty="0">
                        <a:solidFill>
                          <a:srgbClr val="111827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</a:rPr>
                        <a:t>BGE-M3 + 类别 + PlusCode6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BGE-M3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</a:rPr>
                        <a:t>中心化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 + GeoPE32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8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rgbClr val="111827"/>
                          </a:solidFill>
                          <a:latin typeface="微软雅黑"/>
                        </a:rPr>
                        <a:t>量化器</a:t>
                      </a:r>
                      <a:endParaRPr sz="1600" b="1" dirty="0">
                        <a:solidFill>
                          <a:srgbClr val="111827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RQ-VAE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Diversity Loss RQ-VAE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RQ-VAE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8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1" dirty="0">
                          <a:solidFill>
                            <a:srgbClr val="111827"/>
                          </a:solidFill>
                          <a:latin typeface="微软雅黑"/>
                        </a:rPr>
                        <a:t>SID</a:t>
                      </a:r>
                      <a:r>
                        <a:rPr lang="zh-CN" altLang="en-US" sz="1600" b="1" dirty="0">
                          <a:solidFill>
                            <a:srgbClr val="111827"/>
                          </a:solidFill>
                          <a:latin typeface="微软雅黑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微软雅黑"/>
                        </a:rPr>
                        <a:t>标识</a:t>
                      </a:r>
                      <a:endParaRPr sz="1600" b="1" dirty="0">
                        <a:solidFill>
                          <a:srgbClr val="111827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</a:rPr>
                        <a:t>S1–S3 + 固定 C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S1–S3 + </a:t>
                      </a: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</a:rPr>
                        <a:t>条件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 D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</a:rPr>
                        <a:t>GID1–6 + S1–S3 + 条件 D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8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11827"/>
                          </a:solidFill>
                          <a:latin typeface="微软雅黑"/>
                        </a:rPr>
                        <a:t>SID </a:t>
                      </a:r>
                      <a:r>
                        <a:rPr sz="1600" b="1" dirty="0" err="1">
                          <a:solidFill>
                            <a:srgbClr val="111827"/>
                          </a:solidFill>
                          <a:latin typeface="微软雅黑"/>
                        </a:rPr>
                        <a:t>唯一率</a:t>
                      </a:r>
                      <a:endParaRPr sz="1600" b="1" dirty="0">
                        <a:solidFill>
                          <a:srgbClr val="111827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</a:rPr>
                        <a:t>71.6766%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77.7969%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65.7629%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8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微软雅黑"/>
                        </a:rPr>
                        <a:t>SFT 输入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11827"/>
                          </a:solidFill>
                          <a:latin typeface="微软雅黑"/>
                        </a:rPr>
                        <a:t>当前</a:t>
                      </a: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 Query/GID + 最近10条历史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 </a:t>
                      </a:r>
                      <a:r>
                        <a:rPr lang="en" altLang="zh-CN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Query/GID + 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最近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条历史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Query/GID + 最近10条历史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8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微软雅黑"/>
                        </a:rPr>
                        <a:t>解码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827"/>
                          </a:solidFill>
                          <a:latin typeface="微软雅黑"/>
                        </a:rPr>
                        <a:t>无约束 Beam=10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无约束 Beam=10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SSP + TCG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Trie，Beam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=10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83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827"/>
                          </a:solidFill>
                          <a:latin typeface="微软雅黑"/>
                        </a:rPr>
                        <a:t>训练资源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11827"/>
                          </a:solidFill>
                          <a:latin typeface="微软雅黑"/>
                        </a:rPr>
                        <a:t>4× RTX PRO 6000D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4× A100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4× A100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438912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111827"/>
                </a:solidFill>
                <a:latin typeface="微软雅黑"/>
              </a:rPr>
              <a:t>SID</a:t>
            </a:r>
            <a:r>
              <a:rPr lang="zh-CN" altLang="en-US" sz="2000" b="1" dirty="0">
                <a:solidFill>
                  <a:srgbClr val="111827"/>
                </a:solidFill>
                <a:latin typeface="微软雅黑"/>
              </a:rPr>
              <a:t> </a:t>
            </a:r>
            <a:r>
              <a:rPr lang="zh-CN" altLang="en-US" sz="200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endParaRPr sz="2000" b="1" dirty="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3146374"/>
            <a:ext cx="685800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11827"/>
                </a:solidFill>
                <a:latin typeface="微软雅黑"/>
              </a:rPr>
              <a:t>SFT </a:t>
            </a:r>
            <a:r>
              <a:rPr sz="2000" b="1" dirty="0" err="1">
                <a:solidFill>
                  <a:srgbClr val="111827"/>
                </a:solidFill>
                <a:latin typeface="微软雅黑"/>
              </a:rPr>
              <a:t>结果</a:t>
            </a:r>
            <a:endParaRPr sz="2000" b="1" dirty="0">
              <a:solidFill>
                <a:srgbClr val="111827"/>
              </a:solidFill>
              <a:latin typeface="微软雅黑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403871"/>
              </p:ext>
            </p:extLst>
          </p:nvPr>
        </p:nvGraphicFramePr>
        <p:xfrm>
          <a:off x="566928" y="3621862"/>
          <a:ext cx="108630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Epoch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Valid Loss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HR@1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HR@3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HR@5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HR@10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Valid ID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0.3848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44.78%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68.31%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74.98%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80.22%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63.2821%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69.350%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0.3058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50.14%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74.77%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80.98%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86.11%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69.0533%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74.428%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0.2965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51.87%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76.00%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82.26%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87.16%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70.4190%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74.105%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" y="5632704"/>
            <a:ext cx="10863072" cy="512064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5687568"/>
            <a:ext cx="10479024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latin typeface="微软雅黑"/>
              </a:rPr>
              <a:t>三层</a:t>
            </a:r>
            <a:r>
              <a:rPr b="1" dirty="0">
                <a:latin typeface="微软雅黑"/>
              </a:rPr>
              <a:t> SID </a:t>
            </a:r>
            <a:r>
              <a:rPr b="1" dirty="0" err="1">
                <a:latin typeface="微软雅黑"/>
              </a:rPr>
              <a:t>学习相对均衡；无约束生成中约</a:t>
            </a:r>
            <a:r>
              <a:rPr b="1" dirty="0">
                <a:latin typeface="微软雅黑"/>
              </a:rPr>
              <a:t> 25.90% </a:t>
            </a:r>
            <a:r>
              <a:rPr b="1" dirty="0" err="1">
                <a:latin typeface="微软雅黑"/>
              </a:rPr>
              <a:t>的候选不在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合法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SID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b="1" dirty="0">
                <a:latin typeface="微软雅黑"/>
              </a:rPr>
              <a:t>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A9B45-43F8-25A9-953B-AD7A77C9F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0"/>
            <a:ext cx="2801664" cy="762000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2800" dirty="0">
                <a:solidFill>
                  <a:srgbClr val="FFFFFF"/>
                </a:solidFill>
                <a:latin typeface="微软雅黑"/>
              </a:rPr>
              <a:t>TIGER</a:t>
            </a:r>
            <a:r>
              <a:rPr lang="zh-CN" altLang="en-US" sz="2800" dirty="0">
                <a:solidFill>
                  <a:srgbClr val="FFFFFF"/>
                </a:solidFill>
                <a:latin typeface="微软雅黑"/>
              </a:rPr>
              <a:t> 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0E91ADD-9AD9-7239-BDFD-2D7108CB8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85663"/>
              </p:ext>
            </p:extLst>
          </p:nvPr>
        </p:nvGraphicFramePr>
        <p:xfrm>
          <a:off x="566928" y="1283724"/>
          <a:ext cx="11297410" cy="1645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335">
                  <a:extLst>
                    <a:ext uri="{9D8B030D-6E8A-4147-A177-3AD203B41FA5}">
                      <a16:colId xmlns:a16="http://schemas.microsoft.com/office/drawing/2014/main" val="361122583"/>
                    </a:ext>
                  </a:extLst>
                </a:gridCol>
                <a:gridCol w="736598">
                  <a:extLst>
                    <a:ext uri="{9D8B030D-6E8A-4147-A177-3AD203B41FA5}">
                      <a16:colId xmlns:a16="http://schemas.microsoft.com/office/drawing/2014/main" val="3180244028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2028771202"/>
                    </a:ext>
                  </a:extLst>
                </a:gridCol>
                <a:gridCol w="1380709">
                  <a:extLst>
                    <a:ext uri="{9D8B030D-6E8A-4147-A177-3AD203B41FA5}">
                      <a16:colId xmlns:a16="http://schemas.microsoft.com/office/drawing/2014/main" val="227297792"/>
                    </a:ext>
                  </a:extLst>
                </a:gridCol>
                <a:gridCol w="1560119">
                  <a:extLst>
                    <a:ext uri="{9D8B030D-6E8A-4147-A177-3AD203B41FA5}">
                      <a16:colId xmlns:a16="http://schemas.microsoft.com/office/drawing/2014/main" val="1387340014"/>
                    </a:ext>
                  </a:extLst>
                </a:gridCol>
                <a:gridCol w="1398727">
                  <a:extLst>
                    <a:ext uri="{9D8B030D-6E8A-4147-A177-3AD203B41FA5}">
                      <a16:colId xmlns:a16="http://schemas.microsoft.com/office/drawing/2014/main" val="3252763199"/>
                    </a:ext>
                  </a:extLst>
                </a:gridCol>
                <a:gridCol w="3335426">
                  <a:extLst>
                    <a:ext uri="{9D8B030D-6E8A-4147-A177-3AD203B41FA5}">
                      <a16:colId xmlns:a16="http://schemas.microsoft.com/office/drawing/2014/main" val="3420284929"/>
                    </a:ext>
                  </a:extLst>
                </a:gridCol>
              </a:tblGrid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码本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Epoch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重构余弦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相似度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Distinct SID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Colliding POI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P99 / Max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Prefix1 / 2 / 3 Micro Purity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890648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256×3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86.26%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48.0925%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68.1294%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 / 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63.20% / 69.00% / 88.69%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970169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512×3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87.41%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61.7156%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52.7641%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 / 389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65.77% / 72.29% / 93.35%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544237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1024×3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71.6766%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40.7894%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 / 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69.28% / 77.27% / 96.28%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725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14845"/>
            <a:ext cx="685800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11827"/>
                </a:solidFill>
                <a:latin typeface="微软雅黑"/>
              </a:rPr>
              <a:t>SFT </a:t>
            </a:r>
            <a:r>
              <a:rPr sz="2000" b="1" dirty="0" err="1">
                <a:solidFill>
                  <a:srgbClr val="111827"/>
                </a:solidFill>
                <a:latin typeface="微软雅黑"/>
              </a:rPr>
              <a:t>结果</a:t>
            </a:r>
            <a:endParaRPr sz="2000" b="1" dirty="0">
              <a:solidFill>
                <a:srgbClr val="111827"/>
              </a:solidFill>
              <a:latin typeface="微软雅黑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880829"/>
              </p:ext>
            </p:extLst>
          </p:nvPr>
        </p:nvGraphicFramePr>
        <p:xfrm>
          <a:off x="566928" y="3590333"/>
          <a:ext cx="108630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Epoch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Valid Loss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HR@1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HR@3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HR@5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HR@10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Valid ID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0.5472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40.73%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63.42%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68.88%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73.42%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57.9210%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74.799%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0.4210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47.71%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70.90%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77.30%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81.52%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65.5149%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79.342%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0.4065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49.66%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72.61%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78.62%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83.07%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67.2390%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78.808%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" y="5632704"/>
            <a:ext cx="10863072" cy="512064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5687568"/>
            <a:ext cx="10479024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latin typeface="微软雅黑"/>
              </a:rPr>
              <a:t>SID </a:t>
            </a:r>
            <a:r>
              <a:rPr b="1" dirty="0" err="1">
                <a:latin typeface="微软雅黑"/>
              </a:rPr>
              <a:t>唯一率高于</a:t>
            </a:r>
            <a:r>
              <a:rPr b="1" dirty="0">
                <a:latin typeface="微软雅黑"/>
              </a:rPr>
              <a:t> </a:t>
            </a:r>
            <a:r>
              <a:rPr b="1" dirty="0" err="1">
                <a:latin typeface="微软雅黑"/>
              </a:rPr>
              <a:t>TIGER，但召回更低；逐层诊断将主因定位到</a:t>
            </a:r>
            <a:r>
              <a:rPr b="1" dirty="0">
                <a:latin typeface="微软雅黑"/>
              </a:rPr>
              <a:t> SID1 Query </a:t>
            </a:r>
            <a:r>
              <a:rPr b="1" dirty="0" err="1">
                <a:latin typeface="微软雅黑"/>
              </a:rPr>
              <a:t>可预测性</a:t>
            </a:r>
            <a:r>
              <a:rPr b="1" dirty="0">
                <a:latin typeface="微软雅黑"/>
              </a:rPr>
              <a:t>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C915F-3AF3-7894-0520-1F1B6B5F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" y="0"/>
            <a:ext cx="2181553" cy="762000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2800" b="1" dirty="0">
                <a:solidFill>
                  <a:srgbClr val="FFFFFF"/>
                </a:solidFill>
                <a:latin typeface="微软雅黑"/>
              </a:rPr>
              <a:t>GNPR-SID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A24ABC41-1C55-0FEA-CFF9-63F1B3CFB0A6}"/>
              </a:ext>
            </a:extLst>
          </p:cNvPr>
          <p:cNvSpPr txBox="1"/>
          <p:nvPr/>
        </p:nvSpPr>
        <p:spPr>
          <a:xfrm>
            <a:off x="566928" y="896112"/>
            <a:ext cx="438912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111827"/>
                </a:solidFill>
                <a:latin typeface="微软雅黑"/>
              </a:rPr>
              <a:t>SID</a:t>
            </a:r>
            <a:r>
              <a:rPr lang="zh-CN" altLang="en-US" sz="2000" b="1" dirty="0">
                <a:solidFill>
                  <a:srgbClr val="111827"/>
                </a:solidFill>
                <a:latin typeface="微软雅黑"/>
              </a:rPr>
              <a:t> </a:t>
            </a:r>
            <a:r>
              <a:rPr lang="zh-CN" altLang="en-US" sz="200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endParaRPr sz="2000" b="1" dirty="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23C3606-3043-1077-6DA1-46B4703D3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480602"/>
              </p:ext>
            </p:extLst>
          </p:nvPr>
        </p:nvGraphicFramePr>
        <p:xfrm>
          <a:off x="566928" y="1283724"/>
          <a:ext cx="11297410" cy="1645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335">
                  <a:extLst>
                    <a:ext uri="{9D8B030D-6E8A-4147-A177-3AD203B41FA5}">
                      <a16:colId xmlns:a16="http://schemas.microsoft.com/office/drawing/2014/main" val="361122583"/>
                    </a:ext>
                  </a:extLst>
                </a:gridCol>
                <a:gridCol w="736598">
                  <a:extLst>
                    <a:ext uri="{9D8B030D-6E8A-4147-A177-3AD203B41FA5}">
                      <a16:colId xmlns:a16="http://schemas.microsoft.com/office/drawing/2014/main" val="3180244028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2028771202"/>
                    </a:ext>
                  </a:extLst>
                </a:gridCol>
                <a:gridCol w="1380709">
                  <a:extLst>
                    <a:ext uri="{9D8B030D-6E8A-4147-A177-3AD203B41FA5}">
                      <a16:colId xmlns:a16="http://schemas.microsoft.com/office/drawing/2014/main" val="227297792"/>
                    </a:ext>
                  </a:extLst>
                </a:gridCol>
                <a:gridCol w="1560119">
                  <a:extLst>
                    <a:ext uri="{9D8B030D-6E8A-4147-A177-3AD203B41FA5}">
                      <a16:colId xmlns:a16="http://schemas.microsoft.com/office/drawing/2014/main" val="1387340014"/>
                    </a:ext>
                  </a:extLst>
                </a:gridCol>
                <a:gridCol w="1398727">
                  <a:extLst>
                    <a:ext uri="{9D8B030D-6E8A-4147-A177-3AD203B41FA5}">
                      <a16:colId xmlns:a16="http://schemas.microsoft.com/office/drawing/2014/main" val="3252763199"/>
                    </a:ext>
                  </a:extLst>
                </a:gridCol>
                <a:gridCol w="3335426">
                  <a:extLst>
                    <a:ext uri="{9D8B030D-6E8A-4147-A177-3AD203B41FA5}">
                      <a16:colId xmlns:a16="http://schemas.microsoft.com/office/drawing/2014/main" val="3420284929"/>
                    </a:ext>
                  </a:extLst>
                </a:gridCol>
              </a:tblGrid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码本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Epoch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重构余弦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相似度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Distinct SID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Colliding POI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P99 / Max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Prefix1 / 2 / 3 Micro Purity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890648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256×3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42.64%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78.15%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 / 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35.34% / 41.39% / 75.27%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970169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512×3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79.58%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77.80%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35.52%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 / 223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44.63% / 62.02% / 96.69%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544237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1024×3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63.18%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 / 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71.45% / 85.17% / 97.19%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725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14844"/>
            <a:ext cx="685800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11827"/>
                </a:solidFill>
                <a:latin typeface="微软雅黑"/>
              </a:rPr>
              <a:t>SFT </a:t>
            </a:r>
            <a:r>
              <a:rPr sz="2000" b="1" dirty="0" err="1">
                <a:solidFill>
                  <a:srgbClr val="111827"/>
                </a:solidFill>
                <a:latin typeface="微软雅黑"/>
              </a:rPr>
              <a:t>结果</a:t>
            </a:r>
            <a:endParaRPr sz="2000" b="1" dirty="0">
              <a:solidFill>
                <a:srgbClr val="111827"/>
              </a:solidFill>
              <a:latin typeface="微软雅黑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788993"/>
              </p:ext>
            </p:extLst>
          </p:nvPr>
        </p:nvGraphicFramePr>
        <p:xfrm>
          <a:off x="566928" y="3590332"/>
          <a:ext cx="10863072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Epoch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Valid Loss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HR@1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HR@3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HR@5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HR@10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Valid PID</a:t>
                      </a:r>
                    </a:p>
                  </a:txBody>
                  <a:tcPr marL="36576" marR="36576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0.2987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43.56%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67.84%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74.89%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80.49%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62.6556%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0.2257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50.04%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74.54%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81.12%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86.89%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69.2006%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36576" marR="36576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0.2171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51.98%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76.31%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82.77%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87.83%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70.7430%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" y="5632704"/>
            <a:ext cx="10863072" cy="512064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5687568"/>
            <a:ext cx="10479024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latin typeface="微软雅黑"/>
              </a:rPr>
              <a:t>GenPOI</a:t>
            </a:r>
            <a:r>
              <a:rPr b="1" dirty="0">
                <a:latin typeface="微软雅黑"/>
              </a:rPr>
              <a:t> 取得当前最佳结果；100% Valid PID </a:t>
            </a:r>
            <a:r>
              <a:rPr b="1" dirty="0" err="1">
                <a:latin typeface="微软雅黑"/>
              </a:rPr>
              <a:t>来自</a:t>
            </a:r>
            <a:r>
              <a:rPr b="1" dirty="0">
                <a:latin typeface="微软雅黑"/>
              </a:rPr>
              <a:t> TCG </a:t>
            </a:r>
            <a:r>
              <a:rPr b="1" dirty="0" err="1">
                <a:latin typeface="微软雅黑"/>
              </a:rPr>
              <a:t>合法路径约束</a:t>
            </a:r>
            <a:r>
              <a:rPr b="1" dirty="0">
                <a:latin typeface="微软雅黑"/>
              </a:rPr>
              <a:t>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F2B07-AE1F-A44E-DF80-27B243E7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" y="0"/>
            <a:ext cx="1855733" cy="762000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2800" b="1" dirty="0" err="1">
                <a:solidFill>
                  <a:srgbClr val="FFFFFF"/>
                </a:solidFill>
                <a:latin typeface="微软雅黑"/>
              </a:rPr>
              <a:t>GenPOI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0CE0ABA6-E7FA-673F-90C2-F331AC4FF93C}"/>
              </a:ext>
            </a:extLst>
          </p:cNvPr>
          <p:cNvSpPr txBox="1"/>
          <p:nvPr/>
        </p:nvSpPr>
        <p:spPr>
          <a:xfrm>
            <a:off x="566928" y="896112"/>
            <a:ext cx="4389120" cy="347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111827"/>
                </a:solidFill>
                <a:latin typeface="微软雅黑"/>
              </a:rPr>
              <a:t>SID</a:t>
            </a:r>
            <a:r>
              <a:rPr lang="zh-CN" altLang="en-US" sz="2000" b="1" dirty="0">
                <a:solidFill>
                  <a:srgbClr val="111827"/>
                </a:solidFill>
                <a:latin typeface="微软雅黑"/>
              </a:rPr>
              <a:t> </a:t>
            </a:r>
            <a:r>
              <a:rPr lang="zh-CN" altLang="en-US" sz="200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  <a:endParaRPr sz="2000" b="1" dirty="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D40CD07-603F-6AA2-7E12-713A47316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630177"/>
              </p:ext>
            </p:extLst>
          </p:nvPr>
        </p:nvGraphicFramePr>
        <p:xfrm>
          <a:off x="566928" y="1283724"/>
          <a:ext cx="11297410" cy="1645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335">
                  <a:extLst>
                    <a:ext uri="{9D8B030D-6E8A-4147-A177-3AD203B41FA5}">
                      <a16:colId xmlns:a16="http://schemas.microsoft.com/office/drawing/2014/main" val="361122583"/>
                    </a:ext>
                  </a:extLst>
                </a:gridCol>
                <a:gridCol w="736598">
                  <a:extLst>
                    <a:ext uri="{9D8B030D-6E8A-4147-A177-3AD203B41FA5}">
                      <a16:colId xmlns:a16="http://schemas.microsoft.com/office/drawing/2014/main" val="3180244028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2028771202"/>
                    </a:ext>
                  </a:extLst>
                </a:gridCol>
                <a:gridCol w="1380709">
                  <a:extLst>
                    <a:ext uri="{9D8B030D-6E8A-4147-A177-3AD203B41FA5}">
                      <a16:colId xmlns:a16="http://schemas.microsoft.com/office/drawing/2014/main" val="227297792"/>
                    </a:ext>
                  </a:extLst>
                </a:gridCol>
                <a:gridCol w="1560119">
                  <a:extLst>
                    <a:ext uri="{9D8B030D-6E8A-4147-A177-3AD203B41FA5}">
                      <a16:colId xmlns:a16="http://schemas.microsoft.com/office/drawing/2014/main" val="1387340014"/>
                    </a:ext>
                  </a:extLst>
                </a:gridCol>
                <a:gridCol w="1398727">
                  <a:extLst>
                    <a:ext uri="{9D8B030D-6E8A-4147-A177-3AD203B41FA5}">
                      <a16:colId xmlns:a16="http://schemas.microsoft.com/office/drawing/2014/main" val="3252763199"/>
                    </a:ext>
                  </a:extLst>
                </a:gridCol>
                <a:gridCol w="3335426">
                  <a:extLst>
                    <a:ext uri="{9D8B030D-6E8A-4147-A177-3AD203B41FA5}">
                      <a16:colId xmlns:a16="http://schemas.microsoft.com/office/drawing/2014/main" val="3420284929"/>
                    </a:ext>
                  </a:extLst>
                </a:gridCol>
              </a:tblGrid>
              <a:tr h="4113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码本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Epoch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重构余弦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相似度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Distinct SID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Colliding POI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P99 / Max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  <a:ea typeface="微软雅黑"/>
                        </a:rPr>
                        <a:t>Prefix1 / 2 / 3 Micro Purity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890648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256×3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56.98%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37.6343%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77.2117%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 / 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55.06% / 65.01% / 82.92%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970169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512×3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60.44%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54.2313%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60.8117%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 / 585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59.34% / 68.77% / 89.67%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544237"/>
                  </a:ext>
                </a:extLst>
              </a:tr>
              <a:tr h="41137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1024×3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63.56%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65.7629%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47.6248%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 / 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62.39% / 73.21% / 93.70%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725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199015"/>
              </p:ext>
            </p:extLst>
          </p:nvPr>
        </p:nvGraphicFramePr>
        <p:xfrm>
          <a:off x="409903" y="1082566"/>
          <a:ext cx="11382703" cy="2627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3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4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17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64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656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HR@3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HR@5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HR@10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NDCG@1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NDCG@3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NDCG@5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NDCG@10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Valid ID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1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TIGER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51.87%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76.00%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82.26%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87.16%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51.87%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66.2040%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68.7975%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70.4190%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74.105%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1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GNPR-SID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49.66%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72.61%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78.62%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83.07%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49.66%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63.2718%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65.7607%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67.2390%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78.808%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6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GenPOI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51.98%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76.31%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82.77%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87.83%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51.98%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66.4127%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69.0840%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70.7430%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913632"/>
            <a:ext cx="4389120" cy="34747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微软雅黑"/>
              </a:rPr>
              <a:t>结果分析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70832"/>
            <a:ext cx="10745356" cy="1977416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GenPOI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取得当前最佳完整方法结果，但相对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TIGER 的优势较小：HR@1 +0.11pp、HR@10 +0.67pp、NDCG@10 +0.324pp。
GNPR-SID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相对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TIGER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HR@1 / HR@10 / NDCG@10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分别低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2.21 / 4.09 / 3.180pp，尽管 Valid ID Rate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高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4.703pp。
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GenPOI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100% Valid PID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来自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TCG Trie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约束；TIGER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/GNPR 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按无约束生成，非法</a:t>
            </a:r>
            <a:r>
              <a:rPr lang="en-US" altLang="zh-CN"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SID</a:t>
            </a:r>
            <a:r>
              <a:rPr sz="16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保留排名并计为</a:t>
            </a:r>
            <a:r>
              <a:rPr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miss。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54A94-21D4-EEF2-16DD-B62503A7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0"/>
            <a:ext cx="1708588" cy="76200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/>
              </a:rPr>
              <a:t>复现结果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83045"/>
            <a:ext cx="10698480" cy="301621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latin typeface="微软雅黑"/>
              </a:rPr>
              <a:t>Gold-prefix </a:t>
            </a:r>
            <a:r>
              <a:rPr sz="1600" b="1" dirty="0" err="1">
                <a:latin typeface="微软雅黑"/>
              </a:rPr>
              <a:t>Teacher-Forcing：后一层始终看到正确前缀，用于定位层级学习难度</a:t>
            </a:r>
            <a:r>
              <a:rPr sz="1600" b="1" dirty="0">
                <a:latin typeface="微软雅黑"/>
              </a:rPr>
              <a:t>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542091"/>
              </p:ext>
            </p:extLst>
          </p:nvPr>
        </p:nvGraphicFramePr>
        <p:xfrm>
          <a:off x="566928" y="1499616"/>
          <a:ext cx="1085392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方法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SID1 Top-1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SID2 Top-1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SID3 Top-1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前2层累计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前3层累计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完整 ID Top-1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TIGER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75.06%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81.04%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85.70%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61.75%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53.98%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50.76%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GNPR-SID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53.69%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83.43%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92.02%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49.31%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48.50%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48.40%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GenPOI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83.97%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88.67%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89.27%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76.03%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69.90%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767328"/>
            <a:ext cx="5303520" cy="32918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111827"/>
                </a:solidFill>
                <a:latin typeface="微软雅黑"/>
              </a:rPr>
              <a:t>GenPOI</a:t>
            </a:r>
            <a:r>
              <a:rPr sz="1800" b="1" dirty="0">
                <a:solidFill>
                  <a:srgbClr val="111827"/>
                </a:solidFill>
                <a:latin typeface="微软雅黑"/>
              </a:rPr>
              <a:t> </a:t>
            </a:r>
            <a:r>
              <a:rPr sz="1800" b="1" dirty="0" err="1">
                <a:solidFill>
                  <a:srgbClr val="111827"/>
                </a:solidFill>
                <a:latin typeface="微软雅黑"/>
              </a:rPr>
              <a:t>的</a:t>
            </a:r>
            <a:r>
              <a:rPr sz="1800" b="1" dirty="0">
                <a:solidFill>
                  <a:srgbClr val="111827"/>
                </a:solidFill>
                <a:latin typeface="微软雅黑"/>
              </a:rPr>
              <a:t> GID </a:t>
            </a:r>
            <a:r>
              <a:rPr sz="1800" b="1" dirty="0" err="1">
                <a:solidFill>
                  <a:srgbClr val="111827"/>
                </a:solidFill>
                <a:latin typeface="微软雅黑"/>
              </a:rPr>
              <a:t>累计</a:t>
            </a:r>
            <a:r>
              <a:rPr sz="1800" b="1" dirty="0">
                <a:solidFill>
                  <a:srgbClr val="111827"/>
                </a:solidFill>
                <a:latin typeface="微软雅黑"/>
              </a:rPr>
              <a:t> Top-1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612281"/>
              </p:ext>
            </p:extLst>
          </p:nvPr>
        </p:nvGraphicFramePr>
        <p:xfrm>
          <a:off x="566928" y="4206240"/>
          <a:ext cx="1080820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位置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GID1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GID2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GID3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GID4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GID5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GID6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累计 Top-1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99.68%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91.66%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82.86%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73.12%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9536" y="5696606"/>
            <a:ext cx="9745402" cy="77734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latin typeface="微软雅黑"/>
              </a:rPr>
              <a:t>GNPR </a:t>
            </a:r>
            <a:r>
              <a:rPr b="1" dirty="0" err="1">
                <a:latin typeface="微软雅黑"/>
              </a:rPr>
              <a:t>的主要瓶颈是第一层</a:t>
            </a:r>
            <a:r>
              <a:rPr b="1" dirty="0">
                <a:latin typeface="微软雅黑"/>
              </a:rPr>
              <a:t> </a:t>
            </a:r>
            <a:r>
              <a:rPr b="1" dirty="0" err="1">
                <a:latin typeface="微软雅黑"/>
              </a:rPr>
              <a:t>SID；GenPOI</a:t>
            </a:r>
            <a:r>
              <a:rPr b="1" dirty="0">
                <a:latin typeface="微软雅黑"/>
              </a:rPr>
              <a:t> </a:t>
            </a:r>
            <a:r>
              <a:rPr b="1" dirty="0" err="1">
                <a:latin typeface="微软雅黑"/>
              </a:rPr>
              <a:t>在正确</a:t>
            </a:r>
            <a:r>
              <a:rPr b="1" dirty="0">
                <a:latin typeface="微软雅黑"/>
              </a:rPr>
              <a:t> GID </a:t>
            </a:r>
            <a:r>
              <a:rPr b="1" dirty="0" err="1">
                <a:latin typeface="微软雅黑"/>
              </a:rPr>
              <a:t>下三层</a:t>
            </a:r>
            <a:r>
              <a:rPr b="1" dirty="0">
                <a:latin typeface="微软雅黑"/>
              </a:rPr>
              <a:t> SID </a:t>
            </a:r>
            <a:r>
              <a:rPr b="1" dirty="0" err="1">
                <a:latin typeface="微软雅黑"/>
              </a:rPr>
              <a:t>最易学，但</a:t>
            </a:r>
            <a:r>
              <a:rPr b="1" dirty="0">
                <a:latin typeface="微软雅黑"/>
              </a:rPr>
              <a:t> GID4—GID6 </a:t>
            </a:r>
            <a:r>
              <a:rPr b="1" dirty="0" err="1">
                <a:latin typeface="微软雅黑"/>
              </a:rPr>
              <a:t>消耗了语义</a:t>
            </a:r>
            <a:r>
              <a:rPr b="1" dirty="0">
                <a:latin typeface="微软雅黑"/>
              </a:rPr>
              <a:t> SID </a:t>
            </a:r>
            <a:r>
              <a:rPr b="1" dirty="0" err="1">
                <a:latin typeface="微软雅黑"/>
              </a:rPr>
              <a:t>优势</a:t>
            </a:r>
            <a:r>
              <a:rPr b="1" dirty="0">
                <a:latin typeface="微软雅黑"/>
              </a:rPr>
              <a:t>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AC93A-1DF9-3867-F8E7-3E8E692C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0"/>
            <a:ext cx="2990850" cy="762000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2800" b="1" dirty="0">
                <a:solidFill>
                  <a:srgbClr val="FFFFFF"/>
                </a:solidFill>
                <a:latin typeface="微软雅黑"/>
              </a:rPr>
              <a:t>SID</a:t>
            </a:r>
            <a:r>
              <a:rPr lang="zh-CN" altLang="en-US" sz="2800" b="1" dirty="0">
                <a:solidFill>
                  <a:srgbClr val="FFFFFF"/>
                </a:solidFill>
                <a:latin typeface="微软雅黑"/>
              </a:rPr>
              <a:t> 不同层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09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402731"/>
              </p:ext>
            </p:extLst>
          </p:nvPr>
        </p:nvGraphicFramePr>
        <p:xfrm>
          <a:off x="566928" y="1097280"/>
          <a:ext cx="11173127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8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45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862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方法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SID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唯一率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GID+S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ID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HR@1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HR@1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问题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576" marR="36576" marT="32004" marB="3200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TIGER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71.6766%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51.87%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51.87%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70.4190%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非法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 / Collision Token</a:t>
                      </a:r>
                    </a:p>
                  </a:txBody>
                  <a:tcPr marL="36576" marR="36576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GNPR-SID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77.7969%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49.66%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49.66%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67.2390%</a:t>
                      </a: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SID1 Query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可预测性</a:t>
                      </a:r>
                      <a:endParaRPr sz="16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576" marR="36576" marT="32004" marB="3200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GenPOI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65.7629%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79.6911%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51.98%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51.98%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70.7430%</a:t>
                      </a: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GID4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GID6 /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Dedup</a:t>
                      </a:r>
                      <a:endParaRPr sz="16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576" marR="36576" marT="32004" marB="32004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73552"/>
            <a:ext cx="4389120" cy="34747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微软雅黑"/>
              </a:rPr>
              <a:t>问题定位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76472"/>
            <a:ext cx="2395728" cy="31089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微软雅黑"/>
              </a:rPr>
              <a:t>前缀组织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42816"/>
            <a:ext cx="2395728" cy="10241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latin typeface="微软雅黑"/>
              </a:rPr>
              <a:t>自回归检索首先依赖根</a:t>
            </a:r>
            <a:r>
              <a:rPr sz="1600" b="0" dirty="0">
                <a:latin typeface="微软雅黑"/>
              </a:rPr>
              <a:t> </a:t>
            </a:r>
            <a:r>
              <a:rPr sz="1600" b="0" dirty="0" err="1">
                <a:latin typeface="微软雅黑"/>
              </a:rPr>
              <a:t>Token；后层再准，也无法弥补根层预测错误</a:t>
            </a:r>
            <a:r>
              <a:rPr sz="1600" b="0" dirty="0">
                <a:latin typeface="微软雅黑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3776472"/>
            <a:ext cx="2395728" cy="31089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微软雅黑"/>
              </a:rPr>
              <a:t>地理路径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4242816"/>
            <a:ext cx="2395728" cy="10241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GID </a:t>
            </a:r>
            <a:r>
              <a:rPr sz="1600" b="0" dirty="0" err="1">
                <a:latin typeface="微软雅黑"/>
              </a:rPr>
              <a:t>能减少空间碰撞，但细粒度</a:t>
            </a:r>
            <a:r>
              <a:rPr sz="1600" b="0" dirty="0">
                <a:latin typeface="微软雅黑"/>
              </a:rPr>
              <a:t> GID </a:t>
            </a:r>
            <a:r>
              <a:rPr sz="1600" b="0" dirty="0" err="1">
                <a:latin typeface="微软雅黑"/>
              </a:rPr>
              <a:t>本身也必须能由</a:t>
            </a:r>
            <a:r>
              <a:rPr sz="1600" b="0" dirty="0">
                <a:latin typeface="微软雅黑"/>
              </a:rPr>
              <a:t> Query </a:t>
            </a:r>
            <a:r>
              <a:rPr sz="1600" b="0" dirty="0" err="1">
                <a:latin typeface="微软雅黑"/>
              </a:rPr>
              <a:t>稳定预测</a:t>
            </a:r>
            <a:r>
              <a:rPr sz="1600" b="0" dirty="0">
                <a:latin typeface="微软雅黑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3776472"/>
            <a:ext cx="2395728" cy="31089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微软雅黑"/>
              </a:rPr>
              <a:t>解码合法性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4242816"/>
            <a:ext cx="2395728" cy="10241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Trie </a:t>
            </a:r>
            <a:r>
              <a:rPr sz="1600" b="0" dirty="0" err="1">
                <a:latin typeface="微软雅黑"/>
              </a:rPr>
              <a:t>可以保证候选合法；合法率更高，不代表相关性和目标排序更优</a:t>
            </a:r>
            <a:r>
              <a:rPr sz="1600" b="0" dirty="0">
                <a:latin typeface="微软雅黑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3776472"/>
            <a:ext cx="2395728" cy="31089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微软雅黑"/>
              </a:rPr>
              <a:t>实体消歧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4242816"/>
            <a:ext cx="2395728" cy="10241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latin typeface="微软雅黑"/>
              </a:rPr>
              <a:t>Collision / </a:t>
            </a:r>
            <a:r>
              <a:rPr sz="1600" b="0" dirty="0" err="1">
                <a:latin typeface="微软雅黑"/>
              </a:rPr>
              <a:t>Dedup</a:t>
            </a:r>
            <a:r>
              <a:rPr sz="1600" b="0" dirty="0">
                <a:latin typeface="微软雅黑"/>
              </a:rPr>
              <a:t> </a:t>
            </a:r>
            <a:r>
              <a:rPr sz="1600" b="0" dirty="0" err="1">
                <a:latin typeface="微软雅黑"/>
              </a:rPr>
              <a:t>保证唯一，但缺少品牌、门牌和父子</a:t>
            </a:r>
            <a:r>
              <a:rPr sz="1600" b="0" dirty="0">
                <a:latin typeface="微软雅黑"/>
              </a:rPr>
              <a:t> POI </a:t>
            </a:r>
            <a:r>
              <a:rPr sz="1600" b="0" dirty="0" err="1">
                <a:latin typeface="微软雅黑"/>
              </a:rPr>
              <a:t>等明确语义</a:t>
            </a:r>
            <a:r>
              <a:rPr sz="1600" b="0" dirty="0">
                <a:latin typeface="微软雅黑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60136"/>
            <a:ext cx="10460736" cy="38404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GNPR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SID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唯一率最高但检索最差：结构去碰撞不是生成可学习性的充分条件。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82E0E18-EFAE-EF48-38A0-C78E60DB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0"/>
            <a:ext cx="1992368" cy="76200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/>
              </a:rPr>
              <a:t>总结分析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solidFill>
                  <a:srgbClr val="FFFFFF"/>
                </a:solidFill>
                <a:latin typeface="微软雅黑"/>
              </a:rPr>
              <a:t>Query–POI Embedding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0301" y="3444433"/>
            <a:ext cx="6126036" cy="28520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 err="1">
                <a:latin typeface="微软雅黑"/>
              </a:rPr>
              <a:t>冻结</a:t>
            </a:r>
            <a:r>
              <a:rPr sz="1600" b="0" dirty="0">
                <a:latin typeface="微软雅黑"/>
              </a:rPr>
              <a:t> BGE-M3，仅利用 Train </a:t>
            </a:r>
            <a:r>
              <a:rPr sz="1600" b="0" dirty="0" err="1">
                <a:latin typeface="微软雅黑"/>
              </a:rPr>
              <a:t>正样本</a:t>
            </a:r>
            <a:r>
              <a:rPr sz="1600" b="0" dirty="0">
                <a:latin typeface="微软雅黑"/>
              </a:rPr>
              <a:t> </a:t>
            </a:r>
            <a:r>
              <a:rPr sz="1600" b="0" dirty="0" err="1">
                <a:latin typeface="微软雅黑"/>
              </a:rPr>
              <a:t>Query→POI</a:t>
            </a:r>
            <a:r>
              <a:rPr sz="1600" b="0" dirty="0">
                <a:latin typeface="微软雅黑"/>
              </a:rPr>
              <a:t> </a:t>
            </a:r>
            <a:r>
              <a:rPr sz="1600" b="0" dirty="0" err="1">
                <a:latin typeface="微软雅黑"/>
              </a:rPr>
              <a:t>更新</a:t>
            </a:r>
            <a:r>
              <a:rPr sz="1600" b="0" dirty="0">
                <a:latin typeface="微软雅黑"/>
              </a:rPr>
              <a:t> POI </a:t>
            </a:r>
            <a:r>
              <a:rPr sz="1600" b="0" dirty="0" err="1">
                <a:latin typeface="微软雅黑"/>
              </a:rPr>
              <a:t>向量</a:t>
            </a:r>
            <a:r>
              <a:rPr sz="1600" b="0" dirty="0">
                <a:latin typeface="微软雅黑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05641"/>
            <a:ext cx="1439561" cy="331757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dirty="0">
                <a:solidFill>
                  <a:srgbClr val="111827"/>
                </a:solidFill>
                <a:latin typeface="微软雅黑"/>
              </a:rPr>
              <a:t>E0—E4 </a:t>
            </a:r>
            <a:r>
              <a:rPr sz="1900" b="1" dirty="0" err="1">
                <a:solidFill>
                  <a:srgbClr val="111827"/>
                </a:solidFill>
                <a:latin typeface="微软雅黑"/>
              </a:rPr>
              <a:t>设计</a:t>
            </a:r>
            <a:endParaRPr sz="1900" b="1" dirty="0">
              <a:solidFill>
                <a:srgbClr val="111827"/>
              </a:solidFill>
              <a:latin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21555"/>
              </p:ext>
            </p:extLst>
          </p:nvPr>
        </p:nvGraphicFramePr>
        <p:xfrm>
          <a:off x="566928" y="3941796"/>
          <a:ext cx="11027664" cy="2385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6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5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版本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具体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处理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固定参数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/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结果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BGE-M3 POI embedding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连续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检索基线</a:t>
                      </a:r>
                      <a:endParaRPr sz="16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5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E1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同一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POI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的历史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Query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等权均值后融合</a:t>
                      </a:r>
                      <a:endParaRPr sz="16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全局 α；最佳 α=0.30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5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log1p(count) × IDF/DF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抑制高频泛词</a:t>
                      </a:r>
                      <a:endParaRPr sz="16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全局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α=0.30；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有提升</a:t>
                      </a:r>
                      <a:endParaRPr sz="16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5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E3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POI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Kish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有效样本数动态调整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α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候选级变换破坏全局相对几何；淘汰</a:t>
                      </a:r>
                      <a:endParaRPr sz="1600" b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5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E4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E2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上去除类别公共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Query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α=0.30，β=0.85；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最佳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5B915FB-E67E-C721-F928-AA6D153AA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79298"/>
              </p:ext>
            </p:extLst>
          </p:nvPr>
        </p:nvGraphicFramePr>
        <p:xfrm>
          <a:off x="548647" y="1096203"/>
          <a:ext cx="10581809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7462">
                  <a:extLst>
                    <a:ext uri="{9D8B030D-6E8A-4147-A177-3AD203B41FA5}">
                      <a16:colId xmlns:a16="http://schemas.microsoft.com/office/drawing/2014/main" val="2007045088"/>
                    </a:ext>
                  </a:extLst>
                </a:gridCol>
                <a:gridCol w="1225262">
                  <a:extLst>
                    <a:ext uri="{9D8B030D-6E8A-4147-A177-3AD203B41FA5}">
                      <a16:colId xmlns:a16="http://schemas.microsoft.com/office/drawing/2014/main" val="2497572794"/>
                    </a:ext>
                  </a:extLst>
                </a:gridCol>
                <a:gridCol w="1225262">
                  <a:extLst>
                    <a:ext uri="{9D8B030D-6E8A-4147-A177-3AD203B41FA5}">
                      <a16:colId xmlns:a16="http://schemas.microsoft.com/office/drawing/2014/main" val="4067926606"/>
                    </a:ext>
                  </a:extLst>
                </a:gridCol>
                <a:gridCol w="1225262">
                  <a:extLst>
                    <a:ext uri="{9D8B030D-6E8A-4147-A177-3AD203B41FA5}">
                      <a16:colId xmlns:a16="http://schemas.microsoft.com/office/drawing/2014/main" val="2002905061"/>
                    </a:ext>
                  </a:extLst>
                </a:gridCol>
                <a:gridCol w="1225262">
                  <a:extLst>
                    <a:ext uri="{9D8B030D-6E8A-4147-A177-3AD203B41FA5}">
                      <a16:colId xmlns:a16="http://schemas.microsoft.com/office/drawing/2014/main" val="1424856483"/>
                    </a:ext>
                  </a:extLst>
                </a:gridCol>
                <a:gridCol w="1225262">
                  <a:extLst>
                    <a:ext uri="{9D8B030D-6E8A-4147-A177-3AD203B41FA5}">
                      <a16:colId xmlns:a16="http://schemas.microsoft.com/office/drawing/2014/main" val="3887285513"/>
                    </a:ext>
                  </a:extLst>
                </a:gridCol>
                <a:gridCol w="1448037">
                  <a:extLst>
                    <a:ext uri="{9D8B030D-6E8A-4147-A177-3AD203B41FA5}">
                      <a16:colId xmlns:a16="http://schemas.microsoft.com/office/drawing/2014/main" val="1087992972"/>
                    </a:ext>
                  </a:extLst>
                </a:gridCol>
              </a:tblGrid>
              <a:tr h="4679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模型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维度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Hit@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Hit@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Hit@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Hit@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NDCG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@10</a:t>
                      </a:r>
                    </a:p>
                  </a:txBody>
                  <a:tcPr marL="41148" marR="41148" marT="18288" marB="18288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828824"/>
                  </a:ext>
                </a:extLst>
              </a:tr>
              <a:tr h="4837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Qwen3-Embedding-0.6B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0.1194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0.1892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0.2298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0.2826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0.1938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003558"/>
                  </a:ext>
                </a:extLst>
              </a:tr>
              <a:tr h="49340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Qwen3-Embedding-4B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0.0960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0.1505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0.1758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0.2121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0.1498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427376"/>
                  </a:ext>
                </a:extLst>
              </a:tr>
              <a:tr h="49340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BAAI-bge-m3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1024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0.1199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0.2069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0.2525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0.3239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0.2121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3382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solidFill>
                  <a:srgbClr val="FFFFFF"/>
                </a:solidFill>
                <a:latin typeface="微软雅黑"/>
              </a:rPr>
              <a:t>E0—E4 </a:t>
            </a:r>
            <a:r>
              <a:rPr sz="2800" b="1" dirty="0" err="1">
                <a:solidFill>
                  <a:srgbClr val="FFFFFF"/>
                </a:solidFill>
                <a:latin typeface="微软雅黑"/>
              </a:rPr>
              <a:t>结果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630590"/>
              </p:ext>
            </p:extLst>
          </p:nvPr>
        </p:nvGraphicFramePr>
        <p:xfrm>
          <a:off x="453160" y="1024128"/>
          <a:ext cx="11066176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1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5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0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06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0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40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5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方法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Hit@1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Hit@3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Hit@5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Hit@10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Hit@20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MRR@10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5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E0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微软雅黑"/>
                        </a:rPr>
                        <a:t>原始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 BGE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11.99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20.69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25.25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32.39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40.25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17.7627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21.2113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5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E1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微软雅黑"/>
                        </a:rPr>
                        <a:t>等权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 Query（α=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0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.30）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17.51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29.79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36.98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48.27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58.90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26.0006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31.2401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5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E2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微软雅黑"/>
                        </a:rPr>
                        <a:t>加权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 Query（α=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0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.30）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18.53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32.52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40.02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51.18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62.10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27.7598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33.2917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5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E3 </a:t>
                      </a:r>
                      <a:r>
                        <a:rPr sz="1600" b="0" dirty="0" err="1">
                          <a:solidFill>
                            <a:schemeClr val="tx1"/>
                          </a:solidFill>
                          <a:latin typeface="微软雅黑"/>
                        </a:rPr>
                        <a:t>动态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 α（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微软雅黑"/>
                        </a:rPr>
                        <a:t>τ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=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20, </a:t>
                      </a:r>
                      <a:r>
                        <a:rPr lang="en-US" altLang="zh-CN" sz="1600" b="0" dirty="0" err="1">
                          <a:solidFill>
                            <a:schemeClr val="tx1"/>
                          </a:solidFill>
                          <a:latin typeface="微软雅黑"/>
                        </a:rPr>
                        <a:t>γ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=1</a:t>
                      </a: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）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14.85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25.28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31.61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41.13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50.65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22.0580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26.5432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5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E4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类别残差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（β=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0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.85）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20.02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34.92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43.76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56.37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66.78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30.2279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36.3976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948922"/>
            <a:ext cx="1011559" cy="331757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dirty="0" err="1">
                <a:solidFill>
                  <a:srgbClr val="111827"/>
                </a:solidFill>
                <a:latin typeface="微软雅黑"/>
              </a:rPr>
              <a:t>结果</a:t>
            </a:r>
            <a:r>
              <a:rPr lang="en-US" sz="1900" b="1" dirty="0" err="1">
                <a:solidFill>
                  <a:srgbClr val="111827"/>
                </a:solidFill>
                <a:latin typeface="微软雅黑"/>
              </a:rPr>
              <a:t>分析</a:t>
            </a:r>
            <a:endParaRPr sz="1900" b="1" dirty="0">
              <a:solidFill>
                <a:srgbClr val="111827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4434840"/>
            <a:ext cx="2344168" cy="12368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E4 vs E0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Hit@1  +8.03pp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Hit@10 +23.98pp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NDCG@10 +15.1863pp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434840"/>
            <a:ext cx="2499146" cy="12368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E4 vs E2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Hit@10 +5.19pp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NDCG@10 +3.1059pp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 err="1">
                <a:latin typeface="微软雅黑"/>
              </a:rPr>
              <a:t>去除类别公共方向继续增益</a:t>
            </a:r>
            <a:endParaRPr sz="1600" b="0" dirty="0"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19872" y="4434840"/>
            <a:ext cx="2285947" cy="12368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E3 vs E2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Hit@10 −10.05pp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NDCG@10 −6.7485pp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 err="1">
                <a:latin typeface="微软雅黑"/>
              </a:rPr>
              <a:t>单索引不能混用候选级</a:t>
            </a:r>
            <a:r>
              <a:rPr sz="1600" b="0" dirty="0">
                <a:latin typeface="微软雅黑"/>
              </a:rPr>
              <a:t> 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48" y="6004779"/>
            <a:ext cx="10664742" cy="3163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Query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不是</a:t>
            </a:r>
            <a:r>
              <a:rPr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越多越好</a:t>
            </a:r>
            <a:r>
              <a:rPr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统一全局变换下，去频次偏置与类别公共方向后，Query</a:t>
            </a:r>
            <a:r>
              <a:rPr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意图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增强</a:t>
            </a:r>
            <a:r>
              <a:rPr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POI </a:t>
            </a:r>
            <a:r>
              <a:rPr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表征</a:t>
            </a:r>
            <a:r>
              <a:rPr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solidFill>
                  <a:srgbClr val="FFFFFF"/>
                </a:solidFill>
                <a:latin typeface="微软雅黑"/>
              </a:rPr>
              <a:t>RQ-</a:t>
            </a:r>
            <a:r>
              <a:rPr sz="2800" b="1" dirty="0" err="1">
                <a:solidFill>
                  <a:srgbClr val="FFFFFF"/>
                </a:solidFill>
                <a:latin typeface="微软雅黑"/>
              </a:rPr>
              <a:t>KMeans</a:t>
            </a:r>
            <a:r>
              <a:rPr sz="2800" b="1" dirty="0">
                <a:solidFill>
                  <a:srgbClr val="FFFFFF"/>
                </a:solidFill>
                <a:latin typeface="微软雅黑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9314"/>
            <a:ext cx="5044651" cy="331757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lang="en-US" altLang="zh-CN" sz="1900" b="1" dirty="0">
                <a:solidFill>
                  <a:srgbClr val="111827"/>
                </a:solidFill>
                <a:latin typeface="微软雅黑"/>
              </a:rPr>
              <a:t>BGE</a:t>
            </a:r>
            <a:r>
              <a:rPr sz="1900" b="1" dirty="0">
                <a:solidFill>
                  <a:srgbClr val="111827"/>
                </a:solidFill>
                <a:latin typeface="微软雅黑"/>
              </a:rPr>
              <a:t>输入、同容量：RQ-VAE vs RQ-</a:t>
            </a:r>
            <a:r>
              <a:rPr sz="1900" b="1" dirty="0" err="1">
                <a:solidFill>
                  <a:srgbClr val="111827"/>
                </a:solidFill>
                <a:latin typeface="微软雅黑"/>
              </a:rPr>
              <a:t>KMeans</a:t>
            </a:r>
            <a:endParaRPr sz="1900" b="1" dirty="0">
              <a:solidFill>
                <a:srgbClr val="111827"/>
              </a:solidFill>
              <a:latin typeface="微软雅黑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364530"/>
              </p:ext>
            </p:extLst>
          </p:nvPr>
        </p:nvGraphicFramePr>
        <p:xfrm>
          <a:off x="566928" y="1548384"/>
          <a:ext cx="11027664" cy="1432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0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75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Quantizer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唯一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 SID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碰撞 POI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最大桶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L1/L2/L3 使用数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D1/D2/D3 micro-purity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TIGER RQ-VAE 1024³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71.6766%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40.7894%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561 / 1024 / 1024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69.2751 / 77.2651 / 96.2830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RQ-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KMeans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 1024³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76.0725%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36.1501%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467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1024 / 1024 / 1024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67.0196 / 76.8735 / 96.0949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246120"/>
            <a:ext cx="5029200" cy="3291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dirty="0" err="1">
                <a:solidFill>
                  <a:srgbClr val="111827"/>
                </a:solidFill>
                <a:latin typeface="微软雅黑"/>
              </a:rPr>
              <a:t>同</a:t>
            </a:r>
            <a:r>
              <a:rPr sz="1900" b="1" dirty="0">
                <a:solidFill>
                  <a:srgbClr val="111827"/>
                </a:solidFill>
                <a:latin typeface="微软雅黑"/>
              </a:rPr>
              <a:t> 30-bit </a:t>
            </a:r>
            <a:r>
              <a:rPr sz="1900" b="1" dirty="0" err="1">
                <a:solidFill>
                  <a:srgbClr val="111827"/>
                </a:solidFill>
                <a:latin typeface="微软雅黑"/>
              </a:rPr>
              <a:t>下的容量分配消融</a:t>
            </a:r>
            <a:endParaRPr sz="1900" b="1" dirty="0">
              <a:solidFill>
                <a:srgbClr val="111827"/>
              </a:solidFill>
              <a:latin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245814"/>
              </p:ext>
            </p:extLst>
          </p:nvPr>
        </p:nvGraphicFramePr>
        <p:xfrm>
          <a:off x="566929" y="3666744"/>
          <a:ext cx="11027664" cy="1809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5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2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32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453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RQ-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KMeans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布局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唯一 SID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碰撞 POI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最大桶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D1 purity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D2 purity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D3 purity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基础 Token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1024×1024×1024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76.0725%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36.1501%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467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67.0196%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76.8735%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96.0949%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3,072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2048×1024×512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78.9451%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32.7653%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163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68.8996%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80.2594%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96.7587%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3,584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5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4096×1024×256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81.8938%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29.1512%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96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68.8522%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83.3590%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97.1629%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5,376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25351" y="5650751"/>
            <a:ext cx="8741553" cy="55111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dirty="0">
                <a:latin typeface="微软雅黑"/>
              </a:rPr>
              <a:t>RQ-</a:t>
            </a:r>
            <a:r>
              <a:rPr sz="1600" b="1" dirty="0" err="1">
                <a:latin typeface="微软雅黑"/>
              </a:rPr>
              <a:t>KMeans</a:t>
            </a:r>
            <a:r>
              <a:rPr sz="1600" b="1" dirty="0">
                <a:latin typeface="微软雅黑"/>
              </a:rPr>
              <a:t> </a:t>
            </a:r>
            <a:r>
              <a:rPr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改善码本利用率与整体碰撞，但对称配置的浅层类别纯度更低、最大桶更大；非对称布局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进一步提升相关指标</a:t>
            </a:r>
            <a:r>
              <a:rPr sz="1600" b="1" dirty="0"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>
                <a:solidFill>
                  <a:srgbClr val="FFFFFF"/>
                </a:solidFill>
                <a:latin typeface="微软雅黑"/>
              </a:rPr>
              <a:t>Embedding × Quantizer 2×2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35355"/>
              </p:ext>
            </p:extLst>
          </p:nvPr>
        </p:nvGraphicFramePr>
        <p:xfrm>
          <a:off x="566928" y="956441"/>
          <a:ext cx="11027664" cy="215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0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Embedding × Quantizer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唯一 SID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碰撞 POI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最大桶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L1 使用数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D1 micro-purity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BGE × RQ-VAE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71.6766%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40.7894%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561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69.2751%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E4 × RQ-VAE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74.3539%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37.4194%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334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751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64.1303%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BGE × RQ-KMeans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76.0725%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36.1501%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67.0196%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E4 × RQ-KMeans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76.1573%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35.7477%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288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1024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61.7668%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96274"/>
              </p:ext>
            </p:extLst>
          </p:nvPr>
        </p:nvGraphicFramePr>
        <p:xfrm>
          <a:off x="566928" y="3429000"/>
          <a:ext cx="6720840" cy="176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6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改动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唯一率变化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碰撞 POI 变化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BGE→E4，RQ-VAE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+2.6774pp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−3.3700pp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BGE→E4，RQ-KMeans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+0.0848pp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−0.4024pp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RQ-VAE→RQ-KMeans，BGE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+4.3959pp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−4.6393pp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RQ-VAE→RQ-KMeans，E4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+1.8033pp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−1.6717pp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1696" y="3744284"/>
            <a:ext cx="3912896" cy="11342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E4 </a:t>
            </a:r>
            <a:r>
              <a:rPr sz="1600" b="0" dirty="0" err="1">
                <a:latin typeface="微软雅黑"/>
              </a:rPr>
              <a:t>与</a:t>
            </a:r>
            <a:r>
              <a:rPr sz="1600" b="0" dirty="0">
                <a:latin typeface="微软雅黑"/>
              </a:rPr>
              <a:t> RQ-</a:t>
            </a:r>
            <a:r>
              <a:rPr sz="1600" b="0" dirty="0" err="1">
                <a:latin typeface="微软雅黑"/>
              </a:rPr>
              <a:t>KMeans</a:t>
            </a:r>
            <a:r>
              <a:rPr sz="1600" b="0" dirty="0">
                <a:latin typeface="微软雅黑"/>
              </a:rPr>
              <a:t> </a:t>
            </a:r>
            <a:r>
              <a:rPr sz="1600" b="0" dirty="0" err="1">
                <a:latin typeface="微软雅黑"/>
              </a:rPr>
              <a:t>主要修复同一码本展开</a:t>
            </a:r>
            <a:r>
              <a:rPr sz="1600" b="0" dirty="0">
                <a:latin typeface="微软雅黑"/>
              </a:rPr>
              <a:t> / </a:t>
            </a:r>
            <a:r>
              <a:rPr sz="1600" b="0" dirty="0" err="1">
                <a:latin typeface="微软雅黑"/>
              </a:rPr>
              <a:t>碰撞瓶颈，因此平均唯一率收益不相加</a:t>
            </a:r>
            <a:r>
              <a:rPr sz="1600" b="0" dirty="0">
                <a:latin typeface="微软雅黑"/>
              </a:rPr>
              <a:t>。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dirty="0">
                <a:latin typeface="微软雅黑"/>
              </a:rPr>
              <a:t>E4 RQ-</a:t>
            </a:r>
            <a:r>
              <a:rPr sz="1600" b="0" dirty="0" err="1">
                <a:latin typeface="微软雅黑"/>
              </a:rPr>
              <a:t>KMeans</a:t>
            </a:r>
            <a:r>
              <a:rPr sz="1600" b="0" dirty="0">
                <a:latin typeface="微软雅黑"/>
              </a:rPr>
              <a:t> </a:t>
            </a:r>
            <a:r>
              <a:rPr sz="1600" b="0" dirty="0" err="1">
                <a:latin typeface="微软雅黑"/>
              </a:rPr>
              <a:t>最大桶</a:t>
            </a:r>
            <a:r>
              <a:rPr sz="1600" b="0" dirty="0">
                <a:latin typeface="微软雅黑"/>
              </a:rPr>
              <a:t> 467→288，互补性集中在长尾碰撞。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7513" y="5625296"/>
            <a:ext cx="8706493" cy="5525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E4 </a:t>
            </a:r>
            <a:r>
              <a:rPr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在两种</a:t>
            </a:r>
            <a:r>
              <a:rPr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Quantizer </a:t>
            </a:r>
            <a:r>
              <a:rPr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下都降低</a:t>
            </a:r>
            <a:r>
              <a:rPr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D1 </a:t>
            </a:r>
            <a:r>
              <a:rPr sz="16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静态类别纯度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减去了类别公共 Query 方向</a:t>
            </a:r>
            <a:r>
              <a:rPr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强化Query 意图；别名；分店；门牌；局部地址等检索区分信息。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微软雅黑"/>
              </a:rPr>
              <a:t>容量前移</a:t>
            </a:r>
            <a:r>
              <a:rPr lang="zh-CN" altLang="en-US" sz="2800" dirty="0">
                <a:solidFill>
                  <a:srgbClr val="FFFFFF"/>
                </a:solidFill>
                <a:latin typeface="微软雅黑"/>
              </a:rPr>
              <a:t>和</a:t>
            </a:r>
            <a:r>
              <a:rPr sz="2800" b="1" dirty="0" err="1">
                <a:solidFill>
                  <a:srgbClr val="FFFFFF"/>
                </a:solidFill>
                <a:latin typeface="微软雅黑"/>
              </a:rPr>
              <a:t>生成难度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714401"/>
              </p:ext>
            </p:extLst>
          </p:nvPr>
        </p:nvGraphicFramePr>
        <p:xfrm>
          <a:off x="566928" y="987550"/>
          <a:ext cx="10931389" cy="200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8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1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19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E4 RQ-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KMeans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布局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唯一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 SID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碰撞 POI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最大桶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D1/D2/D3 micro-purity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基础 Token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9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1024³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76.1573%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35.7477%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288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61.7668 / 74.1673 / 95.4859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3,072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9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2048×1024×512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79.8731%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31.4021%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143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63.1348 / 78.1489 / 96.4413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3,584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97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4096×1024×256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82.7331%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27.9655%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125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63.6370 / 81.3855 / 96.8838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5,376</a:t>
                      </a:r>
                    </a:p>
                  </a:txBody>
                  <a:tcPr marL="54864" marR="54864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62306"/>
            <a:ext cx="5029200" cy="32918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111827"/>
                </a:solidFill>
                <a:latin typeface="微软雅黑"/>
              </a:rPr>
              <a:t>Train 目标分布：预测难度被前移到 S1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637014"/>
              </p:ext>
            </p:extLst>
          </p:nvPr>
        </p:nvGraphicFramePr>
        <p:xfrm>
          <a:off x="566927" y="3771427"/>
          <a:ext cx="10931390" cy="187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4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8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9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布局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H(S1)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有效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 S1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微软雅黑"/>
                        </a:rPr>
                        <a:t>分支</a:t>
                      </a:r>
                      <a:endParaRPr sz="1600" b="1" dirty="0">
                        <a:solidFill>
                          <a:schemeClr val="tx1"/>
                        </a:solidFill>
                        <a:latin typeface="微软雅黑"/>
                      </a:endParaRP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微软雅黑"/>
                        </a:rPr>
                        <a:t>H(S2|S1)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H(S3|S1:2)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chemeClr val="tx1"/>
                          </a:solidFill>
                          <a:latin typeface="微软雅黑"/>
                        </a:rPr>
                        <a:t>完整路径熵</a:t>
                      </a:r>
                    </a:p>
                  </a:txBody>
                  <a:tcPr marL="54864" marR="54864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9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1024³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8.5439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373.2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5.5170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1.1841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15.2450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2048×1024×512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9.4141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682.2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4.9869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0.9485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15.3495</a:t>
                      </a:r>
                    </a:p>
                  </a:txBody>
                  <a:tcPr marL="54864" marR="54864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9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4096×1024×256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10.2215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1,193.9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chemeClr val="tx1"/>
                          </a:solidFill>
                          <a:latin typeface="微软雅黑"/>
                        </a:rPr>
                        <a:t>4.4830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0.7387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chemeClr val="tx1"/>
                          </a:solidFill>
                          <a:latin typeface="微软雅黑"/>
                        </a:rPr>
                        <a:t>15.4432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612768" y="5854901"/>
            <a:ext cx="5966720" cy="3163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b="1" dirty="0">
                <a:latin typeface="微软雅黑"/>
              </a:rPr>
              <a:t>4096 </a:t>
            </a:r>
            <a:r>
              <a:rPr b="1" dirty="0" err="1">
                <a:latin typeface="微软雅黑"/>
              </a:rPr>
              <a:t>的纯</a:t>
            </a:r>
            <a:r>
              <a:rPr b="1" dirty="0">
                <a:latin typeface="微软雅黑"/>
              </a:rPr>
              <a:t> SID </a:t>
            </a:r>
            <a:r>
              <a:rPr b="1" dirty="0" err="1">
                <a:latin typeface="微软雅黑"/>
              </a:rPr>
              <a:t>结构最好，但第一步分类与词表成本最高</a:t>
            </a:r>
            <a:endParaRPr b="1" dirty="0">
              <a:latin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 b="1" dirty="0">
                <a:solidFill>
                  <a:srgbClr val="FFFFFF"/>
                </a:solidFill>
                <a:latin typeface="微软雅黑"/>
              </a:rPr>
              <a:t>实验</a:t>
            </a:r>
            <a:r>
              <a:rPr sz="2800" b="1" dirty="0" err="1">
                <a:solidFill>
                  <a:srgbClr val="FFFFFF"/>
                </a:solidFill>
                <a:latin typeface="微软雅黑"/>
              </a:rPr>
              <a:t>总结</a:t>
            </a:r>
            <a:endParaRPr sz="28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18520" y="6473952"/>
            <a:ext cx="621792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微软雅黑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66061" cy="3438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lang="zh-CN" altLang="en-US" sz="200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sz="2000" b="1" dirty="0" err="1">
                <a:solidFill>
                  <a:srgbClr val="111827"/>
                </a:solidFill>
                <a:latin typeface="微软雅黑"/>
              </a:rPr>
              <a:t>结论</a:t>
            </a:r>
            <a:endParaRPr sz="2000" b="1" dirty="0">
              <a:solidFill>
                <a:srgbClr val="111827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3081540" cy="37838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论文复现： GenPOI、TIGER 整体差距有限；主要瓶颈并非单纯 SID 唯一率，而是 SID 的可预测性与层级语义质量。 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连续表征： 正向 Query 增强显著改善 POI 检索空间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离散量化： RQ-KMeans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提高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唯一率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缓解 RQ-VAE 第一层码本利用不足问题。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容量分配： 固定 30-bit 时，容量前移至 S1 可继续降低碰撞；但第一层预测复杂度同步增加。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9120" y="1161288"/>
            <a:ext cx="1066061" cy="3438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lang="zh-CN" altLang="en-US" sz="200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存在</a:t>
            </a:r>
            <a:r>
              <a:rPr sz="2000" b="1" dirty="0" err="1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</a:t>
            </a:r>
            <a:endParaRPr sz="2000" b="1" dirty="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1755648"/>
            <a:ext cx="3081540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容量前移虽然提高唯一率，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但加大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S1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生成难度。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E4 强化 Query 检索意图后，静态类别纯度有所下降，需要由 SFT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判断哪种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结果更好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将地理信息作为独立 GID 或生成前缀，会额外增加生成长度和空间 token 预测负担；同时固定 Geohash 离散存在边界效应，地理约束应如何进入生成过程仍未确定。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随机 Collision Token 只能保证唯一，无法表达分店、楼号、楼层、商铺等真实实体差异。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1161288"/>
            <a:ext cx="1069267" cy="3438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lang="zh-CN" altLang="en-US" sz="2000" b="1" dirty="0">
                <a:solidFill>
                  <a:srgbClr val="1118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后续优化</a:t>
            </a:r>
            <a:endParaRPr sz="2000" b="1" dirty="0">
              <a:solidFill>
                <a:srgbClr val="11182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19873" y="1755648"/>
            <a:ext cx="3220917" cy="43156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加容量后移对照，验证 POI Semantic ID 更强调前层语义组织还是后层实体细分。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选取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布局进行SFT，以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评测指标选择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最终基础 SID。 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不把 Geo 特征混入 Semantic SID；进一步比较 GID 前缀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后缀生成</a:t>
            </a: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、条件空间约束和解码阶段空间剪枝，确定地理信息最合理的作用位置。 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08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在基础 SID 上进一步解决碰撞，探索基础 SID 表达共享检索语义，仅对冲突 POI 使用楼号、父实体、商铺号、局部空间关系等最小关系后缀完成实体消歧。</a:t>
            </a: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RkYTBlMGFkODI3ZDFhOWRjMTg5ZjcxNDZhYWMw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3783</TotalTime>
  <Words>2219</Words>
  <Application>Microsoft Macintosh PowerPoint</Application>
  <PresentationFormat>宽屏</PresentationFormat>
  <Paragraphs>684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微软雅黑</vt:lpstr>
      <vt:lpstr>微软雅黑</vt:lpstr>
      <vt:lpstr>Noto Sans CJK SC</vt:lpstr>
      <vt:lpstr>Arial</vt:lpstr>
      <vt:lpstr>Calibri</vt:lpstr>
      <vt:lpstr>Times New Roman</vt:lpstr>
      <vt:lpstr>Office Theme</vt:lpstr>
      <vt:lpstr>PowerPoint 演示文稿</vt:lpstr>
      <vt:lpstr>论文复现</vt:lpstr>
      <vt:lpstr>数据集</vt:lpstr>
      <vt:lpstr>地图检索 POI 复现适配</vt:lpstr>
      <vt:lpstr>TIGER </vt:lpstr>
      <vt:lpstr>GNPR-SID</vt:lpstr>
      <vt:lpstr>GenPOI</vt:lpstr>
      <vt:lpstr>复现结果</vt:lpstr>
      <vt:lpstr>SID 不同层</vt:lpstr>
      <vt:lpstr>总结分析</vt:lpstr>
      <vt:lpstr>Query–POI Embedding </vt:lpstr>
      <vt:lpstr>E0—E4 结果</vt:lpstr>
      <vt:lpstr>RQ-KMeans </vt:lpstr>
      <vt:lpstr>Embedding × Quantizer 2×2</vt:lpstr>
      <vt:lpstr>容量前移和生成难度</vt:lpstr>
      <vt:lpstr>实验总结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 POI 检索项目方案与实验进展（汇报版）</dc:title>
  <dc:subject>内容讲解与实验指标混合排版</dc:subject>
  <dc:creator>POI Generative Retrieval</dc:creator>
  <dc:description>generated using python-pptx</dc:description>
  <cp:lastModifiedBy>didi</cp:lastModifiedBy>
  <cp:revision>329</cp:revision>
  <dcterms:created xsi:type="dcterms:W3CDTF">2013-01-27T09:14:00Z</dcterms:created>
  <dcterms:modified xsi:type="dcterms:W3CDTF">2026-08-09T16:13:32Z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DE24D9AFC49D4824B665D83DF2C9688F_13</vt:lpwstr>
  </property>
  <property fmtid="{D5CDD505-2E9C-101B-9397-08002B2CF9AE}" pid="3" name="KSOProductBuildVer">
    <vt:lpwstr>2052-12.1.0.17827</vt:lpwstr>
  </property>
</Properties>
</file>