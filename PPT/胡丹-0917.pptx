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3" r:id="rId9"/>
    <p:sldId id="274" r:id="rId10"/>
    <p:sldId id="275" r:id="rId11"/>
    <p:sldId id="276" r:id="rId12"/>
    <p:sldId id="290" r:id="rId13"/>
    <p:sldId id="292" r:id="rId14"/>
    <p:sldId id="287" r:id="rId15"/>
    <p:sldId id="286" r:id="rId16"/>
    <p:sldId id="288" r:id="rId17"/>
    <p:sldId id="289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78" r:id="rId26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6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4FF"/>
    <a:srgbClr val="F8FBFD"/>
    <a:srgbClr val="2E7CF6"/>
    <a:srgbClr val="9ECCFD"/>
    <a:srgbClr val="93C5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1"/>
    <p:restoredTop sz="86714"/>
  </p:normalViewPr>
  <p:slideViewPr>
    <p:cSldViewPr snapToGrid="0" snapToObjects="1" showGuides="1">
      <p:cViewPr varScale="1">
        <p:scale>
          <a:sx n="105" d="100"/>
          <a:sy n="105" d="100"/>
        </p:scale>
        <p:origin x="880" y="176"/>
      </p:cViewPr>
      <p:guideLst>
        <p:guide orient="horz" pos="2226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501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396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sz="12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34059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255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6120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35814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7460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4420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602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0756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347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40259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95436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7C58-B12D-4BC4-F4AA-DFCCA004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55B238-DBDC-C400-00FB-C42DAFCAA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046F09F-82A5-4C21-93F2-33DE6B7A9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82B946-6F19-51FE-89F6-AD3C3C2D7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5090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31BA5-D19A-15CD-E8B8-F9823452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B52F0D-CD97-C969-ABB4-B943E8F6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375DEA-F301-E26D-1DB8-1F651AB4E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3B1EF5-9AC7-330E-4ACC-3FDFDB02DE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8305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F0688-A755-7E46-6D25-F49E88FA7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87DD57-8249-1FC6-11EB-E72DB2A66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F17B5F-F20F-E223-A48E-07810E3AA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AE6BEBC-C86E-CD78-2F9F-225599407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7792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3E4BC-EF00-9DC7-F7CD-5195EAAE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31912A-29E8-7353-5A7C-B0D2803B4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F1A032-B8F3-B31D-4FDE-6525AF01F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2B87C01-7F61-9934-3CD5-8F35081280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077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C864C-59CE-A7E0-F04B-22948318B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1841AA-C7A6-C161-1B81-0A33CFAC1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6AD14C0-0773-0524-C85C-ECFFFFAA9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F1458D9-C997-EDEA-03DF-D4D2A2F30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9478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68C5-96CE-F4EA-5A34-9EFD97DDB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0D10B02-CC37-552A-F36F-20BC14DA8B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F2156D-EE98-4C08-5210-CAD6765E8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D327188-CAF1-E4BF-C985-781A383C0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80566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35E3A-E224-5595-F4D7-645D55BD3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63BBE8-A28F-05C4-C03D-63AF2F683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0DBA6D-E256-36EE-33F1-3718BD2E5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8DD0EE6-04EE-919D-969D-CBBD6FE0C5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3883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6489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F8015-DF84-41FA-9E94-BA51DE2E4658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3B06F-833C-4282-8B21-93F195BE9DCF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21281-1D44-441C-9DDE-B4936627E1FE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997AF-337D-4308-80A8-0E4FAAFEF77A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0E11C-AF29-404B-84BD-C97916AD109A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8B016-4D35-4FFA-AAB2-911F490527D3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98FBFD-206E-4DB4-97C7-5AD8A1A0F586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EDB8-0579-4265-A8F4-6EA70868C754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23B87-9435-4C0A-8A1E-F5BBFA32C3C5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62101-079D-4F99-B83B-6106A3082DC1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6800F-0336-42AD-AB4C-E188E73DB4FB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结束页">
    <p:bg>
      <p:bgPr>
        <a:solidFill>
          <a:srgbClr val="0252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-5259" y="6586256"/>
            <a:ext cx="12192001" cy="23495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311" y="6615448"/>
            <a:ext cx="207699" cy="176566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46" y="6473952"/>
            <a:ext cx="11201983" cy="0"/>
          </a:xfrm>
          <a:prstGeom prst="line">
            <a:avLst/>
          </a:prstGeom>
          <a:noFill/>
          <a:ln w="9525">
            <a:solidFill>
              <a:srgbClr val="E6E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93145" y="6519672"/>
            <a:ext cx="2011785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7C9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MobilityBench POI, N=109385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9207" y="6519672"/>
            <a:ext cx="800042" cy="300000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rgbClr val="9AA8B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/>
          <p:cNvSpPr/>
          <p:nvPr userDrawn="1"/>
        </p:nvSpPr>
        <p:spPr>
          <a:xfrm>
            <a:off x="0" y="0"/>
            <a:ext cx="12192000" cy="762000"/>
          </a:xfrm>
          <a:prstGeom prst="rect">
            <a:avLst/>
          </a:prstGeom>
          <a:gradFill>
            <a:gsLst>
              <a:gs pos="0">
                <a:srgbClr val="1A3A6B"/>
              </a:gs>
              <a:gs pos="100000">
                <a:srgbClr val="2E7CF6"/>
              </a:gs>
            </a:gsLst>
            <a:lin ang="0" scaled="1"/>
          </a:gradFill>
          <a:ln>
            <a:noFill/>
          </a:ln>
        </p:spPr>
      </p:sp>
      <p:sp>
        <p:nvSpPr>
          <p:cNvPr id="8" name="Rectangle 4"/>
          <p:cNvSpPr/>
          <p:nvPr userDrawn="1"/>
        </p:nvSpPr>
        <p:spPr>
          <a:xfrm>
            <a:off x="0" y="0"/>
            <a:ext cx="57150" cy="762000"/>
          </a:xfrm>
          <a:prstGeom prst="rect">
            <a:avLst/>
          </a:prstGeom>
          <a:solidFill>
            <a:srgbClr val="00C2A8"/>
          </a:solidFill>
          <a:ln>
            <a:noFill/>
          </a:ln>
        </p:spPr>
      </p:sp>
      <p:sp>
        <p:nvSpPr>
          <p:cNvPr id="9" name="Rectangle 8"/>
          <p:cNvSpPr/>
          <p:nvPr userDrawn="1"/>
        </p:nvSpPr>
        <p:spPr>
          <a:xfrm>
            <a:off x="0" y="762000"/>
            <a:ext cx="12192000" cy="38100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150" y="0"/>
            <a:ext cx="8229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614C7-14EB-4084-AC4C-AAFA56794DEF}" type="datetime1">
              <a:rPr lang="en-US" altLang="zh-CN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b="1" kern="1200" baseline="0">
          <a:solidFill>
            <a:schemeClr val="bg1"/>
          </a:solidFill>
          <a:latin typeface="Times New Roman" panose="02020603050405020304" pitchFamily="18" charset="0"/>
          <a:ea typeface="微软雅黑" panose="020B0503020204020204" pitchFamily="34" charset="-122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5.05065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xiv.org/abs/2605.03397" TargetMode="External"/><Relationship Id="rId5" Type="http://schemas.openxmlformats.org/officeDocument/2006/relationships/hyperlink" Target="https://arxiv.org/abs/2605.14434" TargetMode="External"/><Relationship Id="rId4" Type="http://schemas.openxmlformats.org/officeDocument/2006/relationships/hyperlink" Target="https://arxiv.org/abs/2608.24207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749039" y="2897463"/>
            <a:ext cx="4700016" cy="56015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sz="3400" b="1" dirty="0" err="1">
                <a:solidFill>
                  <a:srgbClr val="000000"/>
                </a:solidFill>
                <a:latin typeface="微软雅黑"/>
              </a:rPr>
              <a:t>生成式检索</a:t>
            </a:r>
            <a:endParaRPr sz="3400" b="1" dirty="0">
              <a:solidFill>
                <a:srgbClr val="111827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4A94-21D4-EEF2-16DD-B62503A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10" y="91441"/>
            <a:ext cx="3516367" cy="576072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生成式检索</a:t>
            </a:r>
            <a:endParaRPr sz="2800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6" name="method_node"/>
          <p:cNvSpPr/>
          <p:nvPr/>
        </p:nvSpPr>
        <p:spPr>
          <a:xfrm>
            <a:off x="603504" y="1611762"/>
            <a:ext cx="2441448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 dirty="0">
                <a:solidFill>
                  <a:srgbClr val="111827"/>
                </a:solidFill>
                <a:latin typeface="Microsoft YaHei"/>
                <a:ea typeface="微软雅黑"/>
              </a:rPr>
              <a:t>POI </a:t>
            </a: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文本</a:t>
            </a:r>
            <a:r>
              <a:rPr lang="zh-CN" altLang="en-US" dirty="0">
                <a:solidFill>
                  <a:srgbClr val="111827"/>
                </a:solidFill>
                <a:latin typeface="Microsoft YaHei"/>
                <a:ea typeface="微软雅黑"/>
              </a:rPr>
              <a:t>向量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7" name="method_node"/>
          <p:cNvSpPr/>
          <p:nvPr/>
        </p:nvSpPr>
        <p:spPr>
          <a:xfrm>
            <a:off x="3447288" y="1611762"/>
            <a:ext cx="2441448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SID Tokenizer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S1 → S2 → S3</a:t>
            </a:r>
          </a:p>
        </p:txBody>
      </p:sp>
      <p:cxnSp>
        <p:nvCxnSpPr>
          <p:cNvPr id="8" name="method_edge"/>
          <p:cNvCxnSpPr/>
          <p:nvPr/>
        </p:nvCxnSpPr>
        <p:spPr>
          <a:xfrm>
            <a:off x="3090672" y="2023243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thod_node"/>
          <p:cNvSpPr/>
          <p:nvPr/>
        </p:nvSpPr>
        <p:spPr>
          <a:xfrm>
            <a:off x="6291072" y="1611762"/>
            <a:ext cx="2441448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Query + 位置 + 历史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生成模型 SFT</a:t>
            </a:r>
          </a:p>
        </p:txBody>
      </p:sp>
      <p:cxnSp>
        <p:nvCxnSpPr>
          <p:cNvPr id="10" name="method_edge"/>
          <p:cNvCxnSpPr/>
          <p:nvPr/>
        </p:nvCxnSpPr>
        <p:spPr>
          <a:xfrm>
            <a:off x="5934455" y="2023243"/>
            <a:ext cx="310897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method_node"/>
          <p:cNvSpPr/>
          <p:nvPr/>
        </p:nvSpPr>
        <p:spPr>
          <a:xfrm>
            <a:off x="9134856" y="1611762"/>
            <a:ext cx="2441448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Beam Search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Top-K POI</a:t>
            </a:r>
          </a:p>
        </p:txBody>
      </p:sp>
      <p:cxnSp>
        <p:nvCxnSpPr>
          <p:cNvPr id="12" name="method_edge"/>
          <p:cNvCxnSpPr/>
          <p:nvPr/>
        </p:nvCxnSpPr>
        <p:spPr>
          <a:xfrm>
            <a:off x="8778240" y="2023243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ethod_edge"/>
          <p:cNvCxnSpPr/>
          <p:nvPr/>
        </p:nvCxnSpPr>
        <p:spPr>
          <a:xfrm>
            <a:off x="3494532" y="2498731"/>
            <a:ext cx="0" cy="384048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ethod_edge"/>
          <p:cNvCxnSpPr/>
          <p:nvPr/>
        </p:nvCxnSpPr>
        <p:spPr>
          <a:xfrm flipH="1">
            <a:off x="1994916" y="2882779"/>
            <a:ext cx="1499616" cy="0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ethod_edge"/>
          <p:cNvCxnSpPr/>
          <p:nvPr/>
        </p:nvCxnSpPr>
        <p:spPr>
          <a:xfrm>
            <a:off x="1994916" y="2882779"/>
            <a:ext cx="0" cy="310896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ethod_node"/>
          <p:cNvSpPr/>
          <p:nvPr/>
        </p:nvSpPr>
        <p:spPr>
          <a:xfrm>
            <a:off x="632459" y="3211963"/>
            <a:ext cx="3516347" cy="932688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zh-CN" altLang="en-US" dirty="0">
                <a:solidFill>
                  <a:srgbClr val="111827"/>
                </a:solidFill>
                <a:latin typeface="Microsoft YaHei"/>
                <a:ea typeface="微软雅黑"/>
              </a:rPr>
              <a:t>问题一：POI 内容相似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zh-CN" altLang="en-US" dirty="0">
                <a:solidFill>
                  <a:srgbClr val="111827"/>
                </a:solidFill>
                <a:latin typeface="Microsoft YaHei"/>
                <a:ea typeface="微软雅黑"/>
              </a:rPr>
              <a:t>不等于 Query 指向相同目标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cxnSp>
        <p:nvCxnSpPr>
          <p:cNvPr id="17" name="method_edge"/>
          <p:cNvCxnSpPr/>
          <p:nvPr/>
        </p:nvCxnSpPr>
        <p:spPr>
          <a:xfrm>
            <a:off x="5850833" y="2498731"/>
            <a:ext cx="0" cy="384048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ethod_edge"/>
          <p:cNvCxnSpPr/>
          <p:nvPr/>
        </p:nvCxnSpPr>
        <p:spPr>
          <a:xfrm>
            <a:off x="5850833" y="2882779"/>
            <a:ext cx="1088136" cy="0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thod_edge"/>
          <p:cNvCxnSpPr/>
          <p:nvPr/>
        </p:nvCxnSpPr>
        <p:spPr>
          <a:xfrm>
            <a:off x="6938969" y="2882779"/>
            <a:ext cx="0" cy="310896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ethod_node"/>
          <p:cNvSpPr/>
          <p:nvPr/>
        </p:nvSpPr>
        <p:spPr>
          <a:xfrm>
            <a:off x="4616393" y="3211963"/>
            <a:ext cx="3784656" cy="932688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zh-CN" altLang="en-US" dirty="0">
                <a:solidFill>
                  <a:srgbClr val="111827"/>
                </a:solidFill>
                <a:latin typeface="Microsoft YaHei"/>
                <a:ea typeface="微软雅黑"/>
              </a:rPr>
              <a:t>问题二：同类、同名 POI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zh-CN" altLang="en-US" dirty="0">
                <a:solidFill>
                  <a:srgbClr val="111827"/>
                </a:solidFill>
                <a:latin typeface="Microsoft YaHei"/>
                <a:ea typeface="微软雅黑"/>
              </a:rPr>
              <a:t>需要结合位置做实体区分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364107"/>
            <a:ext cx="5166360" cy="3931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 dirty="0">
                <a:solidFill>
                  <a:srgbClr val="000000"/>
                </a:solidFill>
                <a:latin typeface="Microsoft YaHei"/>
                <a:ea typeface="微软雅黑"/>
              </a:rPr>
              <a:t>Query 粒度监督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" y="4821307"/>
            <a:ext cx="3735903" cy="594359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粗类 Query 对齐粗前缀，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精确 Query 才约束完整 SID。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364107"/>
            <a:ext cx="5166360" cy="3931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>
                <a:solidFill>
                  <a:srgbClr val="000000"/>
                </a:solidFill>
                <a:latin typeface="Microsoft YaHei"/>
                <a:ea typeface="微软雅黑"/>
              </a:rPr>
              <a:t>类别与局部地理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4821307"/>
            <a:ext cx="5075710" cy="594359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前两层组织类别语义，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末层在地理父组内区分实体。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43128" y="1719073"/>
            <a:ext cx="2267712" cy="60350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 dirty="0" err="1">
                <a:solidFill>
                  <a:srgbClr val="000000"/>
                </a:solidFill>
                <a:latin typeface="Microsoft YaHei"/>
                <a:ea typeface="微软雅黑"/>
              </a:rPr>
              <a:t>静态碰撞减少</a:t>
            </a:r>
            <a:endParaRPr b="1" dirty="0">
              <a:solidFill>
                <a:srgbClr val="000000"/>
              </a:solidFill>
              <a:latin typeface="Microsoft YaHe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36577" y="1778226"/>
            <a:ext cx="2843784" cy="5760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但</a:t>
            </a:r>
            <a:r>
              <a:rPr b="0" dirty="0">
                <a:solidFill>
                  <a:srgbClr val="111827"/>
                </a:solidFill>
                <a:latin typeface="Microsoft YaHei"/>
                <a:ea typeface="微软雅黑"/>
              </a:rPr>
              <a:t> SFT </a:t>
            </a: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未同步提升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9" name="method_node"/>
          <p:cNvSpPr/>
          <p:nvPr/>
        </p:nvSpPr>
        <p:spPr>
          <a:xfrm>
            <a:off x="6400800" y="1636776"/>
            <a:ext cx="5148072" cy="804672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SID 构建需考虑 Query 可预测性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81308"/>
            <a:ext cx="2135486" cy="60350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 dirty="0">
                <a:solidFill>
                  <a:srgbClr val="000000"/>
                </a:solidFill>
                <a:latin typeface="Microsoft YaHei"/>
                <a:ea typeface="微软雅黑"/>
              </a:rPr>
              <a:t>Query </a:t>
            </a:r>
            <a:r>
              <a:rPr b="1" dirty="0" err="1">
                <a:solidFill>
                  <a:srgbClr val="000000"/>
                </a:solidFill>
                <a:latin typeface="Microsoft YaHei"/>
                <a:ea typeface="微软雅黑"/>
              </a:rPr>
              <a:t>聚合能改善连续召回</a:t>
            </a:r>
            <a:endParaRPr b="1" dirty="0">
              <a:solidFill>
                <a:srgbClr val="000000"/>
              </a:solidFill>
              <a:latin typeface="Microsoft YaHe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52216" y="2734056"/>
            <a:ext cx="2843784" cy="5760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但逐</a:t>
            </a:r>
            <a:r>
              <a:rPr b="0" dirty="0">
                <a:solidFill>
                  <a:srgbClr val="111827"/>
                </a:solidFill>
                <a:latin typeface="Microsoft YaHei"/>
                <a:ea typeface="微软雅黑"/>
              </a:rPr>
              <a:t> POI </a:t>
            </a: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动态融合不稳定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13" name="method_node"/>
          <p:cNvSpPr/>
          <p:nvPr/>
        </p:nvSpPr>
        <p:spPr>
          <a:xfrm>
            <a:off x="6400800" y="2615184"/>
            <a:ext cx="5148072" cy="804672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>
                <a:solidFill>
                  <a:srgbClr val="111827"/>
                </a:solidFill>
                <a:latin typeface="Microsoft YaHei"/>
                <a:ea typeface="微软雅黑"/>
              </a:rPr>
              <a:t>独立 Query 视图，共享离散索引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96276"/>
            <a:ext cx="2267712" cy="459627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 dirty="0">
                <a:solidFill>
                  <a:srgbClr val="000000"/>
                </a:solidFill>
                <a:latin typeface="Microsoft YaHei"/>
                <a:ea typeface="微软雅黑"/>
              </a:rPr>
              <a:t>S1 </a:t>
            </a:r>
            <a:r>
              <a:rPr b="1" dirty="0" err="1">
                <a:solidFill>
                  <a:srgbClr val="000000"/>
                </a:solidFill>
                <a:latin typeface="Microsoft YaHei"/>
                <a:ea typeface="微软雅黑"/>
              </a:rPr>
              <a:t>硬绑定</a:t>
            </a:r>
            <a:r>
              <a:rPr b="1" dirty="0">
                <a:solidFill>
                  <a:srgbClr val="000000"/>
                </a:solidFill>
                <a:latin typeface="Microsoft YaHei"/>
                <a:ea typeface="微软雅黑"/>
              </a:rPr>
              <a:t> 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2088" y="3689322"/>
            <a:ext cx="2764223" cy="5760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大类被压进一个根节点，路径坍塌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17" name="method_node"/>
          <p:cNvSpPr/>
          <p:nvPr/>
        </p:nvSpPr>
        <p:spPr>
          <a:xfrm>
            <a:off x="6400800" y="3593592"/>
            <a:ext cx="5148072" cy="804672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类别只做可分裂的软结构锚点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4942361"/>
            <a:ext cx="2267712" cy="459627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b="1" dirty="0" err="1">
                <a:solidFill>
                  <a:srgbClr val="000000"/>
                </a:solidFill>
                <a:latin typeface="Microsoft YaHei"/>
                <a:ea typeface="微软雅黑"/>
              </a:rPr>
              <a:t>Poi语义</a:t>
            </a:r>
            <a:r>
              <a:rPr b="1" dirty="0" err="1">
                <a:solidFill>
                  <a:srgbClr val="000000"/>
                </a:solidFill>
                <a:latin typeface="Microsoft YaHei"/>
                <a:ea typeface="微软雅黑"/>
              </a:rPr>
              <a:t>加入地理</a:t>
            </a:r>
            <a:r>
              <a:rPr lang="zh-CN" altLang="en-US" b="1" dirty="0">
                <a:solidFill>
                  <a:srgbClr val="000000"/>
                </a:solidFill>
                <a:latin typeface="Microsoft YaHei"/>
                <a:ea typeface="微软雅黑"/>
              </a:rPr>
              <a:t>表征</a:t>
            </a:r>
            <a:endParaRPr b="1" dirty="0">
              <a:solidFill>
                <a:srgbClr val="000000"/>
              </a:solidFill>
              <a:latin typeface="Microsoft YaHei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42527" y="4933188"/>
            <a:ext cx="2843784" cy="5760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solidFill>
                  <a:srgbClr val="111827"/>
                </a:solidFill>
                <a:latin typeface="Microsoft YaHei"/>
                <a:ea typeface="微软雅黑"/>
              </a:rPr>
              <a:t>会干扰跨区域语义组织</a:t>
            </a:r>
            <a:endParaRPr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21" name="method_node"/>
          <p:cNvSpPr/>
          <p:nvPr/>
        </p:nvSpPr>
        <p:spPr>
          <a:xfrm>
            <a:off x="6400800" y="4572000"/>
            <a:ext cx="5148072" cy="804672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b="0" dirty="0">
                <a:solidFill>
                  <a:srgbClr val="111827"/>
                </a:solidFill>
                <a:latin typeface="Microsoft YaHei"/>
                <a:ea typeface="微软雅黑"/>
              </a:rPr>
              <a:t>Geo 在 GID/S1/S2 父组内约束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751576"/>
            <a:ext cx="10972800" cy="60350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402C40C3-0A3E-8D98-BB57-D5C8F0B1DE74}"/>
              </a:ext>
            </a:extLst>
          </p:cNvPr>
          <p:cNvSpPr txBox="1">
            <a:spLocks/>
          </p:cNvSpPr>
          <p:nvPr/>
        </p:nvSpPr>
        <p:spPr>
          <a:xfrm>
            <a:off x="120210" y="91441"/>
            <a:ext cx="3516367" cy="576072"/>
          </a:xfrm>
          <a:prstGeom prst="rect">
            <a:avLst/>
          </a:prstGeom>
        </p:spPr>
        <p:txBody>
          <a:bodyPr vert="horz" wrap="square" lIns="27432" tIns="18288" rIns="27432" bIns="18288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1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en-US" altLang="zh-CN" sz="2800" dirty="0">
                <a:solidFill>
                  <a:srgbClr val="FFFFFF"/>
                </a:solidFill>
                <a:latin typeface="Microsoft YaHei"/>
                <a:ea typeface="微软雅黑"/>
              </a:rPr>
              <a:t>SID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 问题</a:t>
            </a:r>
            <a:endParaRPr lang="zh-CN" altLang="en-US" sz="2800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43128" y="1408905"/>
            <a:ext cx="1609344" cy="3383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dirty="0">
                <a:latin typeface="Microsoft YaHei"/>
                <a:ea typeface="微软雅黑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1399822"/>
            <a:ext cx="3803904" cy="48677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POI 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内容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→ RQ-VAE → 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分层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SID</a:t>
            </a:r>
          </a:p>
        </p:txBody>
      </p:sp>
      <p:cxnSp>
        <p:nvCxnSpPr>
          <p:cNvPr id="8" name="method_edge"/>
          <p:cNvCxnSpPr/>
          <p:nvPr/>
        </p:nvCxnSpPr>
        <p:spPr>
          <a:xfrm>
            <a:off x="6153912" y="1584844"/>
            <a:ext cx="466344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21424" y="1399822"/>
            <a:ext cx="4727448" cy="486773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Tokenizer 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不看真实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Query 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分布</a:t>
            </a: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cxnSp>
        <p:nvCxnSpPr>
          <p:cNvPr id="10" name="method_edge"/>
          <p:cNvCxnSpPr/>
          <p:nvPr/>
        </p:nvCxnSpPr>
        <p:spPr>
          <a:xfrm>
            <a:off x="594360" y="2023756"/>
            <a:ext cx="10954512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2310946"/>
            <a:ext cx="1609344" cy="3383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dirty="0">
                <a:latin typeface="Microsoft YaHei"/>
                <a:ea typeface="微软雅黑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PRQ-</a:t>
            </a:r>
            <a:r>
              <a:rPr sz="1600" dirty="0" err="1">
                <a:latin typeface="Microsoft YaHei"/>
                <a:ea typeface="微软雅黑"/>
              </a:rPr>
              <a:t>KMeans</a:t>
            </a:r>
            <a:endParaRPr sz="1600" dirty="0">
              <a:latin typeface="Microsoft YaHei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04288" y="2243212"/>
            <a:ext cx="3648456" cy="5852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去全局方向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+ soft centroid + projection residual</a:t>
            </a:r>
          </a:p>
        </p:txBody>
      </p:sp>
      <p:cxnSp>
        <p:nvCxnSpPr>
          <p:cNvPr id="13" name="method_edge"/>
          <p:cNvCxnSpPr/>
          <p:nvPr/>
        </p:nvCxnSpPr>
        <p:spPr>
          <a:xfrm>
            <a:off x="6153912" y="2526676"/>
            <a:ext cx="466344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21424" y="2325506"/>
            <a:ext cx="4727448" cy="50292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只建模单一实体视图，不对齐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Query token</a:t>
            </a:r>
          </a:p>
        </p:txBody>
      </p:sp>
      <p:cxnSp>
        <p:nvCxnSpPr>
          <p:cNvPr id="15" name="method_edge"/>
          <p:cNvCxnSpPr/>
          <p:nvPr/>
        </p:nvCxnSpPr>
        <p:spPr>
          <a:xfrm>
            <a:off x="594360" y="2965588"/>
            <a:ext cx="10954512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5961" y="3267281"/>
            <a:ext cx="996696" cy="3383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dirty="0">
                <a:latin typeface="Microsoft YaHei"/>
                <a:ea typeface="微软雅黑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CQ-SID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3185044"/>
            <a:ext cx="3803904" cy="5852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首层类别约束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+ 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高置信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Query–Item Bi-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InfoNCE</a:t>
            </a: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cxnSp>
        <p:nvCxnSpPr>
          <p:cNvPr id="18" name="method_edge"/>
          <p:cNvCxnSpPr/>
          <p:nvPr/>
        </p:nvCxnSpPr>
        <p:spPr>
          <a:xfrm>
            <a:off x="6153912" y="3468508"/>
            <a:ext cx="466344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21424" y="3162563"/>
            <a:ext cx="4727448" cy="5029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首层硬类别；未按 Query 歧义</a:t>
            </a: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分配逐层监督深度</a:t>
            </a: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cxnSp>
        <p:nvCxnSpPr>
          <p:cNvPr id="20" name="method_edge"/>
          <p:cNvCxnSpPr/>
          <p:nvPr/>
        </p:nvCxnSpPr>
        <p:spPr>
          <a:xfrm>
            <a:off x="594360" y="3907420"/>
            <a:ext cx="10954512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" y="4243032"/>
            <a:ext cx="1609344" cy="3383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dirty="0" err="1">
                <a:latin typeface="Microsoft YaHei"/>
                <a:ea typeface="微软雅黑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GenPOI</a:t>
            </a:r>
            <a:endParaRPr sz="1600" dirty="0">
              <a:latin typeface="Microsoft YaHei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304288" y="4243037"/>
            <a:ext cx="3803904" cy="5029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文本与 Geo 表示、GID 与生成约束</a:t>
            </a:r>
          </a:p>
        </p:txBody>
      </p:sp>
      <p:cxnSp>
        <p:nvCxnSpPr>
          <p:cNvPr id="23" name="method_edge"/>
          <p:cNvCxnSpPr/>
          <p:nvPr/>
        </p:nvCxnSpPr>
        <p:spPr>
          <a:xfrm>
            <a:off x="6153912" y="4410339"/>
            <a:ext cx="466344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21424" y="4128732"/>
            <a:ext cx="4727448" cy="469059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已建模地理，但未按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 Query</a:t>
            </a:r>
            <a:endParaRPr lang="en-US" sz="1600" dirty="0">
              <a:solidFill>
                <a:srgbClr val="111827"/>
              </a:solidFill>
              <a:latin typeface="Microsoft YaHei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目标分布定义监督深度</a:t>
            </a: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cxnSp>
        <p:nvCxnSpPr>
          <p:cNvPr id="25" name="method_edge"/>
          <p:cNvCxnSpPr/>
          <p:nvPr/>
        </p:nvCxnSpPr>
        <p:spPr>
          <a:xfrm>
            <a:off x="594360" y="4849252"/>
            <a:ext cx="10954512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ethod_node"/>
          <p:cNvSpPr/>
          <p:nvPr/>
        </p:nvSpPr>
        <p:spPr>
          <a:xfrm>
            <a:off x="1152144" y="5559552"/>
            <a:ext cx="9838944" cy="54864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zh-CN" altLang="en-US" dirty="0">
                <a:solidFill>
                  <a:schemeClr val="tx1"/>
                </a:solidFill>
                <a:latin typeface="Microsoft YaHei"/>
                <a:ea typeface="微软雅黑"/>
              </a:rPr>
              <a:t>QG-HRQ：按 Query 粒度分层对齐，将类别语义与局部地理分工建模</a:t>
            </a:r>
            <a:endParaRPr sz="1800" b="0" dirty="0">
              <a:solidFill>
                <a:schemeClr val="tx1"/>
              </a:solidFill>
              <a:latin typeface="Microsoft YaHei"/>
              <a:ea typeface="微软雅黑"/>
            </a:endParaRP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AE2C78FE-4ABF-2CEB-D501-C08594A07241}"/>
              </a:ext>
            </a:extLst>
          </p:cNvPr>
          <p:cNvSpPr txBox="1">
            <a:spLocks/>
          </p:cNvSpPr>
          <p:nvPr/>
        </p:nvSpPr>
        <p:spPr>
          <a:xfrm>
            <a:off x="120210" y="91441"/>
            <a:ext cx="3516367" cy="576072"/>
          </a:xfrm>
          <a:prstGeom prst="rect">
            <a:avLst/>
          </a:prstGeom>
        </p:spPr>
        <p:txBody>
          <a:bodyPr vert="horz" wrap="square" lIns="27432" tIns="18288" rIns="27432" bIns="18288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1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相关论文</a:t>
            </a:r>
            <a:endParaRPr lang="zh-CN" altLang="en-US" sz="2800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ethod_node"/>
          <p:cNvSpPr/>
          <p:nvPr/>
        </p:nvSpPr>
        <p:spPr>
          <a:xfrm>
            <a:off x="594360" y="1418108"/>
            <a:ext cx="2048257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POI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BGE </a:t>
            </a:r>
            <a:r>
              <a:rPr lang="zh-CN" altLang="en-US" sz="1550" dirty="0">
                <a:solidFill>
                  <a:srgbClr val="111827"/>
                </a:solidFill>
                <a:latin typeface="Microsoft YaHei"/>
                <a:ea typeface="微软雅黑"/>
              </a:rPr>
              <a:t>名称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+</a:t>
            </a:r>
            <a:r>
              <a:rPr lang="zh-CN" altLang="en-US" sz="1550" b="0" dirty="0">
                <a:solidFill>
                  <a:srgbClr val="111827"/>
                </a:solidFill>
                <a:latin typeface="Microsoft YaHei"/>
                <a:ea typeface="微软雅黑"/>
              </a:rPr>
              <a:t> 地址 </a:t>
            </a:r>
            <a:r>
              <a:rPr lang="en-US" altLang="zh-CN" sz="1550" b="0" dirty="0">
                <a:solidFill>
                  <a:srgbClr val="111827"/>
                </a:solidFill>
                <a:latin typeface="Microsoft YaHei"/>
                <a:ea typeface="微软雅黑"/>
              </a:rPr>
              <a:t>+</a:t>
            </a:r>
            <a:r>
              <a:rPr lang="zh-CN" altLang="en-US" sz="1550" b="0" dirty="0">
                <a:solidFill>
                  <a:srgbClr val="111827"/>
                </a:solidFill>
                <a:latin typeface="Microsoft YaHei"/>
                <a:ea typeface="微软雅黑"/>
              </a:rPr>
              <a:t> 别名</a:t>
            </a:r>
            <a:endParaRPr sz="155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7" name="method_node"/>
          <p:cNvSpPr/>
          <p:nvPr/>
        </p:nvSpPr>
        <p:spPr>
          <a:xfrm>
            <a:off x="3136392" y="1418108"/>
            <a:ext cx="1984248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POI residual view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去全局方向</a:t>
            </a:r>
          </a:p>
        </p:txBody>
      </p:sp>
      <p:cxnSp>
        <p:nvCxnSpPr>
          <p:cNvPr id="8" name="method_edge"/>
          <p:cNvCxnSpPr/>
          <p:nvPr/>
        </p:nvCxnSpPr>
        <p:spPr>
          <a:xfrm>
            <a:off x="2715768" y="1829588"/>
            <a:ext cx="393192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thod_node"/>
          <p:cNvSpPr/>
          <p:nvPr/>
        </p:nvSpPr>
        <p:spPr>
          <a:xfrm>
            <a:off x="566928" y="2826284"/>
            <a:ext cx="2121408" cy="93268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训练集 Query–POI 边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频次 / 类别集中度 / 熵</a:t>
            </a:r>
          </a:p>
        </p:txBody>
      </p:sp>
      <p:sp>
        <p:nvSpPr>
          <p:cNvPr id="10" name="method_node"/>
          <p:cNvSpPr/>
          <p:nvPr/>
        </p:nvSpPr>
        <p:spPr>
          <a:xfrm>
            <a:off x="3108960" y="2876856"/>
            <a:ext cx="1984248" cy="82296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监督深度与可靠性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D0 / D1 / D2 / D3</a:t>
            </a:r>
          </a:p>
        </p:txBody>
      </p:sp>
      <p:cxnSp>
        <p:nvCxnSpPr>
          <p:cNvPr id="12" name="method_edge"/>
          <p:cNvCxnSpPr>
            <a:cxnSpLocks/>
            <a:stCxn id="9" idx="3"/>
            <a:endCxn id="10" idx="1"/>
          </p:cNvCxnSpPr>
          <p:nvPr/>
        </p:nvCxnSpPr>
        <p:spPr>
          <a:xfrm flipV="1">
            <a:off x="2688336" y="3288336"/>
            <a:ext cx="420624" cy="4292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ethod_node"/>
          <p:cNvSpPr/>
          <p:nvPr/>
        </p:nvSpPr>
        <p:spPr>
          <a:xfrm>
            <a:off x="5596128" y="1482115"/>
            <a:ext cx="1618488" cy="123444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>
                <a:solidFill>
                  <a:srgbClr val="111827"/>
                </a:solidFill>
                <a:latin typeface="Microsoft YaHei"/>
                <a:ea typeface="微软雅黑"/>
              </a:rPr>
              <a:t>S1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>
                <a:solidFill>
                  <a:srgbClr val="111827"/>
                </a:solidFill>
                <a:latin typeface="Microsoft YaHei"/>
                <a:ea typeface="微软雅黑"/>
              </a:rPr>
              <a:t>双质心共享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>
                <a:solidFill>
                  <a:srgbClr val="111827"/>
                </a:solidFill>
                <a:latin typeface="Microsoft YaHei"/>
                <a:ea typeface="微软雅黑"/>
              </a:rPr>
              <a:t>离散 token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>
                <a:solidFill>
                  <a:srgbClr val="111827"/>
                </a:solidFill>
                <a:latin typeface="Microsoft YaHei"/>
                <a:ea typeface="微软雅黑"/>
              </a:rPr>
              <a:t>+ 粗类软锚点</a:t>
            </a:r>
          </a:p>
        </p:txBody>
      </p:sp>
      <p:sp>
        <p:nvSpPr>
          <p:cNvPr id="15" name="method_node"/>
          <p:cNvSpPr/>
          <p:nvPr/>
        </p:nvSpPr>
        <p:spPr>
          <a:xfrm>
            <a:off x="7635240" y="1482115"/>
            <a:ext cx="1618488" cy="123444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 dirty="0">
                <a:solidFill>
                  <a:srgbClr val="111827"/>
                </a:solidFill>
                <a:latin typeface="Microsoft YaHei"/>
                <a:ea typeface="微软雅黑"/>
              </a:rPr>
              <a:t>S2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 dirty="0" err="1">
                <a:solidFill>
                  <a:srgbClr val="111827"/>
                </a:solidFill>
                <a:latin typeface="Microsoft YaHei"/>
                <a:ea typeface="微软雅黑"/>
              </a:rPr>
              <a:t>双视图残差</a:t>
            </a:r>
            <a:endParaRPr sz="1470" b="0" dirty="0">
              <a:solidFill>
                <a:srgbClr val="111827"/>
              </a:solidFill>
              <a:latin typeface="Microsoft YaHei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70" b="0" dirty="0">
                <a:solidFill>
                  <a:srgbClr val="111827"/>
                </a:solidFill>
                <a:latin typeface="Microsoft YaHei"/>
                <a:ea typeface="微软雅黑"/>
              </a:rPr>
              <a:t>+ </a:t>
            </a:r>
            <a:r>
              <a:rPr sz="1470" b="0" dirty="0" err="1">
                <a:solidFill>
                  <a:srgbClr val="111827"/>
                </a:solidFill>
                <a:latin typeface="Microsoft YaHei"/>
                <a:ea typeface="微软雅黑"/>
              </a:rPr>
              <a:t>条件细类锚点</a:t>
            </a:r>
            <a:endParaRPr sz="147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16" name="method_node"/>
          <p:cNvSpPr/>
          <p:nvPr/>
        </p:nvSpPr>
        <p:spPr>
          <a:xfrm>
            <a:off x="9674352" y="1482115"/>
            <a:ext cx="1618488" cy="123444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20" b="0">
                <a:solidFill>
                  <a:srgbClr val="111827"/>
                </a:solidFill>
                <a:latin typeface="Microsoft YaHei"/>
                <a:ea typeface="微软雅黑"/>
              </a:rPr>
              <a:t>S3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20" b="0">
                <a:solidFill>
                  <a:srgbClr val="111827"/>
                </a:solidFill>
                <a:latin typeface="Microsoft YaHei"/>
                <a:ea typeface="微软雅黑"/>
              </a:rPr>
              <a:t>D3 双视图残差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20" b="0">
                <a:solidFill>
                  <a:srgbClr val="111827"/>
                </a:solidFill>
                <a:latin typeface="Microsoft YaHei"/>
                <a:ea typeface="微软雅黑"/>
              </a:rPr>
              <a:t>+ 局部 Geo / 困难图</a:t>
            </a:r>
          </a:p>
        </p:txBody>
      </p:sp>
      <p:cxnSp>
        <p:nvCxnSpPr>
          <p:cNvPr id="17" name="method_edge"/>
          <p:cNvCxnSpPr/>
          <p:nvPr/>
        </p:nvCxnSpPr>
        <p:spPr>
          <a:xfrm>
            <a:off x="5120640" y="1829588"/>
            <a:ext cx="448056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ethod_edge"/>
          <p:cNvCxnSpPr/>
          <p:nvPr/>
        </p:nvCxnSpPr>
        <p:spPr>
          <a:xfrm>
            <a:off x="5120640" y="3301772"/>
            <a:ext cx="237744" cy="0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thod_edge"/>
          <p:cNvCxnSpPr>
            <a:cxnSpLocks/>
          </p:cNvCxnSpPr>
          <p:nvPr/>
        </p:nvCxnSpPr>
        <p:spPr>
          <a:xfrm flipV="1">
            <a:off x="5358384" y="2103908"/>
            <a:ext cx="0" cy="1197864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ethod_edge"/>
          <p:cNvCxnSpPr/>
          <p:nvPr/>
        </p:nvCxnSpPr>
        <p:spPr>
          <a:xfrm>
            <a:off x="5358384" y="2103908"/>
            <a:ext cx="210312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ethod_edge"/>
          <p:cNvCxnSpPr/>
          <p:nvPr/>
        </p:nvCxnSpPr>
        <p:spPr>
          <a:xfrm>
            <a:off x="7214616" y="2103908"/>
            <a:ext cx="393192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ethod_edge"/>
          <p:cNvCxnSpPr/>
          <p:nvPr/>
        </p:nvCxnSpPr>
        <p:spPr>
          <a:xfrm>
            <a:off x="9253728" y="2103908"/>
            <a:ext cx="393192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37960" y="2881148"/>
            <a:ext cx="3858768" cy="31089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A3A6B"/>
                </a:solidFill>
                <a:latin typeface="Microsoft YaHei"/>
                <a:ea typeface="微软雅黑"/>
              </a:rPr>
              <a:t>projection residual</a:t>
            </a:r>
          </a:p>
        </p:txBody>
      </p:sp>
      <p:cxnSp>
        <p:nvCxnSpPr>
          <p:cNvPr id="27" name="method_edge"/>
          <p:cNvCxnSpPr/>
          <p:nvPr/>
        </p:nvCxnSpPr>
        <p:spPr>
          <a:xfrm>
            <a:off x="5961888" y="3301772"/>
            <a:ext cx="4965192" cy="0"/>
          </a:xfrm>
          <a:prstGeom prst="line">
            <a:avLst/>
          </a:prstGeom>
          <a:ln w="19050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ethod_node"/>
          <p:cNvSpPr/>
          <p:nvPr/>
        </p:nvSpPr>
        <p:spPr>
          <a:xfrm>
            <a:off x="7470648" y="3612668"/>
            <a:ext cx="3822191" cy="59436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 dirty="0">
                <a:solidFill>
                  <a:srgbClr val="111827"/>
                </a:solidFill>
                <a:latin typeface="Microsoft YaHei"/>
                <a:ea typeface="微软雅黑"/>
              </a:rPr>
              <a:t>QG SID = [S1, S2, S3]</a:t>
            </a:r>
          </a:p>
        </p:txBody>
      </p:sp>
      <p:sp>
        <p:nvSpPr>
          <p:cNvPr id="30" name="method_node"/>
          <p:cNvSpPr/>
          <p:nvPr/>
        </p:nvSpPr>
        <p:spPr>
          <a:xfrm>
            <a:off x="7470648" y="4472203"/>
            <a:ext cx="3822191" cy="725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仅残留碰撞追加 Dedup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Final ID = GID6 + SID3 + [D]</a:t>
            </a:r>
          </a:p>
        </p:txBody>
      </p:sp>
      <p:cxnSp>
        <p:nvCxnSpPr>
          <p:cNvPr id="31" name="method_edge"/>
          <p:cNvCxnSpPr/>
          <p:nvPr/>
        </p:nvCxnSpPr>
        <p:spPr>
          <a:xfrm>
            <a:off x="9381744" y="4207028"/>
            <a:ext cx="0" cy="237744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6297" y="4650791"/>
            <a:ext cx="6894333" cy="11021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>
                <a:solidFill>
                  <a:srgbClr val="111827"/>
                </a:solidFill>
                <a:latin typeface="Microsoft YaHei"/>
                <a:ea typeface="微软雅黑"/>
              </a:rPr>
              <a:t>D1→S1；D2→S1/S2；D3→S1/S2/S3。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>
                <a:solidFill>
                  <a:srgbClr val="111827"/>
                </a:solidFill>
                <a:latin typeface="Microsoft YaHei"/>
                <a:ea typeface="微软雅黑"/>
              </a:rPr>
              <a:t>类别约束 S1/S2；Geo 在 GID6/S1/S2 父组内约束 S3。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0EC3FF92-3033-171E-87AE-ED34ACFC00D2}"/>
              </a:ext>
            </a:extLst>
          </p:cNvPr>
          <p:cNvSpPr txBox="1">
            <a:spLocks/>
          </p:cNvSpPr>
          <p:nvPr/>
        </p:nvSpPr>
        <p:spPr>
          <a:xfrm>
            <a:off x="120210" y="91441"/>
            <a:ext cx="8391612" cy="576072"/>
          </a:xfrm>
          <a:prstGeom prst="rect">
            <a:avLst/>
          </a:prstGeom>
        </p:spPr>
        <p:txBody>
          <a:bodyPr vert="horz" wrap="square" lIns="27432" tIns="18288" rIns="27432" bIns="18288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1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en-US" altLang="zh-CN" sz="2800" dirty="0">
                <a:solidFill>
                  <a:srgbClr val="FFFFFF"/>
                </a:solidFill>
                <a:latin typeface="Microsoft YaHei"/>
                <a:ea typeface="微软雅黑"/>
              </a:rPr>
              <a:t>QG-HRQ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：</a:t>
            </a:r>
            <a:r>
              <a:rPr lang="zh-CN" altLang="zh-CN" sz="2800" dirty="0"/>
              <a:t>查询</a:t>
            </a:r>
            <a:r>
              <a:rPr lang="en-US" altLang="zh-CN" sz="2800" dirty="0"/>
              <a:t>-</a:t>
            </a:r>
            <a:r>
              <a:rPr lang="zh-CN" altLang="zh-CN" sz="2800" dirty="0"/>
              <a:t>地理感知的分层残差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量化</a:t>
            </a:r>
            <a:endParaRPr lang="zh-CN" altLang="en-US" sz="2800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66928" y="950976"/>
            <a:ext cx="11027664" cy="50450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latin typeface="Microsoft YaHei"/>
                <a:ea typeface="微软雅黑"/>
              </a:rPr>
              <a:t>按 Train 目标分布的集中度与熵确定监督深度；下方 Query 为机制示意。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28216"/>
            <a:ext cx="2267712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 dirty="0">
                <a:solidFill>
                  <a:srgbClr val="000000"/>
                </a:solidFill>
                <a:latin typeface="Microsoft YaHei"/>
                <a:ea typeface="微软雅黑"/>
              </a:rPr>
              <a:t>“</a:t>
            </a:r>
            <a:r>
              <a:rPr sz="1600" b="1" dirty="0" err="1">
                <a:solidFill>
                  <a:srgbClr val="000000"/>
                </a:solidFill>
                <a:latin typeface="Microsoft YaHei"/>
                <a:ea typeface="微软雅黑"/>
              </a:rPr>
              <a:t>附近好吃的</a:t>
            </a:r>
            <a:r>
              <a:rPr sz="1600" b="1" dirty="0">
                <a:solidFill>
                  <a:srgbClr val="000000"/>
                </a:solidFill>
                <a:latin typeface="Microsoft YaHei"/>
                <a:ea typeface="微软雅黑"/>
              </a:rPr>
              <a:t>”</a:t>
            </a:r>
          </a:p>
        </p:txBody>
      </p:sp>
      <p:sp>
        <p:nvSpPr>
          <p:cNvPr id="7" name="method_token"/>
          <p:cNvSpPr/>
          <p:nvPr/>
        </p:nvSpPr>
        <p:spPr>
          <a:xfrm>
            <a:off x="2880360" y="1719072"/>
            <a:ext cx="786384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D0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208" y="1755648"/>
            <a:ext cx="2852928" cy="4297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目标跨类别且分散</a:t>
            </a:r>
            <a:endParaRPr sz="16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cxnSp>
        <p:nvCxnSpPr>
          <p:cNvPr id="9" name="method_edge"/>
          <p:cNvCxnSpPr/>
          <p:nvPr/>
        </p:nvCxnSpPr>
        <p:spPr>
          <a:xfrm>
            <a:off x="6812280" y="1984248"/>
            <a:ext cx="521208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34656" y="1812093"/>
            <a:ext cx="1481328" cy="3566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 dirty="0" err="1">
                <a:solidFill>
                  <a:srgbClr val="1A3A6B"/>
                </a:solidFill>
                <a:latin typeface="Microsoft YaHei"/>
                <a:ea typeface="微软雅黑"/>
              </a:rPr>
              <a:t>不监督</a:t>
            </a:r>
            <a:r>
              <a:rPr sz="1600" b="1" dirty="0">
                <a:solidFill>
                  <a:srgbClr val="1A3A6B"/>
                </a:solidFill>
                <a:latin typeface="Microsoft YaHei"/>
                <a:ea typeface="微软雅黑"/>
              </a:rPr>
              <a:t> SID</a:t>
            </a:r>
          </a:p>
        </p:txBody>
      </p:sp>
      <p:sp>
        <p:nvSpPr>
          <p:cNvPr id="11" name="method_token"/>
          <p:cNvSpPr/>
          <p:nvPr/>
        </p:nvSpPr>
        <p:spPr>
          <a:xfrm>
            <a:off x="9281160" y="1719072"/>
            <a:ext cx="576072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S1</a:t>
            </a:r>
          </a:p>
        </p:txBody>
      </p:sp>
      <p:sp>
        <p:nvSpPr>
          <p:cNvPr id="12" name="method_token"/>
          <p:cNvSpPr/>
          <p:nvPr/>
        </p:nvSpPr>
        <p:spPr>
          <a:xfrm>
            <a:off x="9994392" y="1719072"/>
            <a:ext cx="576072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S2</a:t>
            </a:r>
          </a:p>
        </p:txBody>
      </p:sp>
      <p:sp>
        <p:nvSpPr>
          <p:cNvPr id="13" name="method_token"/>
          <p:cNvSpPr/>
          <p:nvPr/>
        </p:nvSpPr>
        <p:spPr>
          <a:xfrm>
            <a:off x="10707624" y="1719072"/>
            <a:ext cx="576072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23744"/>
            <a:ext cx="2267712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  <a:ea typeface="微软雅黑"/>
              </a:rPr>
              <a:t>“火锅”</a:t>
            </a:r>
          </a:p>
        </p:txBody>
      </p:sp>
      <p:sp>
        <p:nvSpPr>
          <p:cNvPr id="15" name="method_token"/>
          <p:cNvSpPr/>
          <p:nvPr/>
        </p:nvSpPr>
        <p:spPr>
          <a:xfrm>
            <a:off x="2880360" y="2514600"/>
            <a:ext cx="786384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D1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551176"/>
            <a:ext cx="2852928" cy="4297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粗类别集中</a:t>
            </a:r>
          </a:p>
        </p:txBody>
      </p:sp>
      <p:cxnSp>
        <p:nvCxnSpPr>
          <p:cNvPr id="17" name="method_edge"/>
          <p:cNvCxnSpPr/>
          <p:nvPr/>
        </p:nvCxnSpPr>
        <p:spPr>
          <a:xfrm>
            <a:off x="6812280" y="2779776"/>
            <a:ext cx="521208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34656" y="2618910"/>
            <a:ext cx="1481328" cy="3566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1A3A6B"/>
                </a:solidFill>
                <a:latin typeface="Microsoft YaHei"/>
                <a:ea typeface="微软雅黑"/>
              </a:rPr>
              <a:t>S1</a:t>
            </a:r>
          </a:p>
        </p:txBody>
      </p:sp>
      <p:sp>
        <p:nvSpPr>
          <p:cNvPr id="19" name="method_token"/>
          <p:cNvSpPr/>
          <p:nvPr/>
        </p:nvSpPr>
        <p:spPr>
          <a:xfrm>
            <a:off x="9281160" y="2514600"/>
            <a:ext cx="576072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S1</a:t>
            </a:r>
          </a:p>
        </p:txBody>
      </p:sp>
      <p:sp>
        <p:nvSpPr>
          <p:cNvPr id="20" name="method_token"/>
          <p:cNvSpPr/>
          <p:nvPr/>
        </p:nvSpPr>
        <p:spPr>
          <a:xfrm>
            <a:off x="9994392" y="2514600"/>
            <a:ext cx="576072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S2</a:t>
            </a:r>
          </a:p>
        </p:txBody>
      </p:sp>
      <p:sp>
        <p:nvSpPr>
          <p:cNvPr id="21" name="method_token"/>
          <p:cNvSpPr/>
          <p:nvPr/>
        </p:nvSpPr>
        <p:spPr>
          <a:xfrm>
            <a:off x="10707624" y="2514600"/>
            <a:ext cx="576072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19272"/>
            <a:ext cx="2267712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Microsoft YaHei"/>
                <a:ea typeface="微软雅黑"/>
              </a:rPr>
              <a:t>“川味火锅”</a:t>
            </a:r>
          </a:p>
        </p:txBody>
      </p:sp>
      <p:sp>
        <p:nvSpPr>
          <p:cNvPr id="23" name="method_token"/>
          <p:cNvSpPr/>
          <p:nvPr/>
        </p:nvSpPr>
        <p:spPr>
          <a:xfrm>
            <a:off x="2880360" y="3310128"/>
            <a:ext cx="786384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D2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208" y="3346704"/>
            <a:ext cx="2852928" cy="4297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细类别集中</a:t>
            </a:r>
          </a:p>
        </p:txBody>
      </p:sp>
      <p:cxnSp>
        <p:nvCxnSpPr>
          <p:cNvPr id="25" name="method_edge"/>
          <p:cNvCxnSpPr/>
          <p:nvPr/>
        </p:nvCxnSpPr>
        <p:spPr>
          <a:xfrm>
            <a:off x="6812280" y="3575304"/>
            <a:ext cx="521208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34656" y="3414438"/>
            <a:ext cx="1481328" cy="3566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 dirty="0">
                <a:solidFill>
                  <a:srgbClr val="1A3A6B"/>
                </a:solidFill>
                <a:latin typeface="Microsoft YaHei"/>
                <a:ea typeface="微软雅黑"/>
              </a:rPr>
              <a:t>S1 + S2</a:t>
            </a:r>
          </a:p>
        </p:txBody>
      </p:sp>
      <p:sp>
        <p:nvSpPr>
          <p:cNvPr id="27" name="method_token"/>
          <p:cNvSpPr/>
          <p:nvPr/>
        </p:nvSpPr>
        <p:spPr>
          <a:xfrm>
            <a:off x="9281160" y="3310128"/>
            <a:ext cx="576072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S1</a:t>
            </a:r>
          </a:p>
        </p:txBody>
      </p:sp>
      <p:sp>
        <p:nvSpPr>
          <p:cNvPr id="28" name="method_token"/>
          <p:cNvSpPr/>
          <p:nvPr/>
        </p:nvSpPr>
        <p:spPr>
          <a:xfrm>
            <a:off x="9994392" y="3310128"/>
            <a:ext cx="576072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S2</a:t>
            </a:r>
          </a:p>
        </p:txBody>
      </p:sp>
      <p:sp>
        <p:nvSpPr>
          <p:cNvPr id="29" name="method_token"/>
          <p:cNvSpPr/>
          <p:nvPr/>
        </p:nvSpPr>
        <p:spPr>
          <a:xfrm>
            <a:off x="10707624" y="3310128"/>
            <a:ext cx="576072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S3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114799"/>
            <a:ext cx="2267712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 dirty="0">
                <a:solidFill>
                  <a:srgbClr val="000000"/>
                </a:solidFill>
                <a:latin typeface="Microsoft YaHei"/>
                <a:ea typeface="微软雅黑"/>
              </a:rPr>
              <a:t>“</a:t>
            </a:r>
            <a:r>
              <a:rPr sz="1600" b="1" dirty="0" err="1">
                <a:solidFill>
                  <a:srgbClr val="000000"/>
                </a:solidFill>
                <a:latin typeface="Microsoft YaHei"/>
                <a:ea typeface="微软雅黑"/>
              </a:rPr>
              <a:t>海底捞西单店</a:t>
            </a:r>
            <a:r>
              <a:rPr sz="1600" b="1" dirty="0">
                <a:solidFill>
                  <a:srgbClr val="000000"/>
                </a:solidFill>
                <a:latin typeface="Microsoft YaHei"/>
                <a:ea typeface="微软雅黑"/>
              </a:rPr>
              <a:t>”</a:t>
            </a:r>
          </a:p>
        </p:txBody>
      </p:sp>
      <p:sp>
        <p:nvSpPr>
          <p:cNvPr id="31" name="method_token"/>
          <p:cNvSpPr/>
          <p:nvPr/>
        </p:nvSpPr>
        <p:spPr>
          <a:xfrm>
            <a:off x="2880360" y="4105655"/>
            <a:ext cx="786384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D3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4142231"/>
            <a:ext cx="2852928" cy="4297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Exact POI 高置信</a:t>
            </a:r>
          </a:p>
        </p:txBody>
      </p:sp>
      <p:cxnSp>
        <p:nvCxnSpPr>
          <p:cNvPr id="33" name="method_edge"/>
          <p:cNvCxnSpPr/>
          <p:nvPr/>
        </p:nvCxnSpPr>
        <p:spPr>
          <a:xfrm>
            <a:off x="6812280" y="4370831"/>
            <a:ext cx="521208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534656" y="4243832"/>
            <a:ext cx="1481328" cy="3566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1A3A6B"/>
                </a:solidFill>
                <a:latin typeface="Microsoft YaHei"/>
                <a:ea typeface="微软雅黑"/>
              </a:rPr>
              <a:t>S1 + S2 + S3</a:t>
            </a:r>
          </a:p>
        </p:txBody>
      </p:sp>
      <p:sp>
        <p:nvSpPr>
          <p:cNvPr id="35" name="method_token"/>
          <p:cNvSpPr/>
          <p:nvPr/>
        </p:nvSpPr>
        <p:spPr>
          <a:xfrm>
            <a:off x="9281160" y="4105655"/>
            <a:ext cx="576072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S1</a:t>
            </a:r>
          </a:p>
        </p:txBody>
      </p:sp>
      <p:sp>
        <p:nvSpPr>
          <p:cNvPr id="36" name="method_token"/>
          <p:cNvSpPr/>
          <p:nvPr/>
        </p:nvSpPr>
        <p:spPr>
          <a:xfrm>
            <a:off x="9994392" y="4105655"/>
            <a:ext cx="576072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S2</a:t>
            </a:r>
          </a:p>
        </p:txBody>
      </p:sp>
      <p:sp>
        <p:nvSpPr>
          <p:cNvPr id="37" name="method_token"/>
          <p:cNvSpPr/>
          <p:nvPr/>
        </p:nvSpPr>
        <p:spPr>
          <a:xfrm>
            <a:off x="10707624" y="4105655"/>
            <a:ext cx="576072" cy="438912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11827"/>
                </a:solidFill>
                <a:latin typeface="Microsoft YaHei"/>
                <a:ea typeface="微软雅黑"/>
              </a:rPr>
              <a:t>S3</a:t>
            </a:r>
          </a:p>
        </p:txBody>
      </p:sp>
      <p:sp>
        <p:nvSpPr>
          <p:cNvPr id="38" name="method_formula_bg"/>
          <p:cNvSpPr/>
          <p:nvPr/>
        </p:nvSpPr>
        <p:spPr>
          <a:xfrm>
            <a:off x="3023664" y="4983480"/>
            <a:ext cx="5851596" cy="1473764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pic>
        <p:nvPicPr>
          <p:cNvPr id="39" name="latex_formula" descr="LaTeX: P_l(c\mid q)=\sum_{p\in c}P(p\mid q),\qquad C_l(q)=\max_c P_l(c\mid q)&#10;H_l(q)=-\frac{\sum_c P_l(c\mid q)\log P_l(c\mid q)}{\log|\mathcal{C}_l|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067" y="5126001"/>
            <a:ext cx="4865259" cy="1188721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32112693-C4DA-6329-4EF7-5681A1EB0085}"/>
              </a:ext>
            </a:extLst>
          </p:cNvPr>
          <p:cNvSpPr txBox="1">
            <a:spLocks/>
          </p:cNvSpPr>
          <p:nvPr/>
        </p:nvSpPr>
        <p:spPr>
          <a:xfrm>
            <a:off x="120210" y="91441"/>
            <a:ext cx="8391612" cy="576072"/>
          </a:xfrm>
          <a:prstGeom prst="rect">
            <a:avLst/>
          </a:prstGeom>
        </p:spPr>
        <p:txBody>
          <a:bodyPr vert="horz" wrap="square" lIns="27432" tIns="18288" rIns="27432" bIns="18288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1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机制一：</a:t>
            </a:r>
            <a:r>
              <a:rPr lang="en-US" altLang="zh-CN" sz="2800" dirty="0">
                <a:solidFill>
                  <a:srgbClr val="FFFFFF"/>
                </a:solidFill>
                <a:latin typeface="Microsoft YaHei"/>
                <a:ea typeface="微软雅黑"/>
              </a:rPr>
              <a:t>Query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能确定多少语义就监督到多少层</a:t>
            </a:r>
            <a:endParaRPr lang="zh-CN" altLang="en-US" sz="2800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4916" y="1057826"/>
            <a:ext cx="11027664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>
                <a:latin typeface="Microsoft YaHei"/>
                <a:ea typeface="微软雅黑"/>
              </a:rPr>
              <a:t>Query </a:t>
            </a:r>
            <a:r>
              <a:rPr b="0" dirty="0" err="1">
                <a:latin typeface="Microsoft YaHei"/>
                <a:ea typeface="微软雅黑"/>
              </a:rPr>
              <a:t>可连接多个POI，但每层的总边质量被可靠性限制，避免热门粗</a:t>
            </a:r>
            <a:r>
              <a:rPr b="0" dirty="0">
                <a:latin typeface="Microsoft YaHei"/>
                <a:ea typeface="微软雅黑"/>
              </a:rPr>
              <a:t> Query </a:t>
            </a:r>
            <a:r>
              <a:rPr b="0" dirty="0" err="1">
                <a:latin typeface="Microsoft YaHei"/>
                <a:ea typeface="微软雅黑"/>
              </a:rPr>
              <a:t>主导聚类</a:t>
            </a:r>
            <a:r>
              <a:rPr b="0" dirty="0">
                <a:latin typeface="Microsoft YaHei"/>
                <a:ea typeface="微软雅黑"/>
              </a:rPr>
              <a:t>。</a:t>
            </a:r>
          </a:p>
        </p:txBody>
      </p:sp>
      <p:sp>
        <p:nvSpPr>
          <p:cNvPr id="6" name="method_node"/>
          <p:cNvSpPr/>
          <p:nvPr/>
        </p:nvSpPr>
        <p:spPr>
          <a:xfrm>
            <a:off x="594360" y="2770632"/>
            <a:ext cx="2606040" cy="932688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Query q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support / concentration / entropy</a:t>
            </a:r>
          </a:p>
        </p:txBody>
      </p:sp>
      <p:sp>
        <p:nvSpPr>
          <p:cNvPr id="7" name="method_node"/>
          <p:cNvSpPr/>
          <p:nvPr/>
        </p:nvSpPr>
        <p:spPr>
          <a:xfrm>
            <a:off x="4645152" y="1920240"/>
            <a:ext cx="2221992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POI p1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真实 Train 发单边</a:t>
            </a:r>
          </a:p>
        </p:txBody>
      </p:sp>
      <p:cxnSp>
        <p:nvCxnSpPr>
          <p:cNvPr id="8" name="method_edge"/>
          <p:cNvCxnSpPr/>
          <p:nvPr/>
        </p:nvCxnSpPr>
        <p:spPr>
          <a:xfrm>
            <a:off x="3200400" y="3236976"/>
            <a:ext cx="685800" cy="0"/>
          </a:xfrm>
          <a:prstGeom prst="line">
            <a:avLst/>
          </a:prstGeom>
          <a:ln w="1778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method_edge"/>
          <p:cNvCxnSpPr/>
          <p:nvPr/>
        </p:nvCxnSpPr>
        <p:spPr>
          <a:xfrm flipV="1">
            <a:off x="3886200" y="2276856"/>
            <a:ext cx="0" cy="960120"/>
          </a:xfrm>
          <a:prstGeom prst="line">
            <a:avLst/>
          </a:prstGeom>
          <a:ln w="1778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ethod_edge"/>
          <p:cNvCxnSpPr/>
          <p:nvPr/>
        </p:nvCxnSpPr>
        <p:spPr>
          <a:xfrm>
            <a:off x="3886200" y="2276856"/>
            <a:ext cx="731520" cy="0"/>
          </a:xfrm>
          <a:prstGeom prst="line">
            <a:avLst/>
          </a:prstGeom>
          <a:ln w="17780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method_node"/>
          <p:cNvSpPr/>
          <p:nvPr/>
        </p:nvSpPr>
        <p:spPr>
          <a:xfrm>
            <a:off x="4645152" y="3136392"/>
            <a:ext cx="2221992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POI p2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真实 Train 发单边</a:t>
            </a:r>
          </a:p>
        </p:txBody>
      </p:sp>
      <p:cxnSp>
        <p:nvCxnSpPr>
          <p:cNvPr id="12" name="method_edge"/>
          <p:cNvCxnSpPr/>
          <p:nvPr/>
        </p:nvCxnSpPr>
        <p:spPr>
          <a:xfrm>
            <a:off x="3200400" y="3236976"/>
            <a:ext cx="685800" cy="0"/>
          </a:xfrm>
          <a:prstGeom prst="line">
            <a:avLst/>
          </a:prstGeom>
          <a:ln w="1143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ethod_edge"/>
          <p:cNvCxnSpPr/>
          <p:nvPr/>
        </p:nvCxnSpPr>
        <p:spPr>
          <a:xfrm>
            <a:off x="3886200" y="3236976"/>
            <a:ext cx="0" cy="256032"/>
          </a:xfrm>
          <a:prstGeom prst="line">
            <a:avLst/>
          </a:prstGeom>
          <a:ln w="1143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ethod_edge"/>
          <p:cNvCxnSpPr/>
          <p:nvPr/>
        </p:nvCxnSpPr>
        <p:spPr>
          <a:xfrm>
            <a:off x="3886200" y="3493008"/>
            <a:ext cx="731520" cy="0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ethod_node"/>
          <p:cNvSpPr/>
          <p:nvPr/>
        </p:nvSpPr>
        <p:spPr>
          <a:xfrm>
            <a:off x="4645152" y="4352544"/>
            <a:ext cx="2221992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POI p3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真实 Train 发单边</a:t>
            </a:r>
          </a:p>
        </p:txBody>
      </p:sp>
      <p:cxnSp>
        <p:nvCxnSpPr>
          <p:cNvPr id="16" name="method_edge"/>
          <p:cNvCxnSpPr/>
          <p:nvPr/>
        </p:nvCxnSpPr>
        <p:spPr>
          <a:xfrm>
            <a:off x="3200400" y="3236976"/>
            <a:ext cx="685800" cy="0"/>
          </a:xfrm>
          <a:prstGeom prst="line">
            <a:avLst/>
          </a:prstGeom>
          <a:ln w="1143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ethod_edge"/>
          <p:cNvCxnSpPr/>
          <p:nvPr/>
        </p:nvCxnSpPr>
        <p:spPr>
          <a:xfrm>
            <a:off x="3886200" y="3236976"/>
            <a:ext cx="0" cy="1472183"/>
          </a:xfrm>
          <a:prstGeom prst="line">
            <a:avLst/>
          </a:prstGeom>
          <a:ln w="1143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ethod_edge"/>
          <p:cNvCxnSpPr/>
          <p:nvPr/>
        </p:nvCxnSpPr>
        <p:spPr>
          <a:xfrm>
            <a:off x="3886200" y="4709159"/>
            <a:ext cx="731520" cy="0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ethod_formula_bg"/>
          <p:cNvSpPr/>
          <p:nvPr/>
        </p:nvSpPr>
        <p:spPr>
          <a:xfrm>
            <a:off x="7833248" y="1820784"/>
            <a:ext cx="2688336" cy="1353312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latex_formula" descr="LaTeX: r_l(q)=\frac{\log(1+\min(n_q,20))}{\log 21}&#10;\cdot C_l(q)^\gamma\left(1-H_l(q)\right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4416" y="1991643"/>
            <a:ext cx="2368295" cy="972141"/>
          </a:xfrm>
          <a:prstGeom prst="rect">
            <a:avLst/>
          </a:prstGeom>
        </p:spPr>
      </p:pic>
      <p:sp>
        <p:nvSpPr>
          <p:cNvPr id="24" name="method_formula_bg"/>
          <p:cNvSpPr/>
          <p:nvPr/>
        </p:nvSpPr>
        <p:spPr>
          <a:xfrm>
            <a:off x="7833248" y="3456543"/>
            <a:ext cx="2725587" cy="12618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latex_formula" descr="LaTeX: \omega_l(q,p)=\frac{n(q,p)}{\sum_{p'}n(q,p')}&#10;w_l(q,p)=r_l(q)\,\omega_l(q,p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4416" y="3623845"/>
            <a:ext cx="2368295" cy="930577"/>
          </a:xfrm>
          <a:prstGeom prst="rect">
            <a:avLst/>
          </a:prstGeom>
        </p:spPr>
      </p:pic>
      <p:sp>
        <p:nvSpPr>
          <p:cNvPr id="26" name="method_formula_bg"/>
          <p:cNvSpPr/>
          <p:nvPr/>
        </p:nvSpPr>
        <p:spPr>
          <a:xfrm>
            <a:off x="7833248" y="5012040"/>
            <a:ext cx="2688336" cy="621791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latex_formula" descr="LaTeX: \sum_p\omega_l(q,p)=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3622" y="5112903"/>
            <a:ext cx="1307588" cy="478292"/>
          </a:xfrm>
          <a:prstGeom prst="rect">
            <a:avLst/>
          </a:prstGeom>
        </p:spPr>
      </p:pic>
      <p:sp>
        <p:nvSpPr>
          <p:cNvPr id="29" name="Title 1">
            <a:extLst>
              <a:ext uri="{FF2B5EF4-FFF2-40B4-BE49-F238E27FC236}">
                <a16:creationId xmlns:a16="http://schemas.microsoft.com/office/drawing/2014/main" id="{5E44DAE0-7EF0-34E3-07C9-837DAFB3C4E4}"/>
              </a:ext>
            </a:extLst>
          </p:cNvPr>
          <p:cNvSpPr txBox="1">
            <a:spLocks/>
          </p:cNvSpPr>
          <p:nvPr/>
        </p:nvSpPr>
        <p:spPr>
          <a:xfrm>
            <a:off x="120210" y="91441"/>
            <a:ext cx="9836590" cy="576072"/>
          </a:xfrm>
          <a:prstGeom prst="rect">
            <a:avLst/>
          </a:prstGeom>
        </p:spPr>
        <p:txBody>
          <a:bodyPr vert="horz" wrap="square" lIns="27432" tIns="18288" rIns="27432" bIns="18288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1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en-US" altLang="zh-CN" sz="2800" dirty="0">
                <a:solidFill>
                  <a:srgbClr val="FFFFFF"/>
                </a:solidFill>
                <a:latin typeface="Microsoft YaHei"/>
                <a:ea typeface="微软雅黑"/>
              </a:rPr>
              <a:t>Query-POI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图：边权同时表达频次、集中度与歧义</a:t>
            </a:r>
            <a:endParaRPr lang="zh-CN" altLang="en-US" sz="2800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4" name="标题 32">
            <a:extLst>
              <a:ext uri="{FF2B5EF4-FFF2-40B4-BE49-F238E27FC236}">
                <a16:creationId xmlns:a16="http://schemas.microsoft.com/office/drawing/2014/main" id="{F0204DDA-D5C2-4C72-5F0D-7B9E8AE18E20}"/>
              </a:ext>
            </a:extLst>
          </p:cNvPr>
          <p:cNvSpPr txBox="1">
            <a:spLocks/>
          </p:cNvSpPr>
          <p:nvPr/>
        </p:nvSpPr>
        <p:spPr>
          <a:xfrm>
            <a:off x="0" y="306325"/>
            <a:ext cx="8229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1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4A94-21D4-EEF2-16DD-B62503A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78" y="95188"/>
            <a:ext cx="9147838" cy="535749"/>
          </a:xfrm>
        </p:spPr>
        <p:txBody>
          <a:bodyPr vert="horz" wrap="square" lIns="27432" tIns="18288" rIns="27432" bIns="18288" rtlCol="0" anchor="t">
            <a:no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2800" dirty="0" err="1">
                <a:solidFill>
                  <a:srgbClr val="FFFFFF"/>
                </a:solidFill>
                <a:latin typeface="Microsoft YaHei"/>
                <a:ea typeface="微软雅黑"/>
              </a:rPr>
              <a:t>机制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二</a:t>
            </a: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：POI </a:t>
            </a:r>
            <a:r>
              <a:rPr sz="2800" dirty="0" err="1">
                <a:solidFill>
                  <a:srgbClr val="FFFFFF"/>
                </a:solidFill>
                <a:latin typeface="Microsoft YaHei"/>
                <a:ea typeface="微软雅黑"/>
              </a:rPr>
              <a:t>与</a:t>
            </a: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 Query </a:t>
            </a:r>
            <a:r>
              <a:rPr sz="2800" dirty="0" err="1">
                <a:solidFill>
                  <a:srgbClr val="FFFFFF"/>
                </a:solidFill>
                <a:latin typeface="Microsoft YaHei"/>
                <a:ea typeface="微软雅黑"/>
              </a:rPr>
              <a:t>双质心，共享同一个离散</a:t>
            </a: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 token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03504" y="1152145"/>
                <a:ext cx="11027664" cy="640080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 anchor="t">
                <a:noAutofit/>
              </a:bodyPr>
              <a:lstStyle/>
              <a:p>
                <a:pPr>
                  <a:lnSpc>
                    <a:spcPct val="120000"/>
                  </a:lnSpc>
                  <a:spcAft>
                    <a:spcPts val="400"/>
                  </a:spcAft>
                </a:pPr>
                <a:r>
                  <a:rPr lang="zh-CN" altLang="en-US" sz="1700" b="0" dirty="0">
                    <a:latin typeface="Microsoft YaHei"/>
                    <a:ea typeface="微软雅黑"/>
                  </a:rPr>
                  <a:t>同一 </a:t>
                </a:r>
                <a:r>
                  <a:rPr lang="en" sz="1700" b="0" dirty="0">
                    <a:latin typeface="Microsoft YaHei"/>
                    <a:ea typeface="微软雅黑"/>
                  </a:rPr>
                  <a:t>token k </a:t>
                </a:r>
                <a:r>
                  <a:rPr lang="zh-CN" altLang="en-US" sz="1700" b="0" dirty="0" err="1">
                    <a:latin typeface="Microsoft YaHei"/>
                    <a:ea typeface="微软雅黑"/>
                  </a:rPr>
                  <a:t>对应</a:t>
                </a:r>
                <a:r>
                  <a:rPr lang="zh-CN" altLang="en-US" sz="1700" b="0" dirty="0">
                    <a:latin typeface="Microsoft YaHei"/>
                    <a:ea typeface="微软雅黑"/>
                  </a:rPr>
                  <a:t> </a:t>
                </a:r>
                <a:r>
                  <a:rPr lang="en" sz="1700" b="0" dirty="0">
                    <a:latin typeface="Microsoft YaHei"/>
                    <a:ea typeface="微软雅黑"/>
                  </a:rPr>
                  <a:t>POI </a:t>
                </a:r>
                <a:r>
                  <a:rPr lang="zh-CN" altLang="en-US" sz="1700" b="0" dirty="0" err="1">
                    <a:latin typeface="Microsoft YaHei"/>
                    <a:ea typeface="微软雅黑"/>
                  </a:rPr>
                  <a:t>中心</a:t>
                </a:r>
                <a:r>
                  <a:rPr lang="zh-CN" altLang="en-US" sz="1700" b="0" dirty="0">
                    <a:latin typeface="Microsoft YaHei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700" b="0" i="1" dirty="0" smtClean="0"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700" b="0" i="1" dirty="0" smtClean="0">
                            <a:latin typeface="Cambria Math" panose="02040503050406030204" pitchFamily="18" charset="0"/>
                            <a:ea typeface="微软雅黑"/>
                          </a:rPr>
                          <m:t>𝑈</m:t>
                        </m:r>
                      </m:e>
                      <m:sub>
                        <m:r>
                          <a:rPr lang="ar-AE" altLang="zh-CN" sz="1700" b="0" i="1" dirty="0" smtClean="0"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  <m:r>
                          <a:rPr lang="en-US" altLang="zh-CN" sz="1700" b="0" i="1" dirty="0" smtClean="0">
                            <a:latin typeface="Cambria Math" panose="02040503050406030204" pitchFamily="18" charset="0"/>
                            <a:ea typeface="微软雅黑"/>
                          </a:rPr>
                          <m:t>,</m:t>
                        </m:r>
                        <m:r>
                          <a:rPr lang="en-US" altLang="zh-CN" sz="1700" b="0" i="1" dirty="0" smtClean="0">
                            <a:latin typeface="Cambria Math" panose="02040503050406030204" pitchFamily="18" charset="0"/>
                            <a:ea typeface="微软雅黑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sz="1700" b="0" dirty="0">
                    <a:latin typeface="Microsoft YaHei"/>
                    <a:ea typeface="微软雅黑"/>
                  </a:rPr>
                  <a:t> </a:t>
                </a:r>
                <a:r>
                  <a:rPr lang="zh-CN" altLang="en-US" sz="1700" b="0" dirty="0" err="1">
                    <a:latin typeface="Microsoft YaHei"/>
                    <a:ea typeface="微软雅黑"/>
                  </a:rPr>
                  <a:t>与</a:t>
                </a:r>
                <a:r>
                  <a:rPr lang="zh-CN" altLang="en-US" sz="1700" b="0" dirty="0">
                    <a:latin typeface="Microsoft YaHei"/>
                    <a:ea typeface="微软雅黑"/>
                  </a:rPr>
                  <a:t> </a:t>
                </a:r>
                <a:r>
                  <a:rPr lang="en" sz="1700" b="0" dirty="0">
                    <a:latin typeface="Microsoft YaHei"/>
                    <a:ea typeface="微软雅黑"/>
                  </a:rPr>
                  <a:t>Query </a:t>
                </a:r>
                <a:r>
                  <a:rPr lang="zh-CN" altLang="en-US" sz="1700" b="0" dirty="0" err="1">
                    <a:latin typeface="Microsoft YaHei"/>
                    <a:ea typeface="微软雅黑"/>
                  </a:rPr>
                  <a:t>中心</a:t>
                </a:r>
                <a:r>
                  <a:rPr lang="zh-CN" altLang="en-US" sz="1700" b="0" dirty="0">
                    <a:latin typeface="Microsoft YaHei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700" i="1" dirty="0"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700" b="0" i="1" dirty="0" smtClean="0">
                            <a:latin typeface="Cambria Math" panose="02040503050406030204" pitchFamily="18" charset="0"/>
                            <a:ea typeface="微软雅黑"/>
                          </a:rPr>
                          <m:t>𝑉</m:t>
                        </m:r>
                      </m:e>
                      <m:sub>
                        <m:r>
                          <a:rPr lang="ar-AE" altLang="zh-CN" sz="1700" i="1" dirty="0"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  <m:r>
                          <a:rPr lang="en-US" altLang="zh-CN" sz="1700" i="1" dirty="0">
                            <a:latin typeface="Cambria Math" panose="02040503050406030204" pitchFamily="18" charset="0"/>
                            <a:ea typeface="微软雅黑"/>
                          </a:rPr>
                          <m:t>,</m:t>
                        </m:r>
                        <m:r>
                          <a:rPr lang="en-US" altLang="zh-CN" sz="1700" i="1" dirty="0">
                            <a:latin typeface="Cambria Math" panose="02040503050406030204" pitchFamily="18" charset="0"/>
                            <a:ea typeface="微软雅黑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altLang="zh-CN" sz="1700" dirty="0">
                    <a:latin typeface="Microsoft YaHei"/>
                    <a:ea typeface="微软雅黑"/>
                  </a:rPr>
                  <a:t> </a:t>
                </a:r>
                <a:r>
                  <a:rPr lang="zh-CN" altLang="en-US" sz="1700" dirty="0">
                    <a:latin typeface="Microsoft YaHei"/>
                    <a:ea typeface="微软雅黑"/>
                  </a:rPr>
                  <a:t>，</a:t>
                </a:r>
                <a:r>
                  <a:rPr lang="zh-CN" altLang="en-US" sz="1700" b="0" dirty="0">
                    <a:latin typeface="Microsoft YaHei"/>
                    <a:ea typeface="微软雅黑"/>
                  </a:rPr>
                  <a:t>通过</a:t>
                </a:r>
                <a:r>
                  <a:rPr lang="zh-CN" altLang="en-US" sz="1700" b="0" dirty="0" err="1">
                    <a:latin typeface="Microsoft YaHei"/>
                    <a:ea typeface="微软雅黑"/>
                  </a:rPr>
                  <a:t>图一致性对齐分配，不共用向量中心</a:t>
                </a:r>
                <a:r>
                  <a:rPr lang="zh-CN" altLang="en-US" sz="1700" b="0" dirty="0">
                    <a:latin typeface="Microsoft YaHei"/>
                    <a:ea typeface="微软雅黑"/>
                  </a:rPr>
                  <a:t>。</a:t>
                </a:r>
                <a:endParaRPr sz="1700" b="0" dirty="0"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4" y="1152145"/>
                <a:ext cx="11027664" cy="640080"/>
              </a:xfrm>
              <a:prstGeom prst="rect">
                <a:avLst/>
              </a:prstGeom>
              <a:blipFill>
                <a:blip r:embed="rId3"/>
                <a:stretch>
                  <a:fillRect l="-921" t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method_node"/>
              <p:cNvSpPr/>
              <p:nvPr/>
            </p:nvSpPr>
            <p:spPr>
              <a:xfrm>
                <a:off x="594360" y="2039112"/>
                <a:ext cx="2514600" cy="704088"/>
              </a:xfrm>
              <a:prstGeom prst="rect">
                <a:avLst/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e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POI residual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altLang="zh-CN" sz="1600" b="0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SupPr>
                      <m:e>
                        <m:r>
                          <a:rPr lang="ar-AE" altLang="zh-CN" sz="1600" b="0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𝑟</m:t>
                        </m:r>
                      </m:e>
                      <m:sub>
                        <m:r>
                          <a:rPr lang="en-US" altLang="zh-CN" sz="1600" b="0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𝑝</m:t>
                        </m:r>
                      </m:sub>
                      <m:sup>
                        <m:r>
                          <a:rPr lang="en-US" altLang="zh-CN" sz="1600" b="0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  <m:r>
                          <a:rPr lang="en-US" altLang="zh-CN" sz="1600" b="0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−1</m:t>
                        </m:r>
                      </m:sup>
                    </m:sSubSup>
                  </m:oMath>
                </a14:m>
                <a:endParaRPr sz="160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6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2039112"/>
                <a:ext cx="2514600" cy="7040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method_node"/>
              <p:cNvSpPr/>
              <p:nvPr/>
            </p:nvSpPr>
            <p:spPr>
              <a:xfrm>
                <a:off x="3657600" y="1911095"/>
                <a:ext cx="2441448" cy="932688"/>
              </a:xfrm>
              <a:prstGeom prst="rect">
                <a:avLst/>
              </a:prstGeom>
              <a:solidFill>
                <a:srgbClr val="EAF2FF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POI codebook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ar-AE" altLang="zh-C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𝑈</m:t>
                        </m:r>
                      </m:e>
                      <m:sub>
                        <m:r>
                          <a:rPr lang="ar-AE" altLang="zh-C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</m:sub>
                    </m:sSub>
                  </m:oMath>
                </a14:m>
                <a:endParaRPr lang="ar-AE" sz="1600" b="0" dirty="0">
                  <a:solidFill>
                    <a:schemeClr val="tx1"/>
                  </a:solidFill>
                  <a:latin typeface="Microsoft YaHei"/>
                  <a:ea typeface="微软雅黑"/>
                </a:endParaRPr>
              </a:p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512 </a:t>
                </a:r>
                <a:r>
                  <a:rPr sz="1600" b="0" dirty="0" err="1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个中心</a:t>
                </a:r>
                <a:endParaRPr sz="160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7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1911095"/>
                <a:ext cx="2441448" cy="9326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method_node"/>
              <p:cNvSpPr/>
              <p:nvPr/>
            </p:nvSpPr>
            <p:spPr>
              <a:xfrm>
                <a:off x="594360" y="4069080"/>
                <a:ext cx="2514600" cy="841248"/>
              </a:xfrm>
              <a:prstGeom prst="rect">
                <a:avLst/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e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Query residual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altLang="zh-CN" sz="1600" i="1" dirty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SupPr>
                      <m:e>
                        <m:r>
                          <a:rPr lang="ar-AE" altLang="zh-CN" sz="1600" i="1" dirty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𝑟</m:t>
                        </m:r>
                      </m:e>
                      <m:sub>
                        <m:r>
                          <a:rPr lang="ar-AE" altLang="zh-CN" sz="1600" b="0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𝑞</m:t>
                        </m:r>
                      </m:sub>
                      <m:sup>
                        <m:r>
                          <a:rPr lang="ar-AE" altLang="zh-CN" sz="1600" i="1" dirty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  <m:r>
                          <a:rPr lang="ar-AE" altLang="zh-CN" sz="1600" i="1" dirty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−1</m:t>
                        </m:r>
                      </m:sup>
                    </m:sSubSup>
                  </m:oMath>
                </a14:m>
                <a:endParaRPr sz="160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8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4069080"/>
                <a:ext cx="2514600" cy="8412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method_node"/>
              <p:cNvSpPr/>
              <p:nvPr/>
            </p:nvSpPr>
            <p:spPr>
              <a:xfrm>
                <a:off x="3657600" y="4023360"/>
                <a:ext cx="2441448" cy="932688"/>
              </a:xfrm>
              <a:prstGeom prst="rect">
                <a:avLst/>
              </a:prstGeom>
              <a:solidFill>
                <a:srgbClr val="EAF2FF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Query codebook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𝑉</m:t>
                        </m:r>
                      </m:e>
                      <m:sub>
                        <m:r>
                          <a:rPr lang="ar-AE" altLang="zh-C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</m:sub>
                    </m:sSub>
                  </m:oMath>
                </a14:m>
                <a:endParaRPr lang="ar-AE" sz="160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ar-AE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512 </a:t>
                </a:r>
                <a:r>
                  <a:rPr lang="zh-CN" altLang="en-US" sz="1600" b="0" dirty="0" err="1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个中心</a:t>
                </a:r>
                <a:endParaRPr sz="160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9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4023360"/>
                <a:ext cx="2441448" cy="9326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method_edge"/>
          <p:cNvCxnSpPr/>
          <p:nvPr/>
        </p:nvCxnSpPr>
        <p:spPr>
          <a:xfrm>
            <a:off x="3108960" y="2386584"/>
            <a:ext cx="521208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ethod_edge"/>
          <p:cNvCxnSpPr/>
          <p:nvPr/>
        </p:nvCxnSpPr>
        <p:spPr>
          <a:xfrm>
            <a:off x="3108960" y="4489704"/>
            <a:ext cx="521208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method_node"/>
              <p:cNvSpPr/>
              <p:nvPr/>
            </p:nvSpPr>
            <p:spPr>
              <a:xfrm>
                <a:off x="6757416" y="2907792"/>
                <a:ext cx="1874519" cy="932688"/>
              </a:xfrm>
              <a:prstGeom prst="rect">
                <a:avLst/>
              </a:prstGeom>
              <a:solidFill>
                <a:srgbClr val="EAF2FF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zh-CN" altLang="en-US" sz="1700" b="1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共享 </a:t>
                </a:r>
                <a:r>
                  <a:rPr lang="en" sz="1700" b="1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token k</a:t>
                </a:r>
              </a:p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en" sz="1700" b="1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I[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700" b="1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ar-AE" altLang="zh-CN" sz="1700" b="1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𝒕</m:t>
                        </m:r>
                      </m:e>
                      <m:sub>
                        <m:r>
                          <a:rPr lang="en-US" altLang="zh-CN" sz="1700" b="1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𝒒</m:t>
                        </m:r>
                      </m:sub>
                    </m:sSub>
                    <m:r>
                      <a:rPr lang="ar-AE" altLang="zh-CN" sz="1700" b="1" i="1" dirty="0">
                        <a:solidFill>
                          <a:srgbClr val="111827"/>
                        </a:solidFill>
                        <a:latin typeface="Cambria Math" panose="02040503050406030204" pitchFamily="18" charset="0"/>
                        <a:ea typeface="微软雅黑"/>
                      </a:rPr>
                      <m:t> </m:t>
                    </m:r>
                  </m:oMath>
                </a14:m>
                <a:r>
                  <a:rPr lang="ar-AE" sz="1700" b="1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700" b="1" i="1" dirty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700" b="1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𝒔</m:t>
                        </m:r>
                      </m:e>
                      <m:sub>
                        <m:r>
                          <a:rPr lang="en-US" altLang="zh-CN" sz="1700" b="1" i="1" dirty="0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𝒑</m:t>
                        </m:r>
                      </m:sub>
                    </m:sSub>
                    <m:r>
                      <a:rPr lang="ar-AE" altLang="zh-CN" sz="1700" b="1" i="1" dirty="0">
                        <a:solidFill>
                          <a:srgbClr val="111827"/>
                        </a:solidFill>
                        <a:latin typeface="Cambria Math" panose="02040503050406030204" pitchFamily="18" charset="0"/>
                        <a:ea typeface="微软雅黑"/>
                      </a:rPr>
                      <m:t> </m:t>
                    </m:r>
                  </m:oMath>
                </a14:m>
                <a:r>
                  <a:rPr lang="en" sz="1700" b="1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]</a:t>
                </a:r>
                <a:endParaRPr sz="1700" b="1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12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416" y="2907792"/>
                <a:ext cx="1874519" cy="9326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method_edge"/>
          <p:cNvCxnSpPr/>
          <p:nvPr/>
        </p:nvCxnSpPr>
        <p:spPr>
          <a:xfrm>
            <a:off x="6099048" y="2386584"/>
            <a:ext cx="320040" cy="0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ethod_edge"/>
          <p:cNvCxnSpPr/>
          <p:nvPr/>
        </p:nvCxnSpPr>
        <p:spPr>
          <a:xfrm>
            <a:off x="6419088" y="2386584"/>
            <a:ext cx="0" cy="987552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ethod_edge"/>
          <p:cNvCxnSpPr/>
          <p:nvPr/>
        </p:nvCxnSpPr>
        <p:spPr>
          <a:xfrm>
            <a:off x="6419088" y="3374136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method_edge"/>
          <p:cNvCxnSpPr/>
          <p:nvPr/>
        </p:nvCxnSpPr>
        <p:spPr>
          <a:xfrm>
            <a:off x="6099048" y="4489704"/>
            <a:ext cx="320040" cy="0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ethod_edge"/>
          <p:cNvCxnSpPr/>
          <p:nvPr/>
        </p:nvCxnSpPr>
        <p:spPr>
          <a:xfrm flipV="1">
            <a:off x="6419088" y="3575304"/>
            <a:ext cx="0" cy="914400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ethod_edge"/>
          <p:cNvCxnSpPr/>
          <p:nvPr/>
        </p:nvCxnSpPr>
        <p:spPr>
          <a:xfrm>
            <a:off x="6419088" y="3575304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method_formula_bg"/>
          <p:cNvSpPr/>
          <p:nvPr/>
        </p:nvSpPr>
        <p:spPr>
          <a:xfrm>
            <a:off x="9153144" y="1975104"/>
            <a:ext cx="2395728" cy="2231136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latex_formula" descr="LaTeX: \mathcal{J}_l=\sum_p d(r_p,u_{l,s_p})&#10;+\alpha_l\sum_q d(r_q,v_{l,t_q})&#10;+\lambda_l\sum_{(q,p)}w_l(q,p)\,\mathbf{1}[t_q\neq s_p]&#10;+\eta_l\sum_p D_{\mathrm{cat},l}(p,s_p)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2016" y="2198307"/>
            <a:ext cx="2157984" cy="17847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83888" y="4447256"/>
            <a:ext cx="25603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 dirty="0" err="1">
                <a:solidFill>
                  <a:srgbClr val="000000"/>
                </a:solidFill>
                <a:latin typeface="Microsoft YaHei"/>
                <a:ea typeface="微软雅黑"/>
              </a:rPr>
              <a:t>稀疏</a:t>
            </a:r>
            <a:r>
              <a:rPr sz="1600" b="1" dirty="0">
                <a:solidFill>
                  <a:srgbClr val="000000"/>
                </a:solidFill>
                <a:latin typeface="Microsoft YaHei"/>
                <a:ea typeface="微软雅黑"/>
              </a:rPr>
              <a:t> Query </a:t>
            </a:r>
            <a:r>
              <a:rPr sz="1600" b="1" dirty="0" err="1">
                <a:solidFill>
                  <a:srgbClr val="000000"/>
                </a:solidFill>
                <a:latin typeface="Microsoft YaHei"/>
                <a:ea typeface="微软雅黑"/>
              </a:rPr>
              <a:t>中心收缩</a:t>
            </a:r>
            <a:endParaRPr sz="1600" b="1" dirty="0">
              <a:solidFill>
                <a:srgbClr val="000000"/>
              </a:solidFill>
              <a:latin typeface="Microsoft YaHei"/>
              <a:ea typeface="微软雅黑"/>
            </a:endParaRPr>
          </a:p>
        </p:txBody>
      </p:sp>
      <p:sp>
        <p:nvSpPr>
          <p:cNvPr id="22" name="method_formula_bg"/>
          <p:cNvSpPr/>
          <p:nvPr/>
        </p:nvSpPr>
        <p:spPr>
          <a:xfrm>
            <a:off x="7958666" y="5098602"/>
            <a:ext cx="3590205" cy="13567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latex_formula" descr="LaTeX: v_{l,k}\leftarrow\operatorname{norm}\!\left(\frac{\sum_{q:t_q=k}r_q+\tau u_{l,k}}{n_{q,k}+\tau}\right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028" y="5238042"/>
            <a:ext cx="3144040" cy="932429"/>
          </a:xfrm>
          <a:prstGeom prst="rect">
            <a:avLst/>
          </a:prstGeom>
        </p:spPr>
      </p:pic>
      <p:sp>
        <p:nvSpPr>
          <p:cNvPr id="24" name="method_node"/>
          <p:cNvSpPr/>
          <p:nvPr/>
        </p:nvSpPr>
        <p:spPr>
          <a:xfrm>
            <a:off x="594360" y="1920240"/>
            <a:ext cx="2468880" cy="93268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POI residual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内容视图</a:t>
            </a:r>
          </a:p>
        </p:txBody>
      </p:sp>
      <p:sp>
        <p:nvSpPr>
          <p:cNvPr id="25" name="method_node"/>
          <p:cNvSpPr/>
          <p:nvPr/>
        </p:nvSpPr>
        <p:spPr>
          <a:xfrm>
            <a:off x="594360" y="4023360"/>
            <a:ext cx="2468880" cy="93268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Query residual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查询视图</a:t>
            </a:r>
          </a:p>
        </p:txBody>
      </p:sp>
      <p:sp>
        <p:nvSpPr>
          <p:cNvPr id="26" name="method_node"/>
          <p:cNvSpPr/>
          <p:nvPr/>
        </p:nvSpPr>
        <p:spPr>
          <a:xfrm>
            <a:off x="3675887" y="1920240"/>
            <a:ext cx="2377440" cy="93268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POI 质心 U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POI 分配</a:t>
            </a:r>
          </a:p>
        </p:txBody>
      </p:sp>
      <p:sp>
        <p:nvSpPr>
          <p:cNvPr id="27" name="method_node"/>
          <p:cNvSpPr/>
          <p:nvPr/>
        </p:nvSpPr>
        <p:spPr>
          <a:xfrm>
            <a:off x="3675887" y="4023360"/>
            <a:ext cx="2377440" cy="93268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Query 质心 V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Query 分配</a:t>
            </a:r>
          </a:p>
        </p:txBody>
      </p:sp>
      <p:sp>
        <p:nvSpPr>
          <p:cNvPr id="28" name="method_node"/>
          <p:cNvSpPr/>
          <p:nvPr/>
        </p:nvSpPr>
        <p:spPr>
          <a:xfrm>
            <a:off x="6766560" y="2926080"/>
            <a:ext cx="2121408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共享离散 token k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图约束促进一致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4A94-21D4-EEF2-16DD-B62503A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6" y="121920"/>
            <a:ext cx="11351683" cy="545592"/>
          </a:xfrm>
        </p:spPr>
        <p:txBody>
          <a:bodyPr vert="horz" wrap="square" lIns="27432" tIns="18288" rIns="27432" bIns="18288" rtlCol="0" anchor="t">
            <a:no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2800" dirty="0" err="1">
                <a:solidFill>
                  <a:srgbClr val="FFFFFF"/>
                </a:solidFill>
                <a:latin typeface="Microsoft YaHei"/>
                <a:ea typeface="微软雅黑"/>
              </a:rPr>
              <a:t>类别软锚点</a:t>
            </a: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，</a:t>
            </a: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残差</a:t>
            </a:r>
            <a:r>
              <a:rPr sz="2800" dirty="0" err="1">
                <a:solidFill>
                  <a:srgbClr val="FFFFFF"/>
                </a:solidFill>
                <a:latin typeface="Microsoft YaHei"/>
                <a:ea typeface="微软雅黑"/>
              </a:rPr>
              <a:t>逐层传递</a:t>
            </a:r>
            <a:endParaRPr sz="2800" dirty="0">
              <a:solidFill>
                <a:srgbClr val="FFFFFF"/>
              </a:solidFill>
              <a:latin typeface="Microsoft YaHei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19216"/>
            <a:ext cx="11027664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0" dirty="0" err="1">
                <a:latin typeface="Microsoft YaHei"/>
                <a:ea typeface="微软雅黑"/>
              </a:rPr>
              <a:t>类别只鼓励路径更纯，不把</a:t>
            </a:r>
            <a:r>
              <a:rPr b="0" dirty="0">
                <a:latin typeface="Microsoft YaHei"/>
                <a:ea typeface="微软雅黑"/>
              </a:rPr>
              <a:t> </a:t>
            </a:r>
            <a:r>
              <a:rPr b="0" dirty="0" err="1">
                <a:latin typeface="Microsoft YaHei"/>
                <a:ea typeface="微软雅黑"/>
              </a:rPr>
              <a:t>CategoryID</a:t>
            </a:r>
            <a:r>
              <a:rPr b="0" dirty="0">
                <a:latin typeface="Microsoft YaHei"/>
                <a:ea typeface="微软雅黑"/>
              </a:rPr>
              <a:t> </a:t>
            </a:r>
            <a:r>
              <a:rPr b="0" dirty="0" err="1">
                <a:latin typeface="Microsoft YaHei"/>
                <a:ea typeface="微软雅黑"/>
              </a:rPr>
              <a:t>硬编码成</a:t>
            </a:r>
            <a:r>
              <a:rPr b="0" dirty="0">
                <a:latin typeface="Microsoft YaHei"/>
                <a:ea typeface="微软雅黑"/>
              </a:rPr>
              <a:t> S1；projection residual </a:t>
            </a:r>
            <a:r>
              <a:rPr b="0" dirty="0" err="1">
                <a:latin typeface="Microsoft YaHei"/>
                <a:ea typeface="微软雅黑"/>
              </a:rPr>
              <a:t>避免下一层重复解释当前方向</a:t>
            </a:r>
            <a:r>
              <a:rPr b="0" dirty="0">
                <a:latin typeface="Microsoft YaHei"/>
                <a:ea typeface="微软雅黑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310896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Microsoft YaHei"/>
                <a:ea typeface="微软雅黑"/>
              </a:rPr>
              <a:t>S1：粗类别软代价</a:t>
            </a:r>
          </a:p>
        </p:txBody>
      </p:sp>
      <p:sp>
        <p:nvSpPr>
          <p:cNvPr id="7" name="method_formula_bg"/>
          <p:cNvSpPr/>
          <p:nvPr/>
        </p:nvSpPr>
        <p:spPr>
          <a:xfrm>
            <a:off x="594360" y="2322576"/>
            <a:ext cx="5175504" cy="1078992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latex_formula" descr="LaTeX: P(c\mid k)=\frac{n(k,c)+\alpha_1P_{\mathrm{global}}(c)}{n(k)+\alpha_1}&#10;D_{\mathrm{cat},1}(p,k)=-\frac{\log P(c_{\mathrm{coarse}}(p)\mid k)}{\log|\mathcal{C}_{\mathrm{coarse}}|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768" y="2395728"/>
            <a:ext cx="2676686" cy="9326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745314"/>
            <a:ext cx="5287149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同一粗类可占多个 S1 码字，不硬绑定单一节点。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434840"/>
            <a:ext cx="3438144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Microsoft YaHei"/>
                <a:ea typeface="微软雅黑"/>
              </a:rPr>
              <a:t>S2：条件细类别软代价</a:t>
            </a:r>
          </a:p>
        </p:txBody>
      </p:sp>
      <p:sp>
        <p:nvSpPr>
          <p:cNvPr id="11" name="method_formula_bg"/>
          <p:cNvSpPr/>
          <p:nvPr/>
        </p:nvSpPr>
        <p:spPr>
          <a:xfrm>
            <a:off x="594360" y="4956048"/>
            <a:ext cx="5175504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latex_formula" descr="LaTeX: D_{\mathrm{cat},2}(p,k)\propto-\log P\!\left(c_{\mathrm{fine}}(p)\mid S_1(p),k\right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539" y="5096229"/>
            <a:ext cx="4459270" cy="351739"/>
          </a:xfrm>
          <a:prstGeom prst="rect">
            <a:avLst/>
          </a:prstGeom>
        </p:spPr>
      </p:pic>
      <p:cxnSp>
        <p:nvCxnSpPr>
          <p:cNvPr id="13" name="method_edge"/>
          <p:cNvCxnSpPr/>
          <p:nvPr/>
        </p:nvCxnSpPr>
        <p:spPr>
          <a:xfrm>
            <a:off x="6117336" y="1783080"/>
            <a:ext cx="0" cy="3813048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73952" y="1801368"/>
            <a:ext cx="406908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Microsoft YaHei"/>
                <a:ea typeface="微软雅黑"/>
              </a:rPr>
              <a:t>逐层 projection residual</a:t>
            </a:r>
          </a:p>
        </p:txBody>
      </p:sp>
      <p:sp>
        <p:nvSpPr>
          <p:cNvPr id="15" name="method_node"/>
          <p:cNvSpPr/>
          <p:nvPr/>
        </p:nvSpPr>
        <p:spPr>
          <a:xfrm>
            <a:off x="6473952" y="2450592"/>
            <a:ext cx="1956816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当前 residual 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method_node"/>
              <p:cNvSpPr/>
              <p:nvPr/>
            </p:nvSpPr>
            <p:spPr>
              <a:xfrm>
                <a:off x="9400032" y="2450592"/>
                <a:ext cx="1956816" cy="658368"/>
              </a:xfrm>
              <a:prstGeom prst="rect">
                <a:avLst/>
              </a:prstGeom>
              <a:solidFill>
                <a:srgbClr val="EAF2FF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zh-CN" altLang="en-US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选中中心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ar-AE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𝑐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𝑘</m:t>
                        </m:r>
                      </m:sub>
                    </m:sSub>
                  </m:oMath>
                </a14:m>
                <a:endParaRPr sz="160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16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0032" y="2450592"/>
                <a:ext cx="1956816" cy="6583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method_edge"/>
          <p:cNvCxnSpPr/>
          <p:nvPr/>
        </p:nvCxnSpPr>
        <p:spPr>
          <a:xfrm>
            <a:off x="8430768" y="2779776"/>
            <a:ext cx="941832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method_formula_bg"/>
          <p:cNvSpPr/>
          <p:nvPr/>
        </p:nvSpPr>
        <p:spPr>
          <a:xfrm>
            <a:off x="6473952" y="3474720"/>
            <a:ext cx="4882896" cy="64008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latex_formula" descr="LaTeX: \operatorname{Proj}_{c_k}(r)=\frac{r^\top c_k}{\|c_k\|_2^2}\,c_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9460" y="3547872"/>
            <a:ext cx="1791878" cy="493775"/>
          </a:xfrm>
          <a:prstGeom prst="rect">
            <a:avLst/>
          </a:prstGeom>
        </p:spPr>
      </p:pic>
      <p:sp>
        <p:nvSpPr>
          <p:cNvPr id="20" name="method_formula_bg"/>
          <p:cNvSpPr/>
          <p:nvPr/>
        </p:nvSpPr>
        <p:spPr>
          <a:xfrm>
            <a:off x="6473952" y="4370832"/>
            <a:ext cx="4882896" cy="64008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latex_formula" descr="LaTeX: r_{\mathrm{next}}=\operatorname{norm}\!\left(r-\operatorname{Proj}_{c_k}(r)\right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9916" y="4506136"/>
            <a:ext cx="3326141" cy="3695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6595873" y="5447968"/>
                <a:ext cx="4882896" cy="6583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 anchor="t">
                <a:noAutofit/>
              </a:bodyPr>
              <a:lstStyle/>
              <a:p>
                <a:pPr>
                  <a:lnSpc>
                    <a:spcPct val="120000"/>
                  </a:lnSpc>
                  <a:spcAft>
                    <a:spcPts val="400"/>
                  </a:spcAft>
                </a:pPr>
                <a:r>
                  <a:rPr lang="e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POI </a:t>
                </a:r>
                <a:r>
                  <a:rPr lang="zh-CN" altLang="en-US" sz="1600" b="0" dirty="0" err="1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沿</a:t>
                </a:r>
                <a:r>
                  <a:rPr lang="zh-CN" altLang="en-US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ar-AE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𝑈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altLang="zh-C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 </a:t>
                </a:r>
                <a:r>
                  <a:rPr lang="zh-CN" altLang="en-US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中心递推</a:t>
                </a:r>
                <a:r>
                  <a:rPr lang="zh-CN" altLang="en-US" sz="160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，</a:t>
                </a:r>
                <a:r>
                  <a:rPr lang="e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Query </a:t>
                </a:r>
                <a:r>
                  <a:rPr lang="zh-CN" altLang="en-US" sz="1600" b="0" dirty="0" err="1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沿</a:t>
                </a:r>
                <a:r>
                  <a:rPr lang="zh-CN" altLang="en-US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60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𝑉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altLang="zh-CN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 </a:t>
                </a:r>
                <a:r>
                  <a:rPr lang="zh-CN" altLang="en-US" sz="160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中心递推</a:t>
                </a: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5873" y="5447968"/>
                <a:ext cx="4882896" cy="658368"/>
              </a:xfrm>
              <a:prstGeom prst="rect">
                <a:avLst/>
              </a:prstGeom>
              <a:blipFill>
                <a:blip r:embed="rId8"/>
                <a:stretch>
                  <a:fillRect l="-2078" t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method_node"/>
          <p:cNvSpPr/>
          <p:nvPr/>
        </p:nvSpPr>
        <p:spPr>
          <a:xfrm>
            <a:off x="9418320" y="2450592"/>
            <a:ext cx="2075688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选中码向量 c_k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4A94-21D4-EEF2-16DD-B62503A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6" y="87825"/>
            <a:ext cx="11351683" cy="57331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机制三：</a:t>
            </a: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S3用局部地理和困难实体做消歧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2885"/>
            <a:ext cx="11027664" cy="518443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0" dirty="0" err="1">
                <a:latin typeface="Microsoft YaHei"/>
                <a:ea typeface="微软雅黑"/>
              </a:rPr>
              <a:t>绝对位置由</a:t>
            </a:r>
            <a:r>
              <a:rPr sz="1700" b="0" dirty="0">
                <a:latin typeface="Microsoft YaHei"/>
                <a:ea typeface="微软雅黑"/>
              </a:rPr>
              <a:t> GID </a:t>
            </a:r>
            <a:r>
              <a:rPr sz="1700" b="0" dirty="0" err="1">
                <a:latin typeface="Microsoft YaHei"/>
                <a:ea typeface="微软雅黑"/>
              </a:rPr>
              <a:t>提供；Geo</a:t>
            </a:r>
            <a:r>
              <a:rPr sz="1700" b="0" dirty="0">
                <a:latin typeface="Microsoft YaHei"/>
                <a:ea typeface="微软雅黑"/>
              </a:rPr>
              <a:t> </a:t>
            </a:r>
            <a:r>
              <a:rPr sz="1700" b="0" dirty="0" err="1">
                <a:latin typeface="Microsoft YaHei"/>
                <a:ea typeface="微软雅黑"/>
              </a:rPr>
              <a:t>只描述同一</a:t>
            </a:r>
            <a:r>
              <a:rPr sz="1700" b="0" dirty="0">
                <a:latin typeface="Microsoft YaHei"/>
                <a:ea typeface="微软雅黑"/>
              </a:rPr>
              <a:t> GID6/S1/S2 </a:t>
            </a:r>
            <a:r>
              <a:rPr sz="1700" b="0" dirty="0" err="1">
                <a:latin typeface="Microsoft YaHei"/>
                <a:ea typeface="微软雅黑"/>
              </a:rPr>
              <a:t>父组内部的相对结构</a:t>
            </a:r>
            <a:r>
              <a:rPr sz="1700" b="0" dirty="0">
                <a:latin typeface="Microsoft YaHei"/>
                <a:ea typeface="微软雅黑"/>
              </a:rPr>
              <a:t>。</a:t>
            </a:r>
          </a:p>
        </p:txBody>
      </p:sp>
      <p:sp>
        <p:nvSpPr>
          <p:cNvPr id="6" name="method_node"/>
          <p:cNvSpPr/>
          <p:nvPr/>
        </p:nvSpPr>
        <p:spPr>
          <a:xfrm>
            <a:off x="594360" y="2852928"/>
            <a:ext cx="2514600" cy="77724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111827"/>
                </a:solidFill>
                <a:latin typeface="Microsoft YaHei"/>
                <a:ea typeface="微软雅黑"/>
              </a:rPr>
              <a:t>parent = (GID6, S1, S2)</a:t>
            </a:r>
          </a:p>
        </p:txBody>
      </p:sp>
      <p:sp>
        <p:nvSpPr>
          <p:cNvPr id="7" name="method_node"/>
          <p:cNvSpPr/>
          <p:nvPr/>
        </p:nvSpPr>
        <p:spPr>
          <a:xfrm>
            <a:off x="3675887" y="1783080"/>
            <a:ext cx="2999232" cy="12161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局部 Geo view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cell dx/dy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log(1+d), sin/cos bearing</a:t>
            </a:r>
          </a:p>
        </p:txBody>
      </p:sp>
      <p:sp>
        <p:nvSpPr>
          <p:cNvPr id="8" name="method_node"/>
          <p:cNvSpPr/>
          <p:nvPr/>
        </p:nvSpPr>
        <p:spPr>
          <a:xfrm>
            <a:off x="3675887" y="3419856"/>
            <a:ext cx="2999232" cy="12161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困难实体图</a:t>
            </a:r>
            <a:endParaRPr sz="1550" b="0" dirty="0">
              <a:solidFill>
                <a:srgbClr val="111827"/>
              </a:solidFill>
              <a:latin typeface="Microsoft YaHei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同细类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+ </a:t>
            </a: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同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GID6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名称或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BGE 近似；Top-20</a:t>
            </a:r>
          </a:p>
        </p:txBody>
      </p:sp>
      <p:sp>
        <p:nvSpPr>
          <p:cNvPr id="9" name="method_node"/>
          <p:cNvSpPr/>
          <p:nvPr/>
        </p:nvSpPr>
        <p:spPr>
          <a:xfrm>
            <a:off x="3675887" y="5020056"/>
            <a:ext cx="2999232" cy="5943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POI residual + D3 Query residual</a:t>
            </a:r>
          </a:p>
        </p:txBody>
      </p:sp>
      <p:cxnSp>
        <p:nvCxnSpPr>
          <p:cNvPr id="10" name="method_edge"/>
          <p:cNvCxnSpPr/>
          <p:nvPr/>
        </p:nvCxnSpPr>
        <p:spPr>
          <a:xfrm>
            <a:off x="3108960" y="3236976"/>
            <a:ext cx="292608" cy="0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ethod_edge"/>
          <p:cNvCxnSpPr/>
          <p:nvPr/>
        </p:nvCxnSpPr>
        <p:spPr>
          <a:xfrm flipV="1">
            <a:off x="3401568" y="2386584"/>
            <a:ext cx="0" cy="850392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ethod_edge"/>
          <p:cNvCxnSpPr/>
          <p:nvPr/>
        </p:nvCxnSpPr>
        <p:spPr>
          <a:xfrm>
            <a:off x="3401568" y="2386584"/>
            <a:ext cx="246888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ethod_edge"/>
          <p:cNvCxnSpPr/>
          <p:nvPr/>
        </p:nvCxnSpPr>
        <p:spPr>
          <a:xfrm>
            <a:off x="3108960" y="3236976"/>
            <a:ext cx="292608" cy="0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ethod_edge"/>
          <p:cNvCxnSpPr/>
          <p:nvPr/>
        </p:nvCxnSpPr>
        <p:spPr>
          <a:xfrm>
            <a:off x="3401568" y="3236976"/>
            <a:ext cx="0" cy="795528"/>
          </a:xfrm>
          <a:prstGeom prst="line">
            <a:avLst/>
          </a:prstGeom>
          <a:ln w="14604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ethod_edge"/>
          <p:cNvCxnSpPr/>
          <p:nvPr/>
        </p:nvCxnSpPr>
        <p:spPr>
          <a:xfrm>
            <a:off x="3401568" y="4032504"/>
            <a:ext cx="246888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ethod_node"/>
          <p:cNvSpPr/>
          <p:nvPr/>
        </p:nvSpPr>
        <p:spPr>
          <a:xfrm>
            <a:off x="7498079" y="2761488"/>
            <a:ext cx="2029968" cy="960120"/>
          </a:xfrm>
          <a:prstGeom prst="rect">
            <a:avLst/>
          </a:prstGeom>
          <a:solidFill>
            <a:srgbClr val="EAF2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11827"/>
                </a:solidFill>
                <a:latin typeface="Microsoft YaHei"/>
                <a:ea typeface="微软雅黑"/>
              </a:rPr>
              <a:t>S3 assignment</a:t>
            </a:r>
          </a:p>
        </p:txBody>
      </p:sp>
      <p:cxnSp>
        <p:nvCxnSpPr>
          <p:cNvPr id="17" name="method_edge"/>
          <p:cNvCxnSpPr/>
          <p:nvPr/>
        </p:nvCxnSpPr>
        <p:spPr>
          <a:xfrm>
            <a:off x="6675120" y="2386584"/>
            <a:ext cx="393192" cy="0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ethod_edge"/>
          <p:cNvCxnSpPr/>
          <p:nvPr/>
        </p:nvCxnSpPr>
        <p:spPr>
          <a:xfrm>
            <a:off x="7068312" y="2386584"/>
            <a:ext cx="0" cy="859536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thod_edge"/>
          <p:cNvCxnSpPr/>
          <p:nvPr/>
        </p:nvCxnSpPr>
        <p:spPr>
          <a:xfrm>
            <a:off x="7068312" y="3246120"/>
            <a:ext cx="402336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ethod_edge"/>
          <p:cNvCxnSpPr/>
          <p:nvPr/>
        </p:nvCxnSpPr>
        <p:spPr>
          <a:xfrm>
            <a:off x="6675120" y="4032504"/>
            <a:ext cx="393192" cy="0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method_edge"/>
          <p:cNvCxnSpPr/>
          <p:nvPr/>
        </p:nvCxnSpPr>
        <p:spPr>
          <a:xfrm flipV="1">
            <a:off x="7068312" y="3246120"/>
            <a:ext cx="0" cy="786384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ethod_edge"/>
          <p:cNvCxnSpPr/>
          <p:nvPr/>
        </p:nvCxnSpPr>
        <p:spPr>
          <a:xfrm>
            <a:off x="7068312" y="3246120"/>
            <a:ext cx="402336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ethod_edge"/>
          <p:cNvCxnSpPr/>
          <p:nvPr/>
        </p:nvCxnSpPr>
        <p:spPr>
          <a:xfrm>
            <a:off x="6675120" y="5312664"/>
            <a:ext cx="393192" cy="0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ethod_edge"/>
          <p:cNvCxnSpPr/>
          <p:nvPr/>
        </p:nvCxnSpPr>
        <p:spPr>
          <a:xfrm flipV="1">
            <a:off x="7068312" y="3246120"/>
            <a:ext cx="0" cy="2066544"/>
          </a:xfrm>
          <a:prstGeom prst="line">
            <a:avLst/>
          </a:prstGeom>
          <a:ln w="14604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ethod_edge"/>
          <p:cNvCxnSpPr/>
          <p:nvPr/>
        </p:nvCxnSpPr>
        <p:spPr>
          <a:xfrm>
            <a:off x="7068312" y="3246120"/>
            <a:ext cx="402336" cy="0"/>
          </a:xfrm>
          <a:prstGeom prst="line">
            <a:avLst/>
          </a:prstGeom>
          <a:ln w="14604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42252" y="4279392"/>
            <a:ext cx="3715045" cy="518443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20" b="0" dirty="0" err="1">
                <a:solidFill>
                  <a:srgbClr val="111827"/>
                </a:solidFill>
                <a:latin typeface="Microsoft YaHei"/>
                <a:ea typeface="微软雅黑"/>
              </a:rPr>
              <a:t>不强制组内每个</a:t>
            </a:r>
            <a:r>
              <a:rPr sz="1520" b="0" dirty="0">
                <a:solidFill>
                  <a:srgbClr val="111827"/>
                </a:solidFill>
                <a:latin typeface="Microsoft YaHei"/>
                <a:ea typeface="微软雅黑"/>
              </a:rPr>
              <a:t> POI </a:t>
            </a:r>
            <a:r>
              <a:rPr sz="1520" b="0" dirty="0" err="1">
                <a:solidFill>
                  <a:srgbClr val="111827"/>
                </a:solidFill>
                <a:latin typeface="Microsoft YaHei"/>
                <a:ea typeface="微软雅黑"/>
              </a:rPr>
              <a:t>使用不同</a:t>
            </a:r>
            <a:r>
              <a:rPr sz="1520" b="0" dirty="0">
                <a:solidFill>
                  <a:srgbClr val="111827"/>
                </a:solidFill>
                <a:latin typeface="Microsoft YaHei"/>
                <a:ea typeface="微软雅黑"/>
              </a:rPr>
              <a:t> S3。</a:t>
            </a:r>
          </a:p>
        </p:txBody>
      </p:sp>
      <p:sp>
        <p:nvSpPr>
          <p:cNvPr id="27" name="method_formula_bg"/>
          <p:cNvSpPr/>
          <p:nvPr/>
        </p:nvSpPr>
        <p:spPr>
          <a:xfrm>
            <a:off x="7498079" y="4965192"/>
            <a:ext cx="4050791" cy="612648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latex_formula" descr="LaTeX: \mathcal{J}_3=\mathcal{J}_{3,\mathrm{dual}}+\gamma_{\mathrm{geo}}D_{\mathrm{local}}+\rho_{\mathrm{hard}}C_{\mathrm{hard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1" y="5105149"/>
            <a:ext cx="3813048" cy="3327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4A94-21D4-EEF2-16DD-B62503A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2777066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QG-</a:t>
            </a:r>
            <a:r>
              <a:rPr lang="en-US" altLang="zh-CN" sz="2800" dirty="0">
                <a:solidFill>
                  <a:srgbClr val="FFFFFF"/>
                </a:solidFill>
                <a:latin typeface="Microsoft YaHei"/>
                <a:ea typeface="微软雅黑"/>
              </a:rPr>
              <a:t>HRQ</a:t>
            </a:r>
            <a:r>
              <a:rPr sz="2800" dirty="0">
                <a:solidFill>
                  <a:srgbClr val="FFFFFF"/>
                </a:solidFill>
                <a:latin typeface="Microsoft YaHei"/>
                <a:ea typeface="微软雅黑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Microsoft YaHei"/>
                <a:ea typeface="微软雅黑"/>
              </a:rPr>
              <a:t>构建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14984"/>
            <a:ext cx="11027664" cy="57607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0" dirty="0" err="1">
                <a:latin typeface="Microsoft YaHei"/>
                <a:ea typeface="微软雅黑"/>
              </a:rPr>
              <a:t>先构建 POI-only PRQ-KMeans，再用其对应层初始化，交替更新双视图分配与中心。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method_node"/>
              <p:cNvSpPr/>
              <p:nvPr/>
            </p:nvSpPr>
            <p:spPr>
              <a:xfrm>
                <a:off x="603504" y="1865376"/>
                <a:ext cx="1493520" cy="1024128"/>
              </a:xfrm>
              <a:prstGeom prst="rect">
                <a:avLst/>
              </a:prstGeom>
              <a:solidFill>
                <a:srgbClr val="EAF2FF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zh-CN" altLang="en-US" sz="137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初始化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" altLang="zh-CN" sz="137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U</m:t>
                        </m:r>
                      </m:e>
                      <m:sub>
                        <m:r>
                          <a:rPr lang="en-US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ar-AE" sz="137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37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𝑠</m:t>
                        </m:r>
                      </m:e>
                      <m:sub>
                        <m:r>
                          <a:rPr lang="en-US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𝑝</m:t>
                        </m:r>
                      </m:sub>
                    </m:sSub>
                  </m:oMath>
                </a14:m>
                <a:endParaRPr sz="137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6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4" y="1865376"/>
                <a:ext cx="1493520" cy="10241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method_node"/>
              <p:cNvSpPr/>
              <p:nvPr/>
            </p:nvSpPr>
            <p:spPr>
              <a:xfrm>
                <a:off x="2499360" y="1865376"/>
                <a:ext cx="1493520" cy="1024128"/>
              </a:xfrm>
              <a:prstGeom prst="rect">
                <a:avLst/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73152" tIns="36576" rIns="73152" bIns="36576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zh-CN" altLang="en-US" sz="137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分配 </a:t>
                </a:r>
                <a:r>
                  <a:rPr lang="en" sz="137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Query</a:t>
                </a:r>
              </a:p>
              <a:p>
                <a:pPr algn="ctr">
                  <a:lnSpc>
                    <a:spcPct val="120000"/>
                  </a:lnSpc>
                  <a:spcAft>
                    <a:spcPts val="0"/>
                  </a:spcAft>
                </a:pPr>
                <a:r>
                  <a:rPr lang="zh-CN" altLang="en-US" sz="1370" b="0" dirty="0" err="1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初始化</a:t>
                </a:r>
                <a14:m>
                  <m:oMath xmlns:m="http://schemas.openxmlformats.org/officeDocument/2006/math">
                    <m:r>
                      <a:rPr lang="en-US" altLang="zh-CN" sz="1370" b="0" i="0" smtClean="0">
                        <a:solidFill>
                          <a:srgbClr val="111827"/>
                        </a:solidFill>
                        <a:latin typeface="Cambria Math" panose="02040503050406030204" pitchFamily="18" charset="0"/>
                        <a:ea typeface="微软雅黑"/>
                      </a:rPr>
                      <m:t> </m:t>
                    </m:r>
                    <m:sSub>
                      <m:sSubPr>
                        <m:ctrlPr>
                          <a:rPr lang="ar-AE" altLang="zh-CN" sz="137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ar-AE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𝑉</m:t>
                        </m:r>
                      </m:e>
                      <m:sub>
                        <m:r>
                          <a:rPr lang="ar-AE" altLang="zh-CN" sz="137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ar-AE" sz="1370" b="0" dirty="0">
                    <a:solidFill>
                      <a:srgbClr val="111827"/>
                    </a:solidFill>
                    <a:latin typeface="Microsoft YaHei"/>
                    <a:ea typeface="微软雅黑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 sz="1370" i="1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</m:ctrlPr>
                      </m:sSubPr>
                      <m:e>
                        <m:r>
                          <a:rPr lang="en-US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𝑡</m:t>
                        </m:r>
                      </m:e>
                      <m:sub>
                        <m:r>
                          <a:rPr lang="en-US" altLang="zh-CN" sz="137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  <a:ea typeface="微软雅黑"/>
                          </a:rPr>
                          <m:t>𝑞</m:t>
                        </m:r>
                      </m:sub>
                    </m:sSub>
                  </m:oMath>
                </a14:m>
                <a:endParaRPr sz="1370" b="0" dirty="0">
                  <a:solidFill>
                    <a:srgbClr val="111827"/>
                  </a:solidFill>
                  <a:latin typeface="Microsoft YaHei"/>
                  <a:ea typeface="微软雅黑"/>
                </a:endParaRPr>
              </a:p>
            </p:txBody>
          </p:sp>
        </mc:Choice>
        <mc:Fallback xmlns="">
          <p:sp>
            <p:nvSpPr>
              <p:cNvPr id="7" name="method_node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360" y="1865376"/>
                <a:ext cx="1493520" cy="10241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CBD5E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method_edge"/>
          <p:cNvCxnSpPr/>
          <p:nvPr/>
        </p:nvCxnSpPr>
        <p:spPr>
          <a:xfrm>
            <a:off x="2142744" y="2377440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thod_node"/>
          <p:cNvSpPr/>
          <p:nvPr/>
        </p:nvSpPr>
        <p:spPr>
          <a:xfrm>
            <a:off x="4395216" y="1865376"/>
            <a:ext cx="1493520" cy="10241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更新 POI assignment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内容 + 图 + 类别</a:t>
            </a:r>
          </a:p>
        </p:txBody>
      </p:sp>
      <p:cxnSp>
        <p:nvCxnSpPr>
          <p:cNvPr id="10" name="method_edge"/>
          <p:cNvCxnSpPr/>
          <p:nvPr/>
        </p:nvCxnSpPr>
        <p:spPr>
          <a:xfrm>
            <a:off x="4038600" y="2377440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method_node"/>
          <p:cNvSpPr/>
          <p:nvPr/>
        </p:nvSpPr>
        <p:spPr>
          <a:xfrm>
            <a:off x="6291072" y="1865376"/>
            <a:ext cx="1493520" cy="10241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更新 Query assignment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距离 + 图</a:t>
            </a:r>
          </a:p>
        </p:txBody>
      </p:sp>
      <p:cxnSp>
        <p:nvCxnSpPr>
          <p:cNvPr id="12" name="method_edge"/>
          <p:cNvCxnSpPr/>
          <p:nvPr/>
        </p:nvCxnSpPr>
        <p:spPr>
          <a:xfrm>
            <a:off x="5934456" y="2377440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ethod_node"/>
          <p:cNvSpPr/>
          <p:nvPr/>
        </p:nvSpPr>
        <p:spPr>
          <a:xfrm>
            <a:off x="8186928" y="1865376"/>
            <a:ext cx="1493520" cy="10241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更新 U/V 与类别分布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Query 中心收缩</a:t>
            </a:r>
          </a:p>
        </p:txBody>
      </p:sp>
      <p:cxnSp>
        <p:nvCxnSpPr>
          <p:cNvPr id="14" name="method_edge"/>
          <p:cNvCxnSpPr/>
          <p:nvPr/>
        </p:nvCxnSpPr>
        <p:spPr>
          <a:xfrm>
            <a:off x="7830312" y="2377440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ethod_node"/>
          <p:cNvSpPr/>
          <p:nvPr/>
        </p:nvSpPr>
        <p:spPr>
          <a:xfrm>
            <a:off x="10082784" y="1865376"/>
            <a:ext cx="1493520" cy="10241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收敛后生成 residual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70" b="0">
                <a:solidFill>
                  <a:srgbClr val="111827"/>
                </a:solidFill>
                <a:latin typeface="Microsoft YaHei"/>
                <a:ea typeface="微软雅黑"/>
              </a:rPr>
              <a:t>进入下一层</a:t>
            </a:r>
          </a:p>
        </p:txBody>
      </p:sp>
      <p:cxnSp>
        <p:nvCxnSpPr>
          <p:cNvPr id="16" name="method_edge"/>
          <p:cNvCxnSpPr/>
          <p:nvPr/>
        </p:nvCxnSpPr>
        <p:spPr>
          <a:xfrm>
            <a:off x="9726168" y="2377440"/>
            <a:ext cx="310896" cy="0"/>
          </a:xfrm>
          <a:prstGeom prst="line">
            <a:avLst/>
          </a:prstGeom>
          <a:ln w="14604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ethod_edge"/>
          <p:cNvCxnSpPr/>
          <p:nvPr/>
        </p:nvCxnSpPr>
        <p:spPr>
          <a:xfrm>
            <a:off x="8924544" y="2898648"/>
            <a:ext cx="0" cy="347472"/>
          </a:xfrm>
          <a:prstGeom prst="line">
            <a:avLst/>
          </a:prstGeom>
          <a:ln w="1778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ethod_edge"/>
          <p:cNvCxnSpPr/>
          <p:nvPr/>
        </p:nvCxnSpPr>
        <p:spPr>
          <a:xfrm flipH="1">
            <a:off x="4370832" y="3246120"/>
            <a:ext cx="4553712" cy="0"/>
          </a:xfrm>
          <a:prstGeom prst="line">
            <a:avLst/>
          </a:prstGeom>
          <a:ln w="1778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thod_edge"/>
          <p:cNvCxnSpPr/>
          <p:nvPr/>
        </p:nvCxnSpPr>
        <p:spPr>
          <a:xfrm flipV="1">
            <a:off x="4370832" y="2916936"/>
            <a:ext cx="0" cy="329184"/>
          </a:xfrm>
          <a:prstGeom prst="line">
            <a:avLst/>
          </a:prstGeom>
          <a:ln w="17780">
            <a:solidFill>
              <a:srgbClr val="1A3A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0" y="3383280"/>
            <a:ext cx="146304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A3A6B"/>
                </a:solidFill>
                <a:latin typeface="Microsoft YaHei"/>
                <a:ea typeface="微软雅黑"/>
              </a:rPr>
              <a:t>每层循环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977639"/>
            <a:ext cx="5212080" cy="3931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>
                <a:solidFill>
                  <a:srgbClr val="000000"/>
                </a:solidFill>
                <a:latin typeface="Microsoft YaHei"/>
                <a:ea typeface="微软雅黑"/>
              </a:rPr>
              <a:t>Assignment 代价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5212080" cy="7132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POI：内容距离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+ </a:t>
            </a: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图不一致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+ </a:t>
            </a: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类别代价</a:t>
            </a:r>
            <a:endParaRPr sz="1550" b="0" dirty="0">
              <a:solidFill>
                <a:srgbClr val="111827"/>
              </a:solidFill>
              <a:latin typeface="Microsoft YaHei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Query：查询距离</a:t>
            </a:r>
            <a:r>
              <a:rPr sz="1550" b="0" dirty="0">
                <a:solidFill>
                  <a:srgbClr val="111827"/>
                </a:solidFill>
                <a:latin typeface="Microsoft YaHei"/>
                <a:ea typeface="微软雅黑"/>
              </a:rPr>
              <a:t> + </a:t>
            </a:r>
            <a:r>
              <a:rPr sz="1550" b="0" dirty="0" err="1">
                <a:solidFill>
                  <a:srgbClr val="111827"/>
                </a:solidFill>
                <a:latin typeface="Microsoft YaHei"/>
                <a:ea typeface="微软雅黑"/>
              </a:rPr>
              <a:t>图不一致</a:t>
            </a:r>
            <a:endParaRPr sz="155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36792" y="3977639"/>
            <a:ext cx="5212080" cy="3931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b="1">
                <a:solidFill>
                  <a:srgbClr val="000000"/>
                </a:solidFill>
                <a:latin typeface="Microsoft YaHei"/>
                <a:ea typeface="微软雅黑"/>
              </a:rPr>
              <a:t>停止条件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434840"/>
            <a:ext cx="5212080" cy="7132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目标相对改善 &lt;1e-4；POI 变化 &lt;0.1%；Query &lt;0.2%；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0">
                <a:solidFill>
                  <a:srgbClr val="111827"/>
                </a:solidFill>
                <a:latin typeface="Microsoft YaHei"/>
                <a:ea typeface="微软雅黑"/>
              </a:rPr>
              <a:t>连续两轮满足，或最多 60 轮。</a:t>
            </a:r>
          </a:p>
        </p:txBody>
      </p:sp>
      <p:sp>
        <p:nvSpPr>
          <p:cNvPr id="27" name="method_node"/>
          <p:cNvSpPr/>
          <p:nvPr/>
        </p:nvSpPr>
        <p:spPr>
          <a:xfrm>
            <a:off x="594360" y="1865376"/>
            <a:ext cx="1499616" cy="10241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POI-only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码本初始化</a:t>
            </a:r>
          </a:p>
        </p:txBody>
      </p:sp>
      <p:sp>
        <p:nvSpPr>
          <p:cNvPr id="28" name="method_node"/>
          <p:cNvSpPr/>
          <p:nvPr/>
        </p:nvSpPr>
        <p:spPr>
          <a:xfrm>
            <a:off x="2496312" y="1865376"/>
            <a:ext cx="1499616" cy="10241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分层 Query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与 POI 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Query 目标共享前缀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36423" y="911860"/>
            <a:ext cx="530352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TIGER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7415" y="911860"/>
            <a:ext cx="530352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>
                <a:solidFill>
                  <a:srgbClr val="111827"/>
                </a:solidFill>
                <a:latin typeface="Microsoft YaHei"/>
                <a:ea typeface="微软雅黑"/>
              </a:rPr>
              <a:t>QG-HRQ</a:t>
            </a:r>
          </a:p>
        </p:txBody>
      </p:sp>
      <p:sp>
        <p:nvSpPr>
          <p:cNvPr id="18" name="TextBox 15"/>
          <p:cNvSpPr txBox="1"/>
          <p:nvPr/>
        </p:nvSpPr>
        <p:spPr>
          <a:xfrm>
            <a:off x="630936" y="1460500"/>
            <a:ext cx="6400800" cy="3474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0">
                <a:solidFill>
                  <a:srgbClr val="111827"/>
                </a:solidFill>
                <a:latin typeface="Microsoft YaHei"/>
                <a:ea typeface="微软雅黑"/>
              </a:rPr>
              <a:t>例  D1：湖南土（S1）</a:t>
            </a:r>
          </a:p>
        </p:txBody>
      </p:sp>
      <p:sp>
        <p:nvSpPr>
          <p:cNvPr id="19" name="TextBox 15"/>
          <p:cNvSpPr txBox="1"/>
          <p:nvPr/>
        </p:nvSpPr>
        <p:spPr>
          <a:xfrm>
            <a:off x="8284463" y="1362202"/>
            <a:ext cx="3300983" cy="3474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8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主前缀占比</a:t>
            </a:r>
            <a:r>
              <a:rPr sz="1800" b="0" dirty="0">
                <a:solidFill>
                  <a:srgbClr val="111827"/>
                </a:solidFill>
                <a:latin typeface="Microsoft YaHei"/>
                <a:ea typeface="微软雅黑"/>
              </a:rPr>
              <a:t> 80.0% → 100.0%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95528" y="2214880"/>
            <a:ext cx="804672" cy="242316"/>
          </a:xfrm>
          <a:prstGeom prst="line">
            <a:avLst/>
          </a:prstGeom>
          <a:ln w="3302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633472" y="1972564"/>
            <a:ext cx="429767" cy="242316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33472" y="2214880"/>
            <a:ext cx="429767" cy="242316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15"/>
          <p:cNvSpPr txBox="1"/>
          <p:nvPr/>
        </p:nvSpPr>
        <p:spPr>
          <a:xfrm>
            <a:off x="1572768" y="1986280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155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80.0%</a:t>
            </a:r>
          </a:p>
        </p:txBody>
      </p:sp>
      <p:sp>
        <p:nvSpPr>
          <p:cNvPr id="24" name="TextBox 15"/>
          <p:cNvSpPr txBox="1"/>
          <p:nvPr/>
        </p:nvSpPr>
        <p:spPr>
          <a:xfrm>
            <a:off x="3108960" y="1762252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湖南土家菜  ×2</a:t>
            </a:r>
          </a:p>
        </p:txBody>
      </p:sp>
      <p:sp>
        <p:nvSpPr>
          <p:cNvPr id="25" name="TextBox 15"/>
          <p:cNvSpPr txBox="1"/>
          <p:nvPr/>
        </p:nvSpPr>
        <p:spPr>
          <a:xfrm>
            <a:off x="3108960" y="2246884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湖南土家菜(沙阳路分店)  ×2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5528" y="2457196"/>
            <a:ext cx="804672" cy="484632"/>
          </a:xfrm>
          <a:prstGeom prst="line">
            <a:avLst/>
          </a:prstGeom>
          <a:ln w="1778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633472" y="2941828"/>
            <a:ext cx="429767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15"/>
          <p:cNvSpPr txBox="1"/>
          <p:nvPr/>
        </p:nvSpPr>
        <p:spPr>
          <a:xfrm>
            <a:off x="1572768" y="2713228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148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20.0%</a:t>
            </a:r>
          </a:p>
        </p:txBody>
      </p:sp>
      <p:sp>
        <p:nvSpPr>
          <p:cNvPr id="29" name="TextBox 15"/>
          <p:cNvSpPr txBox="1"/>
          <p:nvPr/>
        </p:nvSpPr>
        <p:spPr>
          <a:xfrm>
            <a:off x="3108960" y="2731516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湖南土菜馆  ×1</a:t>
            </a:r>
          </a:p>
        </p:txBody>
      </p:sp>
      <p:sp>
        <p:nvSpPr>
          <p:cNvPr id="30" name="Oval 29"/>
          <p:cNvSpPr/>
          <p:nvPr/>
        </p:nvSpPr>
        <p:spPr>
          <a:xfrm>
            <a:off x="740664" y="2402332"/>
            <a:ext cx="109728" cy="109728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6446520" y="2457196"/>
            <a:ext cx="804672" cy="0"/>
          </a:xfrm>
          <a:prstGeom prst="line">
            <a:avLst/>
          </a:prstGeom>
          <a:ln w="381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284464" y="1972564"/>
            <a:ext cx="429768" cy="484632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84464" y="2457196"/>
            <a:ext cx="429768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284464" y="2457196"/>
            <a:ext cx="429768" cy="484632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15"/>
          <p:cNvSpPr txBox="1"/>
          <p:nvPr/>
        </p:nvSpPr>
        <p:spPr>
          <a:xfrm>
            <a:off x="7223760" y="2228596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244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100.0%</a:t>
            </a:r>
          </a:p>
        </p:txBody>
      </p:sp>
      <p:sp>
        <p:nvSpPr>
          <p:cNvPr id="36" name="TextBox 15"/>
          <p:cNvSpPr txBox="1"/>
          <p:nvPr/>
        </p:nvSpPr>
        <p:spPr>
          <a:xfrm>
            <a:off x="8759952" y="1762252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湖南土家菜  ×2</a:t>
            </a:r>
          </a:p>
        </p:txBody>
      </p:sp>
      <p:sp>
        <p:nvSpPr>
          <p:cNvPr id="37" name="TextBox 15"/>
          <p:cNvSpPr txBox="1"/>
          <p:nvPr/>
        </p:nvSpPr>
        <p:spPr>
          <a:xfrm>
            <a:off x="8759952" y="2246884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湖南土菜馆  ×1</a:t>
            </a:r>
          </a:p>
        </p:txBody>
      </p:sp>
      <p:sp>
        <p:nvSpPr>
          <p:cNvPr id="38" name="TextBox 15"/>
          <p:cNvSpPr txBox="1"/>
          <p:nvPr/>
        </p:nvSpPr>
        <p:spPr>
          <a:xfrm>
            <a:off x="8759952" y="2731516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湖南土家菜(沙阳路分店)  ×2</a:t>
            </a:r>
          </a:p>
        </p:txBody>
      </p:sp>
      <p:sp>
        <p:nvSpPr>
          <p:cNvPr id="39" name="Oval 38"/>
          <p:cNvSpPr/>
          <p:nvPr/>
        </p:nvSpPr>
        <p:spPr>
          <a:xfrm>
            <a:off x="6391656" y="2402332"/>
            <a:ext cx="109728" cy="109728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15"/>
          <p:cNvSpPr txBox="1"/>
          <p:nvPr/>
        </p:nvSpPr>
        <p:spPr>
          <a:xfrm>
            <a:off x="630936" y="3576320"/>
            <a:ext cx="6400800" cy="3474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0" dirty="0" err="1">
                <a:solidFill>
                  <a:srgbClr val="111827"/>
                </a:solidFill>
                <a:latin typeface="Microsoft YaHei"/>
                <a:ea typeface="微软雅黑"/>
              </a:rPr>
              <a:t>例</a:t>
            </a:r>
            <a:r>
              <a:rPr sz="1800" b="0" dirty="0">
                <a:solidFill>
                  <a:srgbClr val="111827"/>
                </a:solidFill>
                <a:latin typeface="Microsoft YaHei"/>
                <a:ea typeface="微软雅黑"/>
              </a:rPr>
              <a:t>  D2：24小时打印（S1/S2）</a:t>
            </a:r>
          </a:p>
        </p:txBody>
      </p:sp>
      <p:sp>
        <p:nvSpPr>
          <p:cNvPr id="41" name="TextBox 15"/>
          <p:cNvSpPr txBox="1"/>
          <p:nvPr/>
        </p:nvSpPr>
        <p:spPr>
          <a:xfrm>
            <a:off x="7223760" y="3507104"/>
            <a:ext cx="4160520" cy="3474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8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主前缀占比</a:t>
            </a:r>
            <a:r>
              <a:rPr sz="1800" b="0" dirty="0">
                <a:solidFill>
                  <a:srgbClr val="111827"/>
                </a:solidFill>
                <a:latin typeface="Microsoft YaHei"/>
                <a:ea typeface="微软雅黑"/>
              </a:rPr>
              <a:t> 33.3% → 50.0%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706320" y="4465977"/>
            <a:ext cx="804672" cy="726948"/>
          </a:xfrm>
          <a:prstGeom prst="line">
            <a:avLst/>
          </a:prstGeom>
          <a:ln w="21166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44264" y="4313577"/>
            <a:ext cx="429767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15"/>
          <p:cNvSpPr txBox="1"/>
          <p:nvPr/>
        </p:nvSpPr>
        <p:spPr>
          <a:xfrm>
            <a:off x="1483560" y="4084977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416/75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33.3%</a:t>
            </a:r>
          </a:p>
        </p:txBody>
      </p:sp>
      <p:sp>
        <p:nvSpPr>
          <p:cNvPr id="45" name="TextBox 15"/>
          <p:cNvSpPr txBox="1"/>
          <p:nvPr/>
        </p:nvSpPr>
        <p:spPr>
          <a:xfrm>
            <a:off x="3019752" y="4103265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恒久达·数字印刷(双井店)  ×2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706320" y="4950610"/>
            <a:ext cx="804672" cy="242315"/>
          </a:xfrm>
          <a:prstGeom prst="line">
            <a:avLst/>
          </a:prstGeom>
          <a:ln w="21166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44264" y="4963310"/>
            <a:ext cx="429767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15"/>
          <p:cNvSpPr txBox="1"/>
          <p:nvPr/>
        </p:nvSpPr>
        <p:spPr>
          <a:xfrm>
            <a:off x="1483560" y="4722010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416/328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33.3%</a:t>
            </a:r>
          </a:p>
        </p:txBody>
      </p:sp>
      <p:sp>
        <p:nvSpPr>
          <p:cNvPr id="49" name="TextBox 15"/>
          <p:cNvSpPr txBox="1"/>
          <p:nvPr/>
        </p:nvSpPr>
        <p:spPr>
          <a:xfrm>
            <a:off x="3019752" y="4740297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百步印社 打印复印24小时图文快印…  ×2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6320" y="5192925"/>
            <a:ext cx="804672" cy="242317"/>
          </a:xfrm>
          <a:prstGeom prst="line">
            <a:avLst/>
          </a:prstGeom>
          <a:ln w="16933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44264" y="5613042"/>
            <a:ext cx="429767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15"/>
          <p:cNvSpPr txBox="1"/>
          <p:nvPr/>
        </p:nvSpPr>
        <p:spPr>
          <a:xfrm>
            <a:off x="1483560" y="5384442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416/207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16.7%</a:t>
            </a:r>
          </a:p>
        </p:txBody>
      </p:sp>
      <p:sp>
        <p:nvSpPr>
          <p:cNvPr id="53" name="TextBox 15"/>
          <p:cNvSpPr txBox="1"/>
          <p:nvPr/>
        </p:nvSpPr>
        <p:spPr>
          <a:xfrm>
            <a:off x="3019752" y="5402730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百步印社24H自助打印(远洋一方润…  ×1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6320" y="5192925"/>
            <a:ext cx="804672" cy="726948"/>
          </a:xfrm>
          <a:prstGeom prst="line">
            <a:avLst/>
          </a:prstGeom>
          <a:ln w="16933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44264" y="6338973"/>
            <a:ext cx="429767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15"/>
          <p:cNvSpPr txBox="1"/>
          <p:nvPr/>
        </p:nvSpPr>
        <p:spPr>
          <a:xfrm>
            <a:off x="1483560" y="6110373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416/332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16.7%</a:t>
            </a:r>
          </a:p>
        </p:txBody>
      </p:sp>
      <p:sp>
        <p:nvSpPr>
          <p:cNvPr id="57" name="TextBox 15"/>
          <p:cNvSpPr txBox="1"/>
          <p:nvPr/>
        </p:nvSpPr>
        <p:spPr>
          <a:xfrm>
            <a:off x="3032452" y="6166761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24小时打印复印照相  ×1</a:t>
            </a:r>
          </a:p>
        </p:txBody>
      </p:sp>
      <p:sp>
        <p:nvSpPr>
          <p:cNvPr id="58" name="Oval 57"/>
          <p:cNvSpPr/>
          <p:nvPr/>
        </p:nvSpPr>
        <p:spPr>
          <a:xfrm>
            <a:off x="651456" y="5138062"/>
            <a:ext cx="109728" cy="109728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 flipV="1">
            <a:off x="6446520" y="4658111"/>
            <a:ext cx="804672" cy="484631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284464" y="4250694"/>
            <a:ext cx="429768" cy="242317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284464" y="4594611"/>
            <a:ext cx="429768" cy="242316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15"/>
          <p:cNvSpPr txBox="1"/>
          <p:nvPr/>
        </p:nvSpPr>
        <p:spPr>
          <a:xfrm>
            <a:off x="7223760" y="4366011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157/350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50.0%</a:t>
            </a:r>
          </a:p>
        </p:txBody>
      </p:sp>
      <p:sp>
        <p:nvSpPr>
          <p:cNvPr id="63" name="TextBox 15"/>
          <p:cNvSpPr txBox="1"/>
          <p:nvPr/>
        </p:nvSpPr>
        <p:spPr>
          <a:xfrm>
            <a:off x="8759952" y="4040382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百步印社24H自助打印(</a:t>
            </a:r>
            <a:r>
              <a:rPr sz="1600" b="0" dirty="0" err="1">
                <a:solidFill>
                  <a:srgbClr val="111827"/>
                </a:solidFill>
                <a:latin typeface="Microsoft YaHei"/>
                <a:ea typeface="微软雅黑"/>
              </a:rPr>
              <a:t>远洋一方润</a:t>
            </a:r>
            <a:r>
              <a:rPr sz="1600" b="0" dirty="0">
                <a:solidFill>
                  <a:srgbClr val="111827"/>
                </a:solidFill>
                <a:latin typeface="Microsoft YaHei"/>
                <a:ea typeface="微软雅黑"/>
              </a:rPr>
              <a:t>…  ×1</a:t>
            </a:r>
          </a:p>
        </p:txBody>
      </p:sp>
      <p:sp>
        <p:nvSpPr>
          <p:cNvPr id="64" name="TextBox 15"/>
          <p:cNvSpPr txBox="1"/>
          <p:nvPr/>
        </p:nvSpPr>
        <p:spPr>
          <a:xfrm>
            <a:off x="8759952" y="4626614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百步印社 打印复印24小时图文快印…  ×2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46520" y="5142742"/>
            <a:ext cx="804672" cy="242317"/>
          </a:xfrm>
          <a:prstGeom prst="line">
            <a:avLst/>
          </a:prstGeom>
          <a:ln w="21166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284464" y="5473959"/>
            <a:ext cx="429768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15"/>
          <p:cNvSpPr txBox="1"/>
          <p:nvPr/>
        </p:nvSpPr>
        <p:spPr>
          <a:xfrm>
            <a:off x="7223760" y="5245359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157/296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33.3%</a:t>
            </a:r>
          </a:p>
        </p:txBody>
      </p:sp>
      <p:sp>
        <p:nvSpPr>
          <p:cNvPr id="68" name="TextBox 15"/>
          <p:cNvSpPr txBox="1"/>
          <p:nvPr/>
        </p:nvSpPr>
        <p:spPr>
          <a:xfrm>
            <a:off x="8759952" y="5263647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恒久达·数字印刷(双井店)  ×2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46520" y="5142742"/>
            <a:ext cx="804672" cy="726948"/>
          </a:xfrm>
          <a:prstGeom prst="line">
            <a:avLst/>
          </a:prstGeom>
          <a:ln w="16933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284464" y="6110990"/>
            <a:ext cx="429768" cy="0"/>
          </a:xfrm>
          <a:prstGeom prst="line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15"/>
          <p:cNvSpPr txBox="1"/>
          <p:nvPr/>
        </p:nvSpPr>
        <p:spPr>
          <a:xfrm>
            <a:off x="7223760" y="5882390"/>
            <a:ext cx="1133856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157/193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16.7%</a:t>
            </a:r>
          </a:p>
        </p:txBody>
      </p:sp>
      <p:sp>
        <p:nvSpPr>
          <p:cNvPr id="72" name="TextBox 15"/>
          <p:cNvSpPr txBox="1"/>
          <p:nvPr/>
        </p:nvSpPr>
        <p:spPr>
          <a:xfrm>
            <a:off x="8759952" y="5900678"/>
            <a:ext cx="27432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24小时打印复印照相  ×1</a:t>
            </a:r>
          </a:p>
        </p:txBody>
      </p:sp>
      <p:sp>
        <p:nvSpPr>
          <p:cNvPr id="73" name="Oval 72"/>
          <p:cNvSpPr/>
          <p:nvPr/>
        </p:nvSpPr>
        <p:spPr>
          <a:xfrm>
            <a:off x="6391656" y="5087879"/>
            <a:ext cx="109728" cy="109728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Query 关联S1/S2 前缀语义 t-SNE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841473"/>
            <a:ext cx="11027664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zh-CN" altLang="en-US" sz="2000" dirty="0">
                <a:solidFill>
                  <a:srgbClr val="111827"/>
                </a:solidFill>
                <a:latin typeface="Microsoft YaHei"/>
                <a:ea typeface="微软雅黑"/>
              </a:rPr>
              <a:t>颜色表示 </a:t>
            </a:r>
            <a:r>
              <a:rPr lang="en" altLang="zh-CN" sz="2000" dirty="0">
                <a:solidFill>
                  <a:srgbClr val="111827"/>
                </a:solidFill>
                <a:latin typeface="Microsoft YaHei"/>
                <a:ea typeface="微软雅黑"/>
              </a:rPr>
              <a:t>Query，</a:t>
            </a:r>
            <a:r>
              <a:rPr lang="zh-CN" altLang="en-US" sz="2000" dirty="0">
                <a:solidFill>
                  <a:srgbClr val="111827"/>
                </a:solidFill>
                <a:latin typeface="Microsoft YaHei"/>
                <a:ea typeface="微软雅黑"/>
              </a:rPr>
              <a:t>点面积表示 </a:t>
            </a:r>
            <a:r>
              <a:rPr lang="en" altLang="zh-CN" sz="2000" dirty="0">
                <a:solidFill>
                  <a:srgbClr val="111827"/>
                </a:solidFill>
                <a:latin typeface="Microsoft YaHei"/>
                <a:ea typeface="微软雅黑"/>
              </a:rPr>
              <a:t>POI </a:t>
            </a:r>
            <a:r>
              <a:rPr lang="zh-CN" altLang="en-US" sz="2000" dirty="0">
                <a:solidFill>
                  <a:srgbClr val="111827"/>
                </a:solidFill>
                <a:latin typeface="Microsoft YaHei"/>
                <a:ea typeface="微软雅黑"/>
              </a:rPr>
              <a:t>数。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19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1265886"/>
            <a:ext cx="530352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TIGER</a:t>
            </a:r>
          </a:p>
        </p:txBody>
      </p:sp>
      <p:pic>
        <p:nvPicPr>
          <p:cNvPr id="19" name="Picture 18" descr="tsne_ti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742715"/>
            <a:ext cx="5303520" cy="3886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1257189"/>
            <a:ext cx="530352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QG-HRQ</a:t>
            </a:r>
          </a:p>
        </p:txBody>
      </p:sp>
      <p:pic>
        <p:nvPicPr>
          <p:cNvPr id="20" name="Picture 19" descr="tsne_q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20413"/>
            <a:ext cx="5303520" cy="38862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85800" y="5779008"/>
            <a:ext cx="128016" cy="128016"/>
          </a:xfrm>
          <a:prstGeom prst="ellipse">
            <a:avLst/>
          </a:prstGeom>
          <a:solidFill>
            <a:srgbClr val="4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5660136"/>
            <a:ext cx="2011680" cy="5577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干果张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13 → 11 个前缀</a:t>
            </a:r>
          </a:p>
        </p:txBody>
      </p:sp>
      <p:sp>
        <p:nvSpPr>
          <p:cNvPr id="10" name="Oval 9"/>
          <p:cNvSpPr/>
          <p:nvPr/>
        </p:nvSpPr>
        <p:spPr>
          <a:xfrm>
            <a:off x="2971800" y="5779008"/>
            <a:ext cx="128016" cy="128016"/>
          </a:xfrm>
          <a:prstGeom prst="ellipse">
            <a:avLst/>
          </a:prstGeom>
          <a:solidFill>
            <a:srgbClr val="E69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63824" y="5660136"/>
            <a:ext cx="2011680" cy="5577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yun man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5 → 2 个前缀</a:t>
            </a:r>
          </a:p>
        </p:txBody>
      </p:sp>
      <p:sp>
        <p:nvSpPr>
          <p:cNvPr id="12" name="Oval 11"/>
          <p:cNvSpPr/>
          <p:nvPr/>
        </p:nvSpPr>
        <p:spPr>
          <a:xfrm>
            <a:off x="5257800" y="5779008"/>
            <a:ext cx="128016" cy="128016"/>
          </a:xfrm>
          <a:prstGeom prst="ellipse">
            <a:avLst/>
          </a:prstGeom>
          <a:solidFill>
            <a:srgbClr val="58A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49824" y="5660136"/>
            <a:ext cx="2011680" cy="5577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湘味醇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4 → 4 个前缀</a:t>
            </a:r>
          </a:p>
        </p:txBody>
      </p:sp>
      <p:sp>
        <p:nvSpPr>
          <p:cNvPr id="14" name="Oval 13"/>
          <p:cNvSpPr/>
          <p:nvPr/>
        </p:nvSpPr>
        <p:spPr>
          <a:xfrm>
            <a:off x="7543800" y="5779008"/>
            <a:ext cx="128016" cy="128016"/>
          </a:xfrm>
          <a:prstGeom prst="ellipse">
            <a:avLst/>
          </a:prstGeom>
          <a:solidFill>
            <a:srgbClr val="B36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35824" y="5660136"/>
            <a:ext cx="2011680" cy="5577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安及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5 → 2 个前缀</a:t>
            </a:r>
          </a:p>
        </p:txBody>
      </p:sp>
      <p:sp>
        <p:nvSpPr>
          <p:cNvPr id="16" name="Oval 15"/>
          <p:cNvSpPr/>
          <p:nvPr/>
        </p:nvSpPr>
        <p:spPr>
          <a:xfrm>
            <a:off x="9829800" y="5779008"/>
            <a:ext cx="128016" cy="128016"/>
          </a:xfrm>
          <a:prstGeom prst="ellipse">
            <a:avLst/>
          </a:prstGeom>
          <a:solidFill>
            <a:srgbClr val="8D8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21824" y="5660136"/>
            <a:ext cx="2011680" cy="5577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门框百年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  <a:ea typeface="微软雅黑"/>
              </a:rPr>
              <a:t>5 → 4 个前缀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00216"/>
            <a:ext cx="11027664" cy="35661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endParaRPr lang="zh-CN" altLang="en-US" sz="18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SID 前缀类别纯度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pic>
        <p:nvPicPr>
          <p:cNvPr id="4" name="Picture 3" descr="prefix_p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43000"/>
            <a:ext cx="11027664" cy="52426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局部实体区分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pic>
        <p:nvPicPr>
          <p:cNvPr id="5" name="Picture 4" descr="loca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61" y="1477761"/>
            <a:ext cx="11018520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枣园小区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1005840"/>
            <a:ext cx="548640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111827"/>
                </a:solidFill>
                <a:latin typeface="Microsoft YaHei"/>
                <a:ea typeface="微软雅黑"/>
              </a:rPr>
              <a:t>GID6：wx4dph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44768" y="1005840"/>
            <a:ext cx="548640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000" b="0" dirty="0">
                <a:solidFill>
                  <a:srgbClr val="111827"/>
                </a:solidFill>
                <a:latin typeface="Microsoft YaHei"/>
                <a:ea typeface="微软雅黑"/>
              </a:rPr>
              <a:t>组内 </a:t>
            </a:r>
            <a:r>
              <a:rPr lang="en" sz="2000" b="0" dirty="0">
                <a:solidFill>
                  <a:srgbClr val="111827"/>
                </a:solidFill>
                <a:latin typeface="Microsoft YaHei"/>
                <a:ea typeface="微软雅黑"/>
              </a:rPr>
              <a:t>S1/S2 </a:t>
            </a:r>
            <a:r>
              <a:rPr lang="zh-CN" altLang="en-US" sz="2000" b="0" dirty="0">
                <a:solidFill>
                  <a:srgbClr val="111827"/>
                </a:solidFill>
                <a:latin typeface="Microsoft YaHei"/>
                <a:ea typeface="微软雅黑"/>
              </a:rPr>
              <a:t>相同</a:t>
            </a:r>
            <a:endParaRPr sz="20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pic>
        <p:nvPicPr>
          <p:cNvPr id="15" name="Picture 14" descr="local_ca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9" y="1389840"/>
            <a:ext cx="11018520" cy="3989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6089" y="5309766"/>
            <a:ext cx="516636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S1/S2：320/381；1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个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SID；同码对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4218" y="5298615"/>
            <a:ext cx="516636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S1/S2：51/109；8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个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SID；同码对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0</a:t>
            </a:r>
          </a:p>
        </p:txBody>
      </p:sp>
      <p:sp>
        <p:nvSpPr>
          <p:cNvPr id="16" name="TextBox 7"/>
          <p:cNvSpPr txBox="1"/>
          <p:nvPr/>
        </p:nvSpPr>
        <p:spPr>
          <a:xfrm>
            <a:off x="585216" y="5769864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1  枣园小区25号楼   S3：458 → 435</a:t>
            </a:r>
          </a:p>
        </p:txBody>
      </p:sp>
      <p:sp>
        <p:nvSpPr>
          <p:cNvPr id="17" name="TextBox 7"/>
          <p:cNvSpPr txBox="1"/>
          <p:nvPr/>
        </p:nvSpPr>
        <p:spPr>
          <a:xfrm>
            <a:off x="585216" y="6016752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2  枣园小区27号楼   S3：458 → 455</a:t>
            </a:r>
          </a:p>
        </p:txBody>
      </p:sp>
      <p:sp>
        <p:nvSpPr>
          <p:cNvPr id="18" name="TextBox 7"/>
          <p:cNvSpPr txBox="1"/>
          <p:nvPr/>
        </p:nvSpPr>
        <p:spPr>
          <a:xfrm>
            <a:off x="585216" y="6263640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3  枣园小区26号楼   S3：458 → 481</a:t>
            </a:r>
          </a:p>
        </p:txBody>
      </p:sp>
      <p:sp>
        <p:nvSpPr>
          <p:cNvPr id="19" name="TextBox 7"/>
          <p:cNvSpPr txBox="1"/>
          <p:nvPr/>
        </p:nvSpPr>
        <p:spPr>
          <a:xfrm>
            <a:off x="585216" y="6510527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4  枣园小区24号楼   S3：458 → 27</a:t>
            </a:r>
          </a:p>
        </p:txBody>
      </p:sp>
      <p:sp>
        <p:nvSpPr>
          <p:cNvPr id="20" name="TextBox 7"/>
          <p:cNvSpPr txBox="1"/>
          <p:nvPr/>
        </p:nvSpPr>
        <p:spPr>
          <a:xfrm>
            <a:off x="6217920" y="5769864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5  枣园小区23号楼   S3：458 → 84</a:t>
            </a:r>
          </a:p>
        </p:txBody>
      </p:sp>
      <p:sp>
        <p:nvSpPr>
          <p:cNvPr id="21" name="TextBox 7"/>
          <p:cNvSpPr txBox="1"/>
          <p:nvPr/>
        </p:nvSpPr>
        <p:spPr>
          <a:xfrm>
            <a:off x="6217920" y="6016752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6  枣园小区21号楼   S3：458 → 107</a:t>
            </a:r>
          </a:p>
        </p:txBody>
      </p:sp>
      <p:sp>
        <p:nvSpPr>
          <p:cNvPr id="22" name="TextBox 7"/>
          <p:cNvSpPr txBox="1"/>
          <p:nvPr/>
        </p:nvSpPr>
        <p:spPr>
          <a:xfrm>
            <a:off x="6217920" y="6263640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7  枣园小区22号楼   S3：458 → 496</a:t>
            </a:r>
          </a:p>
        </p:txBody>
      </p:sp>
      <p:sp>
        <p:nvSpPr>
          <p:cNvPr id="23" name="TextBox 7"/>
          <p:cNvSpPr txBox="1"/>
          <p:nvPr/>
        </p:nvSpPr>
        <p:spPr>
          <a:xfrm>
            <a:off x="6217920" y="6510527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dirty="0">
                <a:solidFill>
                  <a:srgbClr val="111827"/>
                </a:solidFill>
                <a:latin typeface="Microsoft YaHei"/>
                <a:ea typeface="微软雅黑"/>
              </a:rPr>
              <a:t>8  枣园小区29号楼   S3：458 → 401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菜市口地铁站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1005840"/>
            <a:ext cx="548640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111827"/>
                </a:solidFill>
                <a:latin typeface="Microsoft YaHei"/>
                <a:ea typeface="微软雅黑"/>
              </a:rPr>
              <a:t>GID6：wx4fbj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44768" y="1005840"/>
            <a:ext cx="548640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111827"/>
                </a:solidFill>
                <a:latin typeface="Microsoft YaHei"/>
                <a:ea typeface="微软雅黑"/>
              </a:rPr>
              <a:t>组内</a:t>
            </a:r>
            <a:r>
              <a:rPr sz="2000" b="0" dirty="0">
                <a:solidFill>
                  <a:srgbClr val="111827"/>
                </a:solidFill>
                <a:latin typeface="Microsoft YaHei"/>
                <a:ea typeface="微软雅黑"/>
              </a:rPr>
              <a:t> S1/S2 </a:t>
            </a:r>
            <a:r>
              <a:rPr sz="2000" b="0" dirty="0" err="1">
                <a:solidFill>
                  <a:srgbClr val="111827"/>
                </a:solidFill>
                <a:latin typeface="Microsoft YaHei"/>
                <a:ea typeface="微软雅黑"/>
              </a:rPr>
              <a:t>相同</a:t>
            </a:r>
            <a:endParaRPr sz="2000" b="0" dirty="0">
              <a:solidFill>
                <a:srgbClr val="111827"/>
              </a:solidFill>
              <a:latin typeface="Microsoft YaHei"/>
              <a:ea typeface="微软雅黑"/>
            </a:endParaRPr>
          </a:p>
        </p:txBody>
      </p:sp>
      <p:pic>
        <p:nvPicPr>
          <p:cNvPr id="14" name="Picture 13" descr="local_cas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93011"/>
            <a:ext cx="11018520" cy="3989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309766"/>
            <a:ext cx="516636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S1/S2：415/84；1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个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SID；同码对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5287464"/>
            <a:ext cx="516636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S1/S2：252/441；6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个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</a:t>
            </a:r>
            <a:r>
              <a:rPr sz="2100" b="0" dirty="0" err="1">
                <a:solidFill>
                  <a:srgbClr val="111827"/>
                </a:solidFill>
                <a:latin typeface="Microsoft YaHei"/>
                <a:ea typeface="微软雅黑"/>
              </a:rPr>
              <a:t>SID；同码对</a:t>
            </a:r>
            <a:r>
              <a:rPr sz="2100" b="0" dirty="0">
                <a:solidFill>
                  <a:srgbClr val="111827"/>
                </a:solidFill>
                <a:latin typeface="Microsoft YaHei"/>
                <a:ea typeface="微软雅黑"/>
              </a:rPr>
              <a:t> 0</a:t>
            </a:r>
          </a:p>
        </p:txBody>
      </p:sp>
      <p:sp>
        <p:nvSpPr>
          <p:cNvPr id="15" name="TextBox 7"/>
          <p:cNvSpPr txBox="1"/>
          <p:nvPr/>
        </p:nvSpPr>
        <p:spPr>
          <a:xfrm>
            <a:off x="585216" y="5769864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1  菜市口地铁站D口   S3：421 → 437</a:t>
            </a:r>
          </a:p>
        </p:txBody>
      </p:sp>
      <p:sp>
        <p:nvSpPr>
          <p:cNvPr id="16" name="TextBox 7"/>
          <p:cNvSpPr txBox="1"/>
          <p:nvPr/>
        </p:nvSpPr>
        <p:spPr>
          <a:xfrm>
            <a:off x="585216" y="6016752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dirty="0">
                <a:solidFill>
                  <a:srgbClr val="111827"/>
                </a:solidFill>
                <a:latin typeface="Microsoft YaHei"/>
                <a:ea typeface="微软雅黑"/>
              </a:rPr>
              <a:t>2  </a:t>
            </a:r>
            <a:r>
              <a:rPr sz="1500" b="0" dirty="0" err="1">
                <a:solidFill>
                  <a:srgbClr val="111827"/>
                </a:solidFill>
                <a:latin typeface="Microsoft YaHei"/>
                <a:ea typeface="微软雅黑"/>
              </a:rPr>
              <a:t>菜市口地铁站E口</a:t>
            </a:r>
            <a:r>
              <a:rPr sz="1500" b="0" dirty="0">
                <a:solidFill>
                  <a:srgbClr val="111827"/>
                </a:solidFill>
                <a:latin typeface="Microsoft YaHei"/>
                <a:ea typeface="微软雅黑"/>
              </a:rPr>
              <a:t>   S3：421 → 468</a:t>
            </a:r>
          </a:p>
        </p:txBody>
      </p:sp>
      <p:sp>
        <p:nvSpPr>
          <p:cNvPr id="17" name="TextBox 7"/>
          <p:cNvSpPr txBox="1"/>
          <p:nvPr/>
        </p:nvSpPr>
        <p:spPr>
          <a:xfrm>
            <a:off x="585216" y="6263640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3  菜市口   S3：421 → 387</a:t>
            </a:r>
          </a:p>
        </p:txBody>
      </p:sp>
      <p:sp>
        <p:nvSpPr>
          <p:cNvPr id="18" name="TextBox 7"/>
          <p:cNvSpPr txBox="1"/>
          <p:nvPr/>
        </p:nvSpPr>
        <p:spPr>
          <a:xfrm>
            <a:off x="585216" y="6510527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4  菜市口地铁站F口   S3：421 → 70</a:t>
            </a:r>
          </a:p>
        </p:txBody>
      </p:sp>
      <p:sp>
        <p:nvSpPr>
          <p:cNvPr id="19" name="TextBox 7"/>
          <p:cNvSpPr txBox="1"/>
          <p:nvPr/>
        </p:nvSpPr>
        <p:spPr>
          <a:xfrm>
            <a:off x="6217920" y="5769864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 dirty="0">
                <a:solidFill>
                  <a:srgbClr val="111827"/>
                </a:solidFill>
                <a:latin typeface="Microsoft YaHei"/>
                <a:ea typeface="微软雅黑"/>
              </a:rPr>
              <a:t>5  </a:t>
            </a:r>
            <a:r>
              <a:rPr sz="1500" b="0" dirty="0" err="1">
                <a:solidFill>
                  <a:srgbClr val="111827"/>
                </a:solidFill>
                <a:latin typeface="Microsoft YaHei"/>
                <a:ea typeface="微软雅黑"/>
              </a:rPr>
              <a:t>菜市口地铁站C口</a:t>
            </a:r>
            <a:r>
              <a:rPr sz="1500" b="0" dirty="0">
                <a:solidFill>
                  <a:srgbClr val="111827"/>
                </a:solidFill>
                <a:latin typeface="Microsoft YaHei"/>
                <a:ea typeface="微软雅黑"/>
              </a:rPr>
              <a:t>   S3：421 → 197</a:t>
            </a:r>
          </a:p>
        </p:txBody>
      </p:sp>
      <p:sp>
        <p:nvSpPr>
          <p:cNvPr id="20" name="TextBox 7"/>
          <p:cNvSpPr txBox="1"/>
          <p:nvPr/>
        </p:nvSpPr>
        <p:spPr>
          <a:xfrm>
            <a:off x="6217920" y="6016752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  <a:ea typeface="微软雅黑"/>
              </a:rPr>
              <a:t>6  菜市口地铁站A口   S3：421 → 323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8D9F8-8975-FD7F-BBC1-010A6D4CC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CEBB-1676-DD1D-9CFB-73C18F66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SID 构建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786821"/>
              </p:ext>
            </p:extLst>
          </p:nvPr>
        </p:nvGraphicFramePr>
        <p:xfrm>
          <a:off x="538353" y="1238631"/>
          <a:ext cx="11027664" cy="3723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221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Quantizer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1" dirty="0" err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唯一</a:t>
                      </a:r>
                      <a:r>
                        <a:rPr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 SID</a:t>
                      </a:r>
                      <a:r>
                        <a:rPr lang="zh-CN" altLang="en-US"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比例</a:t>
                      </a:r>
                      <a:endParaRPr sz="1500" b="1" dirty="0">
                        <a:solidFill>
                          <a:srgbClr val="1A3A6B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1" dirty="0" err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碰撞</a:t>
                      </a:r>
                      <a:r>
                        <a:rPr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POI比例</a:t>
                      </a:r>
                      <a:endParaRPr sz="1500" b="1" dirty="0">
                        <a:solidFill>
                          <a:srgbClr val="1A3A6B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最大桶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D1 / D2 / D3</a:t>
                      </a:r>
                      <a:r>
                        <a:rPr lang="zh-CN" altLang="en-US"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 </a:t>
                      </a:r>
                      <a:r>
                        <a:rPr sz="1500" b="1" dirty="0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Micro Purity (%)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RQ-VAE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77.03%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33.78%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152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59.29 / 70.17 / 95.82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GNPR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RQ-VAE + diversity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85.77%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22.56%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261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64.06 / 76.04 / 98.82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03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GenPOI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RQ-VAE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75.18%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36.58%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191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55.00 / 68.63 / 93.60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RQ-VAE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90.60%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16.22%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45.72 / 63.71 / 97.17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PRQ-KMeans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86.27%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22.42%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95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69.41 / 79.35 / 97.19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PRQ-KMeans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85.61%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23.34%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159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69.41 / 79.35 / 96.99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5546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F386B-F9AA-442A-F9ED-D486EE0F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7B917-42BC-8815-D8EA-C18530959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实验结果：固定 10k Validation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901375"/>
              </p:ext>
            </p:extLst>
          </p:nvPr>
        </p:nvGraphicFramePr>
        <p:xfrm>
          <a:off x="566928" y="1463040"/>
          <a:ext cx="11027664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解码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HR@3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HR@5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NDCG@10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Valid ID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49.78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73.58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79.79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84.51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68.05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74.77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GNPR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48.65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71.55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77.79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82.00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66.22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71.02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019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49.46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73.27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79.61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84.04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67.69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70.24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50.31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74.46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80.74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85.19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68.73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65.40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50.19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73.57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79.97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84.67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68.27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69.84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50.62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75.41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82.12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87.34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69.83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50.87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74.34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80.87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85.95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69.16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0220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4606B-59CD-2C4E-48F7-19F57E02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31FF-AFCC-0EAF-3D25-7EF8DB5C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实验结果：已见 Query / 未见 Query–POI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456791"/>
              </p:ext>
            </p:extLst>
          </p:nvPr>
        </p:nvGraphicFramePr>
        <p:xfrm>
          <a:off x="566928" y="1463040"/>
          <a:ext cx="11027664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解码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HR@3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HR@5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NDCG@10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Valid ID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16.88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35.65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44.55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53.45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34.38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74.52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GNPR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16.11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33.88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41.91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50.58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32.55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68.81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536515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15.72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33.83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42.05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50.63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32.42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69.68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19.03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40.42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50.11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59.05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38.37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62.93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17.61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37.07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46.47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55.82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35.83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69.21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18.87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40.62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50.65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61.48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39.16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17.55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37.33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47.03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57.28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36.37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656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DE496-4166-B3F5-672F-53635C67C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60E9D-BA0B-DD7E-5DD4-472D42B67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实验结果：新 Query / 已见目标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7375252"/>
              </p:ext>
            </p:extLst>
          </p:nvPr>
        </p:nvGraphicFramePr>
        <p:xfrm>
          <a:off x="566928" y="1463040"/>
          <a:ext cx="11027664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解码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HR@3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HR@5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NDCG@10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Valid ID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43.43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59.47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64.82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69.55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56.65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59.48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GNPR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40.85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56.55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61.54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65.52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53.45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54.22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74077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44.28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59.82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64.58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68.54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56.71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48.78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/>
                          <a:ea typeface="微软雅黑"/>
                        </a:rPr>
                        <a:t>46.93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62.78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67.67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72.14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59.83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41.85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44.45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61.35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66.13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70.87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57.92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51.07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46.77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63.81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69.37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74.88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60.93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44.98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62.20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67.28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72.90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59.02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960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C131A-2F10-EF11-68CE-134EEA01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3ADE0-CC7E-2D02-40B5-FABA6FF2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实验结果：长尾目标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445128"/>
              </p:ext>
            </p:extLst>
          </p:nvPr>
        </p:nvGraphicFramePr>
        <p:xfrm>
          <a:off x="566928" y="1463040"/>
          <a:ext cx="11027664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解码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HR@3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HR@5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NDCG@10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Valid ID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15.74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24.85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29.72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36.58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25.21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54.38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GNPR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12.38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18.81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22.50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27.13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19.15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46.41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247458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20.14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29.63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34.14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38.84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29.01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40.65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18.91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29.56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34.48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41.39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29.35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32.31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18.81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29.29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34.92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41.56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29.37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41.19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22.56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36.53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43.20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52.23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36.32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21.89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34.40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40.80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48.52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34.29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4657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22355-27C2-ED61-B800-8349C1C90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A8DDF-304F-1502-46B3-044EE447A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实验结果：冷目标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735754"/>
              </p:ext>
            </p:extLst>
          </p:nvPr>
        </p:nvGraphicFramePr>
        <p:xfrm>
          <a:off x="566928" y="1463040"/>
          <a:ext cx="11027664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解码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HR@3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HR@5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NDCG@10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Valid ID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4.45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6.06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7.16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9.48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6.55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49.19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GNPR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3.75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4.23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4.64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5.21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4.38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41.49</a:t>
                      </a:r>
                      <a:endParaRPr sz="16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318255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8.66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14.06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16.72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19.92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13.94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33.73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5.83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9.38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11.35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14.18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9.58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26.34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6.44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10.41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12.92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17.08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11.09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35.09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10.03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17.33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21.61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27.04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17.76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9.67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16.82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20.84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26.66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17.33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100.00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823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447D9-314E-3749-28D1-025031B79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5954B-35BB-DAC8-4B61-E7DAFD066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21919"/>
            <a:ext cx="11338560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Microsoft YaHei"/>
                <a:ea typeface="微软雅黑"/>
              </a:rPr>
              <a:t>实验结果：全量 Test（606,682 条）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65281"/>
              </p:ext>
            </p:extLst>
          </p:nvPr>
        </p:nvGraphicFramePr>
        <p:xfrm>
          <a:off x="566928" y="1463040"/>
          <a:ext cx="11027664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方法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解码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HR@3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HR@5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HR@10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NDCG@10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Microsoft YaHei"/>
                          <a:ea typeface="微软雅黑"/>
                        </a:rPr>
                        <a:t>Valid ID</a:t>
                      </a:r>
                    </a:p>
                  </a:txBody>
                  <a:tcPr marL="82296" marR="82296" marT="54864" marB="54864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TIGER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49.88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73.51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79.81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84.49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68.06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74.68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MMBERT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50.10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73.39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79.60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84.13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67.98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69.96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/>
                          <a:ea typeface="微软雅黑"/>
                        </a:rPr>
                        <a:t>50.96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/>
                          <a:ea typeface="微软雅黑"/>
                        </a:rPr>
                        <a:t>74.79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/>
                          <a:ea typeface="微软雅黑"/>
                        </a:rPr>
                        <a:t>81.00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/>
                          <a:ea typeface="微软雅黑"/>
                        </a:rPr>
                        <a:t>85.51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Microsoft YaHei"/>
                          <a:ea typeface="微软雅黑"/>
                        </a:rPr>
                        <a:t>69.16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64.88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QG-HRQ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（无</a:t>
                      </a:r>
                      <a:r>
                        <a:rPr lang="en-US" altLang="zh-CN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GID</a:t>
                      </a:r>
                      <a:r>
                        <a:rPr lang="zh-CN" altLang="en-US" sz="15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）</a:t>
                      </a:r>
                      <a:endParaRPr sz="1500" b="0" dirty="0">
                        <a:solidFill>
                          <a:srgbClr val="111827"/>
                        </a:solidFill>
                        <a:latin typeface="Microsoft YaHei"/>
                        <a:ea typeface="微软雅黑"/>
                      </a:endParaRP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无约束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50.19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73.90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80.26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85.17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68.51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Microsoft YaHei"/>
                          <a:ea typeface="微软雅黑"/>
                        </a:rPr>
                        <a:t>69.62</a:t>
                      </a:r>
                    </a:p>
                  </a:txBody>
                  <a:tcPr marL="82296" marR="82296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111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DA5E6B4-0D77-C242-7831-0414A6859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6" y="121919"/>
            <a:ext cx="7100711" cy="536450"/>
          </a:xfrm>
        </p:spPr>
        <p:txBody>
          <a:bodyPr wrap="square" lIns="27432" tIns="18288" rIns="27432" bIns="18288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微软雅黑"/>
              </a:rPr>
              <a:t>总结</a:t>
            </a:r>
            <a:endParaRPr sz="2800" b="1" dirty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2018A1B-1F37-F8D8-DB25-1DD9862053AB}"/>
              </a:ext>
            </a:extLst>
          </p:cNvPr>
          <p:cNvSpPr txBox="1"/>
          <p:nvPr/>
        </p:nvSpPr>
        <p:spPr>
          <a:xfrm>
            <a:off x="505376" y="1489460"/>
            <a:ext cx="88058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QG-HRQ 引入 Query 粒度监督、类别软锚点与局部地理约束。</a:t>
            </a: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继续优化方法，实验对比</a:t>
            </a:r>
            <a:endParaRPr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TRkYTBlMGFkODI3ZDFhOWRjMTg5ZjcxNDZhYWMwYzQ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6708</TotalTime>
  <Words>1746</Words>
  <Application>Microsoft Macintosh PowerPoint</Application>
  <PresentationFormat>宽屏</PresentationFormat>
  <Paragraphs>695</Paragraphs>
  <Slides>25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微软雅黑</vt:lpstr>
      <vt:lpstr>微软雅黑</vt:lpstr>
      <vt:lpstr>Noto Sans CJK SC</vt:lpstr>
      <vt:lpstr>Arial</vt:lpstr>
      <vt:lpstr>Calibri</vt:lpstr>
      <vt:lpstr>Cambria Math</vt:lpstr>
      <vt:lpstr>Times New Roman</vt:lpstr>
      <vt:lpstr>Office Theme</vt:lpstr>
      <vt:lpstr>PowerPoint 演示文稿</vt:lpstr>
      <vt:lpstr>生成式检索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机制二：POI 与 Query 双质心，共享同一个离散 token</vt:lpstr>
      <vt:lpstr>类别软锚点，残差逐层传递</vt:lpstr>
      <vt:lpstr>机制三：S3用局部地理和困难实体做消歧</vt:lpstr>
      <vt:lpstr>QG-HRQ 构建</vt:lpstr>
      <vt:lpstr>Query 目标共享前缀</vt:lpstr>
      <vt:lpstr>Query 关联S1/S2 前缀语义 t-SNE</vt:lpstr>
      <vt:lpstr>SID 前缀类别纯度</vt:lpstr>
      <vt:lpstr>局部实体区分</vt:lpstr>
      <vt:lpstr>枣园小区</vt:lpstr>
      <vt:lpstr>菜市口地铁站</vt:lpstr>
      <vt:lpstr>SID 构建</vt:lpstr>
      <vt:lpstr>实验结果：固定 10k Validation</vt:lpstr>
      <vt:lpstr>实验结果：已见 Query / 未见 Query–POI</vt:lpstr>
      <vt:lpstr>实验结果：新 Query / 已见目标</vt:lpstr>
      <vt:lpstr>实验结果：长尾目标</vt:lpstr>
      <vt:lpstr>实验结果：冷目标</vt:lpstr>
      <vt:lpstr>实验结果：全量 Test（606,682 条）</vt:lpstr>
      <vt:lpstr>总结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生成式 POI 检索项目方案与实验进展（汇报版）</dc:title>
  <dc:subject>内容讲解与实验指标混合排版</dc:subject>
  <dc:creator>POI Generative Retrieval</dc:creator>
  <dc:description>generated using python-pptx</dc:description>
  <cp:lastModifiedBy>didi</cp:lastModifiedBy>
  <cp:revision>342</cp:revision>
  <dcterms:created xsi:type="dcterms:W3CDTF">2013-01-27T09:14:00Z</dcterms:created>
  <dcterms:modified xsi:type="dcterms:W3CDTF">2026-09-17T03:51:41Z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DE24D9AFC49D4824B665D83DF2C9688F_13</vt:lpwstr>
  </property>
  <property fmtid="{D5CDD505-2E9C-101B-9397-08002B2CF9AE}" pid="3" name="KSOProductBuildVer">
    <vt:lpwstr>2052-12.1.0.17827</vt:lpwstr>
  </property>
</Properties>
</file>