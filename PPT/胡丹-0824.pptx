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7" r:id="rId11"/>
    <p:sldId id="268" r:id="rId12"/>
    <p:sldId id="270" r:id="rId13"/>
    <p:sldId id="271" r:id="rId14"/>
    <p:sldId id="275" r:id="rId15"/>
    <p:sldId id="272" r:id="rId16"/>
    <p:sldId id="276" r:id="rId17"/>
    <p:sldId id="277" r:id="rId18"/>
    <p:sldId id="278" r:id="rId19"/>
    <p:sldId id="279" r:id="rId20"/>
    <p:sldId id="274" r:id="rId21"/>
  </p:sldIdLst>
  <p:sldSz cx="12192000" cy="6858000"/>
  <p:notesSz cx="6858000" cy="9144000"/>
  <p:custDataLst>
    <p:tags r:id="rId2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6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F4FF"/>
    <a:srgbClr val="F8FBFD"/>
    <a:srgbClr val="2E7CF6"/>
    <a:srgbClr val="9ECCFD"/>
    <a:srgbClr val="93C5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19"/>
    <p:restoredTop sz="91429"/>
  </p:normalViewPr>
  <p:slideViewPr>
    <p:cSldViewPr snapToGrid="0" snapToObjects="1" showGuides="1">
      <p:cViewPr varScale="1">
        <p:scale>
          <a:sx n="111" d="100"/>
          <a:sy n="111" d="100"/>
        </p:scale>
        <p:origin x="664" y="192"/>
      </p:cViewPr>
      <p:guideLst>
        <p:guide orient="horz" pos="2226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200" b="0" dirty="0">
              <a:solidFill>
                <a:srgbClr val="111827"/>
              </a:solidFill>
              <a:latin typeface="Microsoft YaHei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90921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sz="1200" b="0" dirty="0">
              <a:solidFill>
                <a:srgbClr val="111827"/>
              </a:solidFill>
              <a:latin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sz="1200" b="0" dirty="0">
              <a:solidFill>
                <a:srgbClr val="111827"/>
              </a:solidFill>
              <a:latin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sz="1200" b="0" dirty="0">
              <a:solidFill>
                <a:srgbClr val="111827"/>
              </a:solidFill>
              <a:latin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sz="1200" b="0" dirty="0">
              <a:solidFill>
                <a:srgbClr val="111827"/>
              </a:solidFill>
              <a:latin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sz="1200" b="0" dirty="0">
              <a:solidFill>
                <a:srgbClr val="111827"/>
              </a:solidFill>
              <a:latin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sz="1200" b="0" dirty="0">
              <a:solidFill>
                <a:srgbClr val="111827"/>
              </a:solidFill>
              <a:latin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sz="1200" b="0" dirty="0">
              <a:solidFill>
                <a:srgbClr val="111827"/>
              </a:solidFill>
              <a:latin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200" b="0" dirty="0">
              <a:solidFill>
                <a:srgbClr val="111827"/>
              </a:solidFill>
              <a:latin typeface="Microsoft YaHei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5007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sz="1200" b="0" dirty="0">
              <a:solidFill>
                <a:srgbClr val="111827"/>
              </a:solidFill>
              <a:latin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sz="1200" b="0" dirty="0">
              <a:solidFill>
                <a:srgbClr val="111827"/>
              </a:solidFill>
              <a:latin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sz="1200" b="0" dirty="0">
              <a:solidFill>
                <a:srgbClr val="111827"/>
              </a:solidFill>
              <a:latin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sz="1200" b="0" dirty="0">
              <a:solidFill>
                <a:srgbClr val="111827"/>
              </a:solidFill>
              <a:latin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sz="1200" b="0" dirty="0">
              <a:solidFill>
                <a:srgbClr val="111827"/>
              </a:solidFill>
              <a:latin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sz="1200" b="0" dirty="0">
              <a:solidFill>
                <a:srgbClr val="111827"/>
              </a:solidFill>
              <a:latin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sz="1200" b="0" dirty="0">
              <a:solidFill>
                <a:srgbClr val="111827"/>
              </a:solidFill>
              <a:latin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sz="1200" b="0" dirty="0">
              <a:solidFill>
                <a:srgbClr val="111827"/>
              </a:solidFill>
              <a:latin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sz="1200" b="0" dirty="0">
              <a:solidFill>
                <a:srgbClr val="111827"/>
              </a:solidFill>
              <a:latin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sz="1200" b="0" dirty="0">
              <a:solidFill>
                <a:srgbClr val="111827"/>
              </a:solidFill>
              <a:latin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sz="1200" b="0" dirty="0">
              <a:solidFill>
                <a:srgbClr val="111827"/>
              </a:solidFill>
              <a:latin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F8015-DF84-41FA-9E94-BA51DE2E4658}" type="datetime1">
              <a:rPr lang="en-US" altLang="zh-CN" smtClean="0"/>
              <a:t>8/24/26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3B06F-833C-4282-8B21-93F195BE9DCF}" type="datetime1">
              <a:rPr lang="en-US" altLang="zh-CN" smtClean="0"/>
              <a:t>8/24/26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21281-1D44-441C-9DDE-B4936627E1FE}" type="datetime1">
              <a:rPr lang="en-US" altLang="zh-CN" smtClean="0"/>
              <a:t>8/24/26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997AF-337D-4308-80A8-0E4FAAFEF77A}" type="datetime1">
              <a:rPr lang="en-US" altLang="zh-CN" smtClean="0"/>
              <a:t>8/24/26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0E11C-AF29-404B-84BD-C97916AD109A}" type="datetime1">
              <a:rPr lang="en-US" altLang="zh-CN" smtClean="0"/>
              <a:t>8/24/26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8B016-4D35-4FFA-AAB2-911F490527D3}" type="datetime1">
              <a:rPr lang="en-US" altLang="zh-CN" smtClean="0"/>
              <a:t>8/24/26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8FBFD-206E-4DB4-97C7-5AD8A1A0F586}" type="datetime1">
              <a:rPr lang="en-US" altLang="zh-CN" smtClean="0"/>
              <a:t>8/24/26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5EDB8-0579-4265-A8F4-6EA70868C754}" type="datetime1">
              <a:rPr lang="en-US" altLang="zh-CN" smtClean="0"/>
              <a:t>8/24/26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23B87-9435-4C0A-8A1E-F5BBFA32C3C5}" type="datetime1">
              <a:rPr lang="en-US" altLang="zh-CN" smtClean="0"/>
              <a:t>8/24/26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62101-079D-4F99-B83B-6106A3082DC1}" type="datetime1">
              <a:rPr lang="en-US" altLang="zh-CN" smtClean="0"/>
              <a:t>8/24/26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6800F-0336-42AD-AB4C-E188E73DB4FB}" type="datetime1">
              <a:rPr lang="en-US" altLang="zh-CN" smtClean="0"/>
              <a:t>8/24/26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结束页">
    <p:bg>
      <p:bgPr>
        <a:solidFill>
          <a:srgbClr val="0252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-5259" y="6586256"/>
            <a:ext cx="12192001" cy="23495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5" name="图像" descr="图像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8311" y="6615448"/>
            <a:ext cx="207699" cy="176566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46" y="6473952"/>
            <a:ext cx="11201983" cy="0"/>
          </a:xfrm>
          <a:prstGeom prst="line">
            <a:avLst/>
          </a:prstGeom>
          <a:noFill/>
          <a:ln w="9525">
            <a:solidFill>
              <a:srgbClr val="E6ED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93145" y="6519672"/>
            <a:ext cx="2011785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C9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MobilityBench POI, N=109385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9207" y="6519672"/>
            <a:ext cx="800042" cy="300000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rgbClr val="9AA8B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/>
          <p:nvPr userDrawn="1"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1A3A6B"/>
              </a:gs>
              <a:gs pos="100000">
                <a:srgbClr val="2E7CF6"/>
              </a:gs>
            </a:gsLst>
            <a:lin ang="0" scaled="1"/>
          </a:gradFill>
          <a:ln>
            <a:noFill/>
          </a:ln>
        </p:spPr>
      </p:sp>
      <p:sp>
        <p:nvSpPr>
          <p:cNvPr id="8" name="Rectangle 4"/>
          <p:cNvSpPr/>
          <p:nvPr userDrawn="1"/>
        </p:nvSpPr>
        <p:spPr>
          <a:xfrm>
            <a:off x="0" y="0"/>
            <a:ext cx="57150" cy="762000"/>
          </a:xfrm>
          <a:prstGeom prst="rect">
            <a:avLst/>
          </a:prstGeom>
          <a:solidFill>
            <a:srgbClr val="00C2A8"/>
          </a:solidFill>
          <a:ln>
            <a:noFill/>
          </a:ln>
        </p:spPr>
      </p:sp>
      <p:sp>
        <p:nvSpPr>
          <p:cNvPr id="9" name="Rectangle 8"/>
          <p:cNvSpPr/>
          <p:nvPr userDrawn="1"/>
        </p:nvSpPr>
        <p:spPr>
          <a:xfrm>
            <a:off x="0" y="762000"/>
            <a:ext cx="12192000" cy="38100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150" y="0"/>
            <a:ext cx="82296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3614C7-14EB-4084-AC4C-AAFA56794DEF}" type="datetime1">
              <a:rPr lang="en-US" altLang="zh-CN" smtClean="0"/>
              <a:t>8/24/26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5840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b="1" kern="1200" baseline="0">
          <a:solidFill>
            <a:schemeClr val="bg1"/>
          </a:solidFill>
          <a:latin typeface="Times New Roman" panose="02020603050405020304" pitchFamily="18" charset="0"/>
          <a:ea typeface="微软雅黑" panose="020B0503020204020204" pitchFamily="34" charset="-122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75887" y="2770632"/>
            <a:ext cx="4846320" cy="6583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3000" b="1">
                <a:solidFill>
                  <a:srgbClr val="111827"/>
                </a:solidFill>
                <a:latin typeface="Microsoft YaHei"/>
              </a:rPr>
              <a:t>生成式检索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" y="54864"/>
            <a:ext cx="10881360" cy="6400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阶段问题与实验路线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6455664"/>
            <a:ext cx="56692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Microsoft YaHei"/>
              </a:rPr>
              <a:t>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1101627"/>
              </p:ext>
            </p:extLst>
          </p:nvPr>
        </p:nvGraphicFramePr>
        <p:xfrm>
          <a:off x="384048" y="1042415"/>
          <a:ext cx="11411709" cy="53058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86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17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68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44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489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 err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现有问题</a:t>
                      </a:r>
                      <a:endParaRPr sz="1600" b="1" dirty="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 err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方法</a:t>
                      </a:r>
                      <a:endParaRPr sz="1600" b="1" dirty="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 err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结果</a:t>
                      </a:r>
                      <a:endParaRPr sz="1600" b="1" dirty="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6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分析</a:t>
                      </a:r>
                      <a:endParaRPr sz="1600" b="1" dirty="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418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 err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随机</a:t>
                      </a:r>
                      <a:r>
                        <a:rPr sz="16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10k </a:t>
                      </a:r>
                      <a:r>
                        <a:rPr sz="1600" b="1" dirty="0" err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难反映泛化</a:t>
                      </a:r>
                      <a:endParaRPr sz="1600" b="1" dirty="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 err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四类互斥泛化集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冷目标与长尾显著下降；目标覆盖比 Query 是否重复更重要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 err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保留通用集，增加</a:t>
                      </a:r>
                      <a:r>
                        <a:rPr lang="zh-CN" altLang="en-US" sz="16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泛化集评测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418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 err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静态向量</a:t>
                      </a:r>
                      <a:r>
                        <a:rPr sz="16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/ SID </a:t>
                      </a:r>
                      <a:r>
                        <a:rPr sz="1600" b="1" dirty="0" err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指标</a:t>
                      </a:r>
                      <a:r>
                        <a:rPr lang="zh-CN" altLang="en-US" sz="16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不能反应生成质量</a:t>
                      </a:r>
                      <a:endParaRPr sz="1600" b="1" dirty="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Embedding × Quantizer 2×2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BGE+RQ-</a:t>
                      </a:r>
                      <a:r>
                        <a:rPr sz="1600" b="0" dirty="0" err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KMeans</a:t>
                      </a: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接近</a:t>
                      </a: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TIGER；E4 </a:t>
                      </a:r>
                      <a:r>
                        <a:rPr sz="1600" b="0" dirty="0" err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两种组合均未</a:t>
                      </a:r>
                      <a:r>
                        <a:rPr lang="zh-CN" altLang="en-US" sz="16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超过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 err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主要瓶颈转为</a:t>
                      </a: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Query→SID</a:t>
                      </a: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可预测性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418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 err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容量分配</a:t>
                      </a:r>
                      <a:r>
                        <a:rPr lang="zh-CN" altLang="en-US" sz="16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探索</a:t>
                      </a:r>
                      <a:endParaRPr sz="1600" b="1" dirty="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 err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对称</a:t>
                      </a: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/ </a:t>
                      </a:r>
                      <a:r>
                        <a:rPr sz="1600" b="0" dirty="0" err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前移</a:t>
                      </a: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/ </a:t>
                      </a:r>
                      <a:r>
                        <a:rPr sz="1600" b="0" dirty="0" err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后移</a:t>
                      </a: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+ </a:t>
                      </a:r>
                      <a:r>
                        <a:rPr sz="1600" b="0" dirty="0" err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逐层诊断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 err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后移前三层最好，但完整</a:t>
                      </a: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ID </a:t>
                      </a:r>
                      <a:r>
                        <a:rPr sz="1600" b="0" dirty="0" err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未超过</a:t>
                      </a: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TIGER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 err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损失集中到热点碰撞后缀</a:t>
                      </a: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C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418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 err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随机</a:t>
                      </a:r>
                      <a:r>
                        <a:rPr sz="16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C </a:t>
                      </a:r>
                      <a:r>
                        <a:rPr sz="1600" b="1" dirty="0" err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无语义，关系硬目标过长</a:t>
                      </a:r>
                      <a:endParaRPr sz="1600" b="1" dirty="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GHR </a:t>
                      </a:r>
                      <a:r>
                        <a:rPr sz="1600" b="0" dirty="0" err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关系树与固定</a:t>
                      </a: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32×32 </a:t>
                      </a:r>
                      <a:r>
                        <a:rPr sz="1600" b="0" dirty="0" err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后缀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 err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固定短后缀优于</a:t>
                      </a:r>
                      <a:r>
                        <a:rPr lang="zh-CN" altLang="en-US" sz="16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关系树</a:t>
                      </a: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，仍低于 TIGER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 err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语义后缀需同时满足短、共享、可预测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2418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6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线上向量模型</a:t>
                      </a:r>
                      <a:r>
                        <a:rPr sz="1600" b="1" dirty="0" err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能否</a:t>
                      </a:r>
                      <a:r>
                        <a:rPr lang="zh-CN" altLang="en-US" sz="16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提升</a:t>
                      </a:r>
                      <a:endParaRPr sz="1600" b="1" dirty="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MMBERT</a:t>
                      </a:r>
                      <a:r>
                        <a:rPr lang="zh-CN" altLang="en-US" sz="16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lang="en-US" altLang="zh-CN" sz="16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+</a:t>
                      </a:r>
                      <a:r>
                        <a:rPr lang="zh-CN" altLang="en-US" sz="16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RQ-VAE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 err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SID</a:t>
                      </a:r>
                      <a:r>
                        <a:rPr sz="1600" b="0" dirty="0" err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唯一率</a:t>
                      </a: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83.40%，</a:t>
                      </a:r>
                      <a:r>
                        <a:rPr sz="1600" b="0" dirty="0" err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但完整生成</a:t>
                      </a:r>
                      <a:r>
                        <a:rPr lang="zh-CN" altLang="en-US" sz="16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低于</a:t>
                      </a:r>
                      <a:r>
                        <a:rPr lang="en-US" altLang="zh-CN" sz="1600" b="0" dirty="0" err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TIGER</a:t>
                      </a:r>
                      <a:r>
                        <a:rPr sz="1600" b="0" dirty="0" err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；冷目标有小幅</a:t>
                      </a:r>
                      <a:r>
                        <a:rPr lang="zh-CN" altLang="en-US" sz="16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提升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 err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监督表征有效，但粗层组织不适合直接生成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" y="139198"/>
            <a:ext cx="10881360" cy="4714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1" dirty="0" err="1">
                <a:solidFill>
                  <a:srgbClr val="FFFFFF"/>
                </a:solidFill>
                <a:latin typeface="Microsoft YaHei"/>
              </a:rPr>
              <a:t>泛化评测集</a:t>
            </a:r>
            <a:endParaRPr sz="2800" b="1" dirty="0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045952" y="6455664"/>
            <a:ext cx="56692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Microsoft YaHei"/>
              </a:rPr>
              <a:t>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8890935"/>
              </p:ext>
            </p:extLst>
          </p:nvPr>
        </p:nvGraphicFramePr>
        <p:xfrm>
          <a:off x="438912" y="932687"/>
          <a:ext cx="11292840" cy="3192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6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9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8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评测集</a:t>
                      </a:r>
                      <a:endParaRPr sz="1600" b="1" dirty="0">
                        <a:solidFill>
                          <a:srgbClr val="111827"/>
                        </a:solidFill>
                        <a:latin typeface="Microsoft YaHei"/>
                      </a:endParaRP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筛选条件</a:t>
                      </a:r>
                      <a:endParaRPr sz="1600" b="1" dirty="0">
                        <a:solidFill>
                          <a:srgbClr val="111827"/>
                        </a:solidFill>
                        <a:latin typeface="Microsoft YaHei"/>
                      </a:endParaRP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分析</a:t>
                      </a:r>
                      <a:endParaRPr sz="1600" b="1" dirty="0">
                        <a:solidFill>
                          <a:srgbClr val="111827"/>
                        </a:solidFill>
                        <a:latin typeface="Microsoft YaHei"/>
                      </a:endParaRP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固定随机流量</a:t>
                      </a:r>
                      <a:r>
                        <a:rPr sz="1600" b="1" dirty="0">
                          <a:solidFill>
                            <a:srgbClr val="111827"/>
                          </a:solidFill>
                          <a:latin typeface="Microsoft YaHei"/>
                        </a:rPr>
                        <a:t> 10k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Validation </a:t>
                      </a:r>
                      <a:r>
                        <a:rPr sz="1600" b="0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冻结随机子集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/>
                      </a:endParaRP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</a:rPr>
                        <a:t>总体回归与历史实验可比性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70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11827"/>
                          </a:solidFill>
                          <a:latin typeface="Microsoft YaHei"/>
                        </a:rPr>
                        <a:t>已见 Query / 未见 Pair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Query </a:t>
                      </a:r>
                      <a:r>
                        <a:rPr sz="1600" b="0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在</a:t>
                      </a: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 Train </a:t>
                      </a:r>
                      <a:r>
                        <a:rPr sz="1600" b="0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出现；Query</a:t>
                      </a: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–POI </a:t>
                      </a:r>
                      <a:r>
                        <a:rPr sz="1600" b="0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对未出现；目标频次</a:t>
                      </a: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 ≥6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</a:rPr>
                        <a:t>是否只记住 Query–目标配对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11827"/>
                          </a:solidFill>
                          <a:latin typeface="Microsoft YaHei"/>
                        </a:rPr>
                        <a:t>新 Query / 已见目标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Query </a:t>
                      </a:r>
                      <a:r>
                        <a:rPr sz="1600" b="0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未出现；目标频次</a:t>
                      </a: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 ≥6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</a:rPr>
                        <a:t>Query 文本泛化能力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8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11827"/>
                          </a:solidFill>
                          <a:latin typeface="Microsoft YaHei"/>
                        </a:rPr>
                        <a:t>长尾目标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目标</a:t>
                      </a: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 POI </a:t>
                      </a:r>
                      <a:r>
                        <a:rPr sz="1600" b="0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在</a:t>
                      </a: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 Train </a:t>
                      </a:r>
                      <a:r>
                        <a:rPr sz="1600" b="0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出现</a:t>
                      </a: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 1</a:t>
                      </a:r>
                      <a:r>
                        <a:rPr lang="en-US" altLang="zh-CN"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-</a:t>
                      </a: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5 </a:t>
                      </a:r>
                      <a:r>
                        <a:rPr sz="1600" b="0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次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/>
                      </a:endParaRP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弱监督目标的召回能力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/>
                      </a:endParaRP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8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11827"/>
                          </a:solidFill>
                          <a:latin typeface="Microsoft YaHei"/>
                        </a:rPr>
                        <a:t>冷目标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目标</a:t>
                      </a: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 POI </a:t>
                      </a:r>
                      <a:r>
                        <a:rPr sz="1600" b="0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在</a:t>
                      </a: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 Train </a:t>
                      </a:r>
                      <a:r>
                        <a:rPr sz="1600" b="0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出现</a:t>
                      </a: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 0 </a:t>
                      </a:r>
                      <a:r>
                        <a:rPr sz="1600" b="0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次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/>
                      </a:endParaRP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目录泛化与零样本目标能力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/>
                      </a:endParaRP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234979"/>
            <a:ext cx="4114800" cy="31630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 dirty="0" err="1">
                <a:solidFill>
                  <a:srgbClr val="1A3A6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论文四组</a:t>
            </a:r>
            <a:r>
              <a:rPr lang="zh-CN" altLang="en-US" sz="1800" b="1" dirty="0">
                <a:solidFill>
                  <a:srgbClr val="1A3A6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泛化测试集宏</a:t>
            </a:r>
            <a:r>
              <a:rPr sz="1800" b="1" dirty="0" err="1">
                <a:solidFill>
                  <a:srgbClr val="1A3A6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平均</a:t>
            </a:r>
            <a:endParaRPr sz="1800" b="1" dirty="0">
              <a:solidFill>
                <a:srgbClr val="1A3A6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5794010"/>
              </p:ext>
            </p:extLst>
          </p:nvPr>
        </p:nvGraphicFramePr>
        <p:xfrm>
          <a:off x="333107" y="4661230"/>
          <a:ext cx="11292836" cy="1700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92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3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32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32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32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859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3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2508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sz="1600" b="1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方法</a:t>
                      </a:r>
                      <a:endParaRPr sz="1600" b="1" dirty="0">
                        <a:solidFill>
                          <a:srgbClr val="111827"/>
                        </a:solidFill>
                        <a:latin typeface="Microsoft YaHei"/>
                      </a:endParaRP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sz="1600" b="1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解码</a:t>
                      </a:r>
                      <a:endParaRPr sz="1600" b="1" dirty="0">
                        <a:solidFill>
                          <a:srgbClr val="111827"/>
                        </a:solidFill>
                        <a:latin typeface="Microsoft YaHei"/>
                      </a:endParaRP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sz="1600" b="1" dirty="0">
                          <a:solidFill>
                            <a:srgbClr val="111827"/>
                          </a:solidFill>
                          <a:latin typeface="Microsoft YaHei"/>
                        </a:rPr>
                        <a:t>HR@1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sz="1600" b="1">
                          <a:solidFill>
                            <a:srgbClr val="111827"/>
                          </a:solidFill>
                          <a:latin typeface="Microsoft YaHei"/>
                        </a:rPr>
                        <a:t>HR@3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sz="1600" b="1">
                          <a:solidFill>
                            <a:srgbClr val="111827"/>
                          </a:solidFill>
                          <a:latin typeface="Microsoft YaHei"/>
                        </a:rPr>
                        <a:t>HR@5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sz="1600" b="1">
                          <a:solidFill>
                            <a:srgbClr val="111827"/>
                          </a:solidFill>
                          <a:latin typeface="Microsoft YaHei"/>
                        </a:rPr>
                        <a:t>HR@10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sz="1600" b="1">
                          <a:solidFill>
                            <a:srgbClr val="111827"/>
                          </a:solidFill>
                          <a:latin typeface="Microsoft YaHei"/>
                        </a:rPr>
                        <a:t>NDCG@10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08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sz="1600" b="1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GenPOI</a:t>
                      </a:r>
                      <a:endParaRPr sz="1600" b="1" dirty="0">
                        <a:solidFill>
                          <a:srgbClr val="111827"/>
                        </a:solidFill>
                        <a:latin typeface="Microsoft YaHei"/>
                      </a:endParaRPr>
                    </a:p>
                  </a:txBody>
                  <a:tcPr marL="50292" marR="50292" marT="22860" marB="22860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SSP+TCG</a:t>
                      </a:r>
                    </a:p>
                  </a:txBody>
                  <a:tcPr marL="50292" marR="50292" marT="22860" marB="22860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25.2525</a:t>
                      </a:r>
                    </a:p>
                  </a:txBody>
                  <a:tcPr marL="50292" marR="50292" marT="22860" marB="22860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40.0525</a:t>
                      </a:r>
                    </a:p>
                  </a:txBody>
                  <a:tcPr marL="50292" marR="50292" marT="22860" marB="22860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</a:rPr>
                        <a:t>46.5775</a:t>
                      </a:r>
                    </a:p>
                  </a:txBody>
                  <a:tcPr marL="50292" marR="50292" marT="22860" marB="22860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</a:rPr>
                        <a:t>54.1375</a:t>
                      </a:r>
                    </a:p>
                  </a:txBody>
                  <a:tcPr marL="50292" marR="50292" marT="22860" marB="22860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</a:rPr>
                        <a:t>39.0484</a:t>
                      </a:r>
                    </a:p>
                  </a:txBody>
                  <a:tcPr marL="50292" marR="50292" marT="22860" marB="22860" anchor="ctr">
                    <a:solidFill>
                      <a:srgbClr val="EA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08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sz="1600" b="1" dirty="0">
                          <a:solidFill>
                            <a:srgbClr val="111827"/>
                          </a:solidFill>
                          <a:latin typeface="Microsoft YaHei"/>
                        </a:rPr>
                        <a:t>TIGER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</a:rPr>
                        <a:t>无约束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24.9925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38.9850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44.7575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51.3700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37.6949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08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sz="1600" b="1" dirty="0">
                          <a:solidFill>
                            <a:srgbClr val="111827"/>
                          </a:solidFill>
                          <a:latin typeface="Microsoft YaHei"/>
                        </a:rPr>
                        <a:t>GNPR-SID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</a:rPr>
                        <a:t>无约束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19.0725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29.4775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33.6600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37.7675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28.2409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" y="170232"/>
            <a:ext cx="10881360" cy="40934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dirty="0">
                <a:solidFill>
                  <a:srgbClr val="FFFFFF"/>
                </a:solidFill>
                <a:latin typeface="Microsoft YaHei"/>
              </a:rPr>
              <a:t>Embedding × Quantizer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6455664"/>
            <a:ext cx="56692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Microsoft YaHe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28809"/>
            <a:ext cx="11064240" cy="28520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dirty="0">
                <a:solidFill>
                  <a:srgbClr val="111827"/>
                </a:solidFill>
                <a:latin typeface="Microsoft YaHei"/>
              </a:rPr>
              <a:t>问题：E4 </a:t>
            </a:r>
            <a:r>
              <a:rPr sz="1600" b="0" dirty="0" err="1">
                <a:solidFill>
                  <a:srgbClr val="111827"/>
                </a:solidFill>
                <a:latin typeface="Microsoft YaHei"/>
              </a:rPr>
              <a:t>显著改善</a:t>
            </a:r>
            <a:r>
              <a:rPr sz="1600" b="0" dirty="0">
                <a:solidFill>
                  <a:srgbClr val="111827"/>
                </a:solidFill>
                <a:latin typeface="Microsoft YaHei"/>
              </a:rPr>
              <a:t> Query–POI </a:t>
            </a:r>
            <a:r>
              <a:rPr sz="1600" b="0" dirty="0" err="1">
                <a:solidFill>
                  <a:srgbClr val="111827"/>
                </a:solidFill>
                <a:latin typeface="Microsoft YaHei"/>
              </a:rPr>
              <a:t>连续召回，RQ-KMeans</a:t>
            </a:r>
            <a:r>
              <a:rPr sz="1600" b="0" dirty="0">
                <a:solidFill>
                  <a:srgbClr val="111827"/>
                </a:solidFill>
                <a:latin typeface="Microsoft YaHei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Microsoft YaHei"/>
              </a:rPr>
              <a:t>提高</a:t>
            </a:r>
            <a:r>
              <a:rPr sz="1600" b="0" dirty="0">
                <a:solidFill>
                  <a:srgbClr val="111827"/>
                </a:solidFill>
                <a:latin typeface="Microsoft YaHei"/>
              </a:rPr>
              <a:t> SID </a:t>
            </a:r>
            <a:r>
              <a:rPr sz="1600" b="0" dirty="0" err="1">
                <a:solidFill>
                  <a:srgbClr val="111827"/>
                </a:solidFill>
                <a:latin typeface="Microsoft YaHei"/>
              </a:rPr>
              <a:t>唯一率；二者组合后是否能形成更好的生成标签</a:t>
            </a:r>
            <a:r>
              <a:rPr sz="1600" b="0" dirty="0">
                <a:solidFill>
                  <a:srgbClr val="111827"/>
                </a:solidFill>
                <a:latin typeface="Microsoft YaHei"/>
              </a:rPr>
              <a:t>？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2196910"/>
              </p:ext>
            </p:extLst>
          </p:nvPr>
        </p:nvGraphicFramePr>
        <p:xfrm>
          <a:off x="457200" y="1481328"/>
          <a:ext cx="11283694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9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4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23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95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36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438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60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rgbClr val="111827"/>
                          </a:solidFill>
                          <a:latin typeface="Microsoft YaHei"/>
                        </a:rPr>
                        <a:t>Embedding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rgbClr val="111827"/>
                          </a:solidFill>
                          <a:latin typeface="Microsoft YaHei"/>
                        </a:rPr>
                        <a:t>Quantizer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11827"/>
                          </a:solidFill>
                          <a:latin typeface="Microsoft YaHei"/>
                        </a:rPr>
                        <a:t>三层 SID 唯一率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11827"/>
                          </a:solidFill>
                          <a:latin typeface="Microsoft YaHei"/>
                        </a:rPr>
                        <a:t>相对 TIGER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11827"/>
                          </a:solidFill>
                          <a:latin typeface="Microsoft YaHei"/>
                        </a:rPr>
                        <a:t>最大碰撞桶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判断</a:t>
                      </a:r>
                      <a:endParaRPr sz="1600" b="1" dirty="0">
                        <a:solidFill>
                          <a:srgbClr val="111827"/>
                        </a:solidFill>
                        <a:latin typeface="Microsoft YaHei"/>
                      </a:endParaRP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11827"/>
                          </a:solidFill>
                          <a:latin typeface="Microsoft YaHei"/>
                        </a:rPr>
                        <a:t>BGE-M3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RQ-VAE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71.6766%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306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论文基线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/>
                      </a:endParaRP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11827"/>
                          </a:solidFill>
                          <a:latin typeface="Microsoft YaHei"/>
                        </a:rPr>
                        <a:t>E4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RQ-VAE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74.3539%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+2.6773pp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334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连续空间更可检索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/>
                      </a:endParaRP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11827"/>
                          </a:solidFill>
                          <a:latin typeface="Microsoft YaHei"/>
                        </a:rPr>
                        <a:t>BGE-M3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</a:rPr>
                        <a:t>RQ-KMeans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76.0725%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+4.3959pp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467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整体唯一率提高，热点桶变大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/>
                      </a:endParaRP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11827"/>
                          </a:solidFill>
                          <a:latin typeface="Microsoft YaHei"/>
                        </a:rPr>
                        <a:t>E4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</a:rPr>
                        <a:t>RQ-KMeans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76.1573%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+4.4807pp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288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长尾碰撞改善，收益不相加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/>
                      </a:endParaRP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572000"/>
            <a:ext cx="3511296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A3A6B"/>
                </a:solidFill>
                <a:latin typeface="Microsoft YaHei"/>
              </a:rPr>
              <a:t>E4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074920"/>
            <a:ext cx="3511296" cy="79552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 b="0" dirty="0" err="1">
                <a:solidFill>
                  <a:srgbClr val="111827"/>
                </a:solidFill>
                <a:latin typeface="Microsoft YaHei"/>
              </a:rPr>
              <a:t>在同一</a:t>
            </a:r>
            <a:r>
              <a:rPr sz="1600" b="0" dirty="0">
                <a:solidFill>
                  <a:srgbClr val="111827"/>
                </a:solidFill>
                <a:latin typeface="Microsoft YaHei"/>
              </a:rPr>
              <a:t> RQ-VAE </a:t>
            </a:r>
            <a:r>
              <a:rPr sz="1600" b="0" dirty="0" err="1">
                <a:solidFill>
                  <a:srgbClr val="111827"/>
                </a:solidFill>
                <a:latin typeface="Microsoft YaHei"/>
              </a:rPr>
              <a:t>下，三层唯一率提高</a:t>
            </a:r>
            <a:r>
              <a:rPr sz="1600" b="0" dirty="0">
                <a:solidFill>
                  <a:srgbClr val="111827"/>
                </a:solidFill>
                <a:latin typeface="Microsoft YaHei"/>
              </a:rPr>
              <a:t> 2.68pp；但 D1 </a:t>
            </a:r>
            <a:r>
              <a:rPr sz="1600" b="0" dirty="0" err="1">
                <a:solidFill>
                  <a:srgbClr val="111827"/>
                </a:solidFill>
                <a:latin typeface="Microsoft YaHei"/>
              </a:rPr>
              <a:t>类别纯度下降</a:t>
            </a:r>
            <a:r>
              <a:rPr sz="1600" b="0" dirty="0">
                <a:solidFill>
                  <a:srgbClr val="111827"/>
                </a:solidFill>
                <a:latin typeface="Microsoft YaHei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4572000"/>
            <a:ext cx="3511296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A3A6B"/>
                </a:solidFill>
                <a:latin typeface="Microsoft YaHei"/>
              </a:rPr>
              <a:t>RQ-KMeans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5074920"/>
            <a:ext cx="3511296" cy="79552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 b="0" dirty="0" err="1">
                <a:solidFill>
                  <a:srgbClr val="111827"/>
                </a:solidFill>
                <a:latin typeface="Microsoft YaHei"/>
              </a:rPr>
              <a:t>在</a:t>
            </a:r>
            <a:r>
              <a:rPr sz="1600" b="0" dirty="0">
                <a:solidFill>
                  <a:srgbClr val="111827"/>
                </a:solidFill>
                <a:latin typeface="Microsoft YaHei"/>
              </a:rPr>
              <a:t> BGE </a:t>
            </a:r>
            <a:r>
              <a:rPr sz="1600" b="0" dirty="0" err="1">
                <a:solidFill>
                  <a:srgbClr val="111827"/>
                </a:solidFill>
                <a:latin typeface="Microsoft YaHei"/>
              </a:rPr>
              <a:t>输入下，三层唯一率提高</a:t>
            </a:r>
            <a:r>
              <a:rPr sz="1600" b="0" dirty="0">
                <a:solidFill>
                  <a:srgbClr val="111827"/>
                </a:solidFill>
                <a:latin typeface="Microsoft YaHei"/>
              </a:rPr>
              <a:t> 4.40pp；最大热点桶并未同步改善。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80" y="4572000"/>
            <a:ext cx="3511296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A3A6B"/>
                </a:solidFill>
                <a:latin typeface="Microsoft YaHei"/>
              </a:rPr>
              <a:t>组合关系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60729" y="5074920"/>
            <a:ext cx="3726469" cy="56836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 b="0" dirty="0">
                <a:solidFill>
                  <a:srgbClr val="111827"/>
                </a:solidFill>
                <a:latin typeface="Microsoft YaHei"/>
              </a:rPr>
              <a:t>E4+RQ-KMeans </a:t>
            </a:r>
            <a:r>
              <a:rPr sz="1600" b="0" dirty="0" err="1">
                <a:solidFill>
                  <a:srgbClr val="111827"/>
                </a:solidFill>
                <a:latin typeface="Microsoft YaHei"/>
              </a:rPr>
              <a:t>只比单独</a:t>
            </a:r>
            <a:r>
              <a:rPr sz="1600" b="0" dirty="0">
                <a:solidFill>
                  <a:srgbClr val="111827"/>
                </a:solidFill>
                <a:latin typeface="Microsoft YaHei"/>
              </a:rPr>
              <a:t> RQ-</a:t>
            </a:r>
            <a:r>
              <a:rPr sz="1600" b="0" dirty="0" err="1">
                <a:solidFill>
                  <a:srgbClr val="111827"/>
                </a:solidFill>
                <a:latin typeface="Microsoft YaHei"/>
              </a:rPr>
              <a:t>KMeans</a:t>
            </a:r>
            <a:r>
              <a:rPr sz="1600" b="0" dirty="0">
                <a:solidFill>
                  <a:srgbClr val="111827"/>
                </a:solidFill>
                <a:latin typeface="Microsoft YaHei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Microsoft YaHei"/>
              </a:rPr>
              <a:t>多</a:t>
            </a:r>
            <a:r>
              <a:rPr sz="1600" b="0" dirty="0">
                <a:solidFill>
                  <a:srgbClr val="111827"/>
                </a:solidFill>
                <a:latin typeface="Microsoft YaHei"/>
              </a:rPr>
              <a:t> 0.09pp，静态收益高度重叠。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" y="170232"/>
            <a:ext cx="10881360" cy="40934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dirty="0">
                <a:solidFill>
                  <a:srgbClr val="FFFFFF"/>
                </a:solidFill>
                <a:latin typeface="Microsoft YaHei"/>
              </a:rPr>
              <a:t>Embedding × Quantizer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6455664"/>
            <a:ext cx="56692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Microsoft YaHei"/>
              </a:rPr>
              <a:t>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2267796"/>
              </p:ext>
            </p:extLst>
          </p:nvPr>
        </p:nvGraphicFramePr>
        <p:xfrm>
          <a:off x="475488" y="987552"/>
          <a:ext cx="11228829" cy="36758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28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00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00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00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84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40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36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3517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dirty="0">
                          <a:solidFill>
                            <a:srgbClr val="111827"/>
                          </a:solidFill>
                          <a:latin typeface="Microsoft YaHei"/>
                        </a:rPr>
                        <a:t>Embedding × Quantizer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dirty="0">
                          <a:solidFill>
                            <a:srgbClr val="111827"/>
                          </a:solidFill>
                          <a:latin typeface="Microsoft YaHei"/>
                        </a:rPr>
                        <a:t>HR@1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111827"/>
                          </a:solidFill>
                          <a:latin typeface="Microsoft YaHei"/>
                        </a:rPr>
                        <a:t>HR@3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111827"/>
                          </a:solidFill>
                          <a:latin typeface="Microsoft YaHei"/>
                        </a:rPr>
                        <a:t>HR@5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111827"/>
                          </a:solidFill>
                          <a:latin typeface="Microsoft YaHei"/>
                        </a:rPr>
                        <a:t>HR@10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111827"/>
                          </a:solidFill>
                          <a:latin typeface="Microsoft YaHei"/>
                        </a:rPr>
                        <a:t>NDCG@10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111827"/>
                          </a:solidFill>
                          <a:latin typeface="Microsoft YaHei"/>
                        </a:rPr>
                        <a:t>Valid ID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517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111827"/>
                          </a:solidFill>
                          <a:latin typeface="Microsoft YaHei"/>
                        </a:rPr>
                        <a:t>BGE × RQ-VAE（TIGER）</a:t>
                      </a:r>
                    </a:p>
                  </a:txBody>
                  <a:tcPr marL="50292" marR="50292" marT="22860" marB="22860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51.87</a:t>
                      </a:r>
                    </a:p>
                  </a:txBody>
                  <a:tcPr marL="50292" marR="50292" marT="22860" marB="22860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76.00</a:t>
                      </a:r>
                    </a:p>
                  </a:txBody>
                  <a:tcPr marL="50292" marR="50292" marT="22860" marB="22860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11827"/>
                          </a:solidFill>
                          <a:latin typeface="Microsoft YaHei"/>
                        </a:rPr>
                        <a:t>82.26</a:t>
                      </a:r>
                    </a:p>
                  </a:txBody>
                  <a:tcPr marL="50292" marR="50292" marT="22860" marB="22860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11827"/>
                          </a:solidFill>
                          <a:latin typeface="Microsoft YaHei"/>
                        </a:rPr>
                        <a:t>87.16</a:t>
                      </a:r>
                    </a:p>
                  </a:txBody>
                  <a:tcPr marL="50292" marR="50292" marT="22860" marB="22860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11827"/>
                          </a:solidFill>
                          <a:latin typeface="Microsoft YaHei"/>
                        </a:rPr>
                        <a:t>70.4190</a:t>
                      </a:r>
                    </a:p>
                  </a:txBody>
                  <a:tcPr marL="50292" marR="50292" marT="22860" marB="22860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11827"/>
                          </a:solidFill>
                          <a:latin typeface="Microsoft YaHei"/>
                        </a:rPr>
                        <a:t>74.105</a:t>
                      </a:r>
                    </a:p>
                  </a:txBody>
                  <a:tcPr marL="50292" marR="50292" marT="22860" marB="22860" anchor="ctr">
                    <a:solidFill>
                      <a:srgbClr val="EA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517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dirty="0">
                          <a:solidFill>
                            <a:srgbClr val="111827"/>
                          </a:solidFill>
                          <a:latin typeface="Microsoft YaHei"/>
                        </a:rPr>
                        <a:t>E4 × RQ-VAE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11827"/>
                          </a:solidFill>
                          <a:latin typeface="Microsoft YaHei"/>
                        </a:rPr>
                        <a:t>49.81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74.79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81.28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11827"/>
                          </a:solidFill>
                          <a:latin typeface="Microsoft YaHei"/>
                        </a:rPr>
                        <a:t>86.16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11827"/>
                          </a:solidFill>
                          <a:latin typeface="Microsoft YaHei"/>
                        </a:rPr>
                        <a:t>68.9340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11827"/>
                          </a:solidFill>
                          <a:latin typeface="Microsoft YaHei"/>
                        </a:rPr>
                        <a:t>74.888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517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dirty="0">
                          <a:solidFill>
                            <a:srgbClr val="111827"/>
                          </a:solidFill>
                          <a:latin typeface="Microsoft YaHei"/>
                        </a:rPr>
                        <a:t>BGE × RQ-</a:t>
                      </a:r>
                      <a:r>
                        <a:rPr sz="1800" b="1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KMeans</a:t>
                      </a:r>
                      <a:endParaRPr sz="1800" b="1" dirty="0">
                        <a:solidFill>
                          <a:srgbClr val="111827"/>
                        </a:solidFill>
                        <a:latin typeface="Microsoft YaHei"/>
                      </a:endParaRP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11827"/>
                          </a:solidFill>
                          <a:latin typeface="Microsoft YaHei"/>
                        </a:rPr>
                        <a:t>51.83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11827"/>
                          </a:solidFill>
                          <a:latin typeface="Microsoft YaHei"/>
                        </a:rPr>
                        <a:t>75.76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81.97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86.72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11827"/>
                          </a:solidFill>
                          <a:latin typeface="Microsoft YaHei"/>
                        </a:rPr>
                        <a:t>70.1553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11827"/>
                          </a:solidFill>
                          <a:latin typeface="Microsoft YaHei"/>
                        </a:rPr>
                        <a:t>73.704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517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111827"/>
                          </a:solidFill>
                          <a:latin typeface="Microsoft YaHei"/>
                        </a:rPr>
                        <a:t>E4 × RQ-KMeans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47.99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71.52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11827"/>
                          </a:solidFill>
                          <a:latin typeface="Microsoft YaHei"/>
                        </a:rPr>
                        <a:t>78.35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83.42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66.4329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66.102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5488" y="5243071"/>
            <a:ext cx="10655075" cy="94673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lang="en" altLang="zh-CN" sz="1600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BGE × RQ-</a:t>
            </a:r>
            <a:r>
              <a:rPr lang="en" altLang="zh-CN" sz="1600" dirty="0" err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Kmeans</a:t>
            </a:r>
            <a:r>
              <a:rPr lang="zh-CN" altLang="en-US" sz="1600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sz="1600" dirty="0" err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</a:t>
            </a:r>
            <a:r>
              <a:rPr sz="1600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TIGER </a:t>
            </a:r>
            <a:r>
              <a:rPr sz="1600" dirty="0" err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基本持平：三项分别低</a:t>
            </a:r>
            <a:r>
              <a:rPr sz="1600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0.04 / 0.44 / 0.2637pp。</a:t>
            </a:r>
            <a:r>
              <a:rPr lang="en" altLang="zh-CN" sz="1600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E4 </a:t>
            </a:r>
            <a:r>
              <a:rPr lang="zh-CN" altLang="en-US" sz="1600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在两种 </a:t>
            </a:r>
            <a:r>
              <a:rPr lang="en" altLang="zh-CN" sz="1600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Quantizer </a:t>
            </a:r>
            <a:r>
              <a:rPr lang="zh-CN" altLang="en-US" sz="1600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下都下降；连续向量更近，不代表离散标签更容易由 </a:t>
            </a:r>
            <a:r>
              <a:rPr lang="en" altLang="zh-CN" sz="1600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Query </a:t>
            </a:r>
            <a:r>
              <a:rPr lang="zh-CN" altLang="en-US" sz="1600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生成。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endParaRPr sz="1600" b="0" dirty="0">
              <a:solidFill>
                <a:srgbClr val="111827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" y="139198"/>
            <a:ext cx="10881360" cy="4714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1" dirty="0" err="1">
                <a:solidFill>
                  <a:srgbClr val="FFFFFF"/>
                </a:solidFill>
                <a:latin typeface="Microsoft YaHei"/>
              </a:rPr>
              <a:t>容量分配</a:t>
            </a:r>
            <a:r>
              <a:rPr lang="zh-CN" altLang="en-US" sz="28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探索</a:t>
            </a:r>
            <a:endParaRPr sz="28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045952" y="6455664"/>
            <a:ext cx="56692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Microsoft YaHei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1107" y="960121"/>
            <a:ext cx="11064240" cy="28520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dirty="0" err="1">
                <a:solidFill>
                  <a:srgbClr val="111827"/>
                </a:solidFill>
                <a:latin typeface="Microsoft YaHei"/>
              </a:rPr>
              <a:t>同为</a:t>
            </a:r>
            <a:r>
              <a:rPr sz="1600" b="0" dirty="0">
                <a:solidFill>
                  <a:srgbClr val="111827"/>
                </a:solidFill>
                <a:latin typeface="Microsoft YaHei"/>
              </a:rPr>
              <a:t> 30-bit </a:t>
            </a:r>
            <a:r>
              <a:rPr sz="1600" b="0" dirty="0" err="1">
                <a:solidFill>
                  <a:srgbClr val="111827"/>
                </a:solidFill>
                <a:latin typeface="Microsoft YaHei"/>
              </a:rPr>
              <a:t>三层容量，只改变</a:t>
            </a:r>
            <a:r>
              <a:rPr sz="1600" b="0" dirty="0">
                <a:solidFill>
                  <a:srgbClr val="111827"/>
                </a:solidFill>
                <a:latin typeface="Microsoft YaHei"/>
              </a:rPr>
              <a:t> S1/S2/S3 </a:t>
            </a:r>
            <a:r>
              <a:rPr sz="1600" b="0" dirty="0" err="1">
                <a:solidFill>
                  <a:srgbClr val="111827"/>
                </a:solidFill>
                <a:latin typeface="Microsoft YaHei"/>
              </a:rPr>
              <a:t>的分配；所有方法沿用相同</a:t>
            </a:r>
            <a:r>
              <a:rPr sz="1600" b="0" dirty="0">
                <a:solidFill>
                  <a:srgbClr val="111827"/>
                </a:solidFill>
                <a:latin typeface="Microsoft YaHei"/>
              </a:rPr>
              <a:t> E4、RQ-KMeans </a:t>
            </a:r>
            <a:r>
              <a:rPr sz="1600" b="0" dirty="0" err="1">
                <a:solidFill>
                  <a:srgbClr val="111827"/>
                </a:solidFill>
                <a:latin typeface="Microsoft YaHei"/>
              </a:rPr>
              <a:t>与随机碰撞</a:t>
            </a:r>
            <a:r>
              <a:rPr sz="1600" b="0" dirty="0">
                <a:solidFill>
                  <a:srgbClr val="111827"/>
                </a:solidFill>
                <a:latin typeface="Microsoft YaHei"/>
              </a:rPr>
              <a:t> C。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1925847"/>
              </p:ext>
            </p:extLst>
          </p:nvPr>
        </p:nvGraphicFramePr>
        <p:xfrm>
          <a:off x="457200" y="1426464"/>
          <a:ext cx="11283693" cy="2907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35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8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48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8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98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61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723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8155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布局</a:t>
                      </a:r>
                      <a:endParaRPr sz="1600" b="1" dirty="0">
                        <a:solidFill>
                          <a:srgbClr val="111827"/>
                        </a:solidFill>
                        <a:latin typeface="Microsoft YaHei"/>
                      </a:endParaRP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rgbClr val="111827"/>
                          </a:solidFill>
                          <a:latin typeface="Microsoft YaHei"/>
                        </a:rPr>
                        <a:t>S1×S2×S3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11827"/>
                          </a:solidFill>
                          <a:latin typeface="Microsoft YaHei"/>
                        </a:rPr>
                        <a:t>三层唯一率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11827"/>
                          </a:solidFill>
                          <a:latin typeface="Microsoft YaHei"/>
                        </a:rPr>
                        <a:t>目标碰撞桶请求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11827"/>
                          </a:solidFill>
                          <a:latin typeface="Microsoft YaHei"/>
                        </a:rPr>
                        <a:t>HR@1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11827"/>
                          </a:solidFill>
                          <a:latin typeface="Microsoft YaHei"/>
                        </a:rPr>
                        <a:t>HR@10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11827"/>
                          </a:solidFill>
                          <a:latin typeface="Microsoft YaHei"/>
                        </a:rPr>
                        <a:t>NDCG@10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55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rgbClr val="111827"/>
                          </a:solidFill>
                          <a:latin typeface="Microsoft YaHei"/>
                        </a:rPr>
                        <a:t>TIGER 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1024³（RQ-VAE）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71.6766%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</a:rPr>
                        <a:t>38.54%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</a:rPr>
                        <a:t>51.87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</a:rPr>
                        <a:t>87.16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</a:rPr>
                        <a:t>70.4190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55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对称</a:t>
                      </a:r>
                      <a:endParaRPr sz="1600" b="1" dirty="0">
                        <a:solidFill>
                          <a:srgbClr val="111827"/>
                        </a:solidFill>
                        <a:latin typeface="Microsoft YaHei"/>
                      </a:endParaRP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</a:rPr>
                        <a:t>1024×1024×1024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76.1573%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49.29%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</a:rPr>
                        <a:t>47.99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</a:rPr>
                        <a:t>83.42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</a:rPr>
                        <a:t>66.4329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55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11827"/>
                          </a:solidFill>
                          <a:latin typeface="Microsoft YaHei"/>
                        </a:rPr>
                        <a:t>容量前移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</a:rPr>
                        <a:t>2048×1024×512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</a:rPr>
                        <a:t>79.8731%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41.90%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50.47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</a:rPr>
                        <a:t>87.01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</a:rPr>
                        <a:t>69.6711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55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11827"/>
                          </a:solidFill>
                          <a:latin typeface="Microsoft YaHei"/>
                        </a:rPr>
                        <a:t>容量后移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</a:rPr>
                        <a:t>512×1024×2048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</a:rPr>
                        <a:t>73.1878%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</a:rPr>
                        <a:t>52.77%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50.67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87.08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69.8064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599432"/>
            <a:ext cx="3511296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A3A6B"/>
                </a:solidFill>
                <a:latin typeface="Microsoft YaHei"/>
              </a:rPr>
              <a:t>容量前移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102352"/>
            <a:ext cx="3511296" cy="79552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 b="0" dirty="0" err="1">
                <a:solidFill>
                  <a:srgbClr val="111827"/>
                </a:solidFill>
                <a:latin typeface="Microsoft YaHei"/>
              </a:rPr>
              <a:t>减少后段碰撞，但把第一步扩大为</a:t>
            </a:r>
            <a:r>
              <a:rPr sz="1600" b="0" dirty="0">
                <a:solidFill>
                  <a:srgbClr val="111827"/>
                </a:solidFill>
                <a:latin typeface="Microsoft YaHei"/>
              </a:rPr>
              <a:t> 2,048 </a:t>
            </a:r>
            <a:r>
              <a:rPr sz="1600" b="0" dirty="0" err="1">
                <a:solidFill>
                  <a:srgbClr val="111827"/>
                </a:solidFill>
                <a:latin typeface="Microsoft YaHei"/>
              </a:rPr>
              <a:t>类；静态结构最好</a:t>
            </a:r>
            <a:r>
              <a:rPr sz="1600" b="0" dirty="0">
                <a:solidFill>
                  <a:srgbClr val="111827"/>
                </a:solidFill>
                <a:latin typeface="Microsoft YaHei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4599432"/>
            <a:ext cx="3511296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A3A6B"/>
                </a:solidFill>
                <a:latin typeface="Microsoft YaHei"/>
              </a:rPr>
              <a:t>容量后移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5102352"/>
            <a:ext cx="3511296" cy="79552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</a:rPr>
              <a:t>S1 只有 512 类，前三层更易生成；但请求更集中于大碰撞桶。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80" y="4599432"/>
            <a:ext cx="3511296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A3A6B"/>
                </a:solidFill>
                <a:latin typeface="Microsoft YaHei"/>
              </a:rPr>
              <a:t>端到端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0" y="5102352"/>
            <a:ext cx="3511296" cy="56836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 b="0" dirty="0" err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前移与后移差异均小于</a:t>
            </a:r>
            <a:r>
              <a:rPr sz="1600" b="0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0.3pp，</a:t>
            </a:r>
            <a:r>
              <a:rPr lang="zh-CN" altLang="en-US" sz="1600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相差不大</a:t>
            </a:r>
            <a:r>
              <a:rPr sz="1600" b="0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" y="139198"/>
            <a:ext cx="10881360" cy="4714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1" dirty="0" err="1">
                <a:solidFill>
                  <a:srgbClr val="FFFFFF"/>
                </a:solidFill>
                <a:latin typeface="Microsoft YaHei"/>
              </a:rPr>
              <a:t>逐层诊断</a:t>
            </a:r>
            <a:endParaRPr sz="2800" b="1" dirty="0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045952" y="6455664"/>
            <a:ext cx="56692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Microsoft YaHei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41832"/>
            <a:ext cx="11155680" cy="28520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dirty="0">
                <a:solidFill>
                  <a:srgbClr val="111827"/>
                </a:solidFill>
                <a:latin typeface="Microsoft YaHei"/>
              </a:rPr>
              <a:t>Teacher-Forcing </a:t>
            </a:r>
            <a:r>
              <a:rPr sz="1600" b="0" dirty="0" err="1">
                <a:solidFill>
                  <a:srgbClr val="111827"/>
                </a:solidFill>
                <a:latin typeface="Microsoft YaHei"/>
              </a:rPr>
              <a:t>看正确前缀下的局部可学性；Bucket-HR</a:t>
            </a:r>
            <a:r>
              <a:rPr sz="1600" b="0" dirty="0">
                <a:solidFill>
                  <a:srgbClr val="111827"/>
                </a:solidFill>
                <a:latin typeface="Microsoft YaHei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Microsoft YaHei"/>
              </a:rPr>
              <a:t>看自由生成</a:t>
            </a:r>
            <a:r>
              <a:rPr sz="1600" b="0" dirty="0">
                <a:solidFill>
                  <a:srgbClr val="111827"/>
                </a:solidFill>
                <a:latin typeface="Microsoft YaHei"/>
              </a:rPr>
              <a:t> Beam </a:t>
            </a:r>
            <a:r>
              <a:rPr sz="1600" b="0" dirty="0" err="1">
                <a:solidFill>
                  <a:srgbClr val="111827"/>
                </a:solidFill>
                <a:latin typeface="Microsoft YaHei"/>
              </a:rPr>
              <a:t>中目标前三层桶是否出现</a:t>
            </a:r>
            <a:r>
              <a:rPr sz="1600" b="0" dirty="0">
                <a:solidFill>
                  <a:srgbClr val="111827"/>
                </a:solidFill>
                <a:latin typeface="Microsoft YaHei"/>
              </a:rPr>
              <a:t>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7060275"/>
              </p:ext>
            </p:extLst>
          </p:nvPr>
        </p:nvGraphicFramePr>
        <p:xfrm>
          <a:off x="429768" y="1444752"/>
          <a:ext cx="11338557" cy="30540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5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9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88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99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297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081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方法</a:t>
                      </a:r>
                      <a:endParaRPr sz="1600" b="1" dirty="0">
                        <a:solidFill>
                          <a:srgbClr val="111827"/>
                        </a:solidFill>
                        <a:latin typeface="Microsoft YaHei"/>
                      </a:endParaRP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rgbClr val="111827"/>
                          </a:solidFill>
                          <a:latin typeface="Microsoft YaHei"/>
                        </a:rPr>
                        <a:t>TF </a:t>
                      </a:r>
                      <a:r>
                        <a:rPr sz="1600" b="1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累计</a:t>
                      </a:r>
                      <a:r>
                        <a:rPr sz="1600" b="1" dirty="0">
                          <a:solidFill>
                            <a:srgbClr val="111827"/>
                          </a:solidFill>
                          <a:latin typeface="Microsoft YaHei"/>
                        </a:rPr>
                        <a:t> S1–S3 Top-1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rgbClr val="111827"/>
                          </a:solidFill>
                          <a:latin typeface="Microsoft YaHei"/>
                        </a:rPr>
                        <a:t>Bucket HR@1 / HR@10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rgbClr val="111827"/>
                          </a:solidFill>
                          <a:latin typeface="Microsoft YaHei"/>
                        </a:rPr>
                        <a:t>C&gt;0 </a:t>
                      </a:r>
                      <a:r>
                        <a:rPr sz="1600" b="1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条件</a:t>
                      </a:r>
                      <a:r>
                        <a:rPr sz="1600" b="1" dirty="0">
                          <a:solidFill>
                            <a:srgbClr val="111827"/>
                          </a:solidFill>
                          <a:latin typeface="Microsoft YaHei"/>
                        </a:rPr>
                        <a:t> C Top-1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11827"/>
                          </a:solidFill>
                          <a:latin typeface="Microsoft YaHei"/>
                        </a:rPr>
                        <a:t>完整 HR@1 / HR@10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081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rgbClr val="111827"/>
                          </a:solidFill>
                          <a:latin typeface="Microsoft YaHei"/>
                        </a:rPr>
                        <a:t>TIGER 1024³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53.98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</a:rPr>
                        <a:t>55.53 / 88.06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</a:rPr>
                        <a:t>81.03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</a:rPr>
                        <a:t>51.87 / 87.16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081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11827"/>
                          </a:solidFill>
                          <a:latin typeface="Microsoft YaHei"/>
                        </a:rPr>
                        <a:t>E4 RQ-KMeans 1024³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56.83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58.25 / 87.69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</a:rPr>
                        <a:t>73.65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</a:rPr>
                        <a:t>48.03 / 83.57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081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容量前移</a:t>
                      </a:r>
                      <a:r>
                        <a:rPr sz="1600" b="1" dirty="0">
                          <a:solidFill>
                            <a:srgbClr val="111827"/>
                          </a:solidFill>
                          <a:latin typeface="Microsoft YaHei"/>
                        </a:rPr>
                        <a:t> 2048×1024×512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</a:rPr>
                        <a:t>55.97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57.38 / 87.74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74.33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</a:rPr>
                        <a:t>50.47 / 87.01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081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容量后移</a:t>
                      </a:r>
                      <a:r>
                        <a:rPr sz="1600" b="1" dirty="0">
                          <a:solidFill>
                            <a:srgbClr val="111827"/>
                          </a:solidFill>
                          <a:latin typeface="Microsoft YaHei"/>
                        </a:rPr>
                        <a:t> 512×1024×2048</a:t>
                      </a:r>
                    </a:p>
                  </a:txBody>
                  <a:tcPr marL="50292" marR="50292" marT="22860" marB="22860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</a:rPr>
                        <a:t>58.77</a:t>
                      </a:r>
                    </a:p>
                  </a:txBody>
                  <a:tcPr marL="50292" marR="50292" marT="22860" marB="22860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59.69 / 88.45</a:t>
                      </a:r>
                    </a:p>
                  </a:txBody>
                  <a:tcPr marL="50292" marR="50292" marT="22860" marB="22860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70.85</a:t>
                      </a:r>
                    </a:p>
                  </a:txBody>
                  <a:tcPr marL="50292" marR="50292" marT="22860" marB="22860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50.58 / 87.07</a:t>
                      </a:r>
                    </a:p>
                  </a:txBody>
                  <a:tcPr marL="50292" marR="50292" marT="22860" marB="22860" anchor="ctr">
                    <a:solidFill>
                      <a:srgbClr val="EA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5351" y="4862135"/>
            <a:ext cx="10972800" cy="55111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1" dirty="0" err="1">
                <a:solidFill>
                  <a:srgbClr val="111827"/>
                </a:solidFill>
                <a:latin typeface="Microsoft YaHei"/>
              </a:rPr>
              <a:t>容量后移的三级累计</a:t>
            </a:r>
            <a:r>
              <a:rPr sz="1600" b="1" dirty="0">
                <a:solidFill>
                  <a:srgbClr val="111827"/>
                </a:solidFill>
                <a:latin typeface="Microsoft YaHei"/>
              </a:rPr>
              <a:t> Top-1 </a:t>
            </a:r>
            <a:r>
              <a:rPr sz="1600" b="1" dirty="0" err="1">
                <a:solidFill>
                  <a:srgbClr val="111827"/>
                </a:solidFill>
                <a:latin typeface="Microsoft YaHei"/>
              </a:rPr>
              <a:t>比</a:t>
            </a:r>
            <a:r>
              <a:rPr sz="1600" b="1" dirty="0">
                <a:solidFill>
                  <a:srgbClr val="111827"/>
                </a:solidFill>
                <a:latin typeface="Microsoft YaHei"/>
              </a:rPr>
              <a:t> TIGER </a:t>
            </a:r>
            <a:r>
              <a:rPr sz="1600" b="1" dirty="0" err="1">
                <a:solidFill>
                  <a:srgbClr val="111827"/>
                </a:solidFill>
                <a:latin typeface="Microsoft YaHei"/>
              </a:rPr>
              <a:t>高</a:t>
            </a:r>
            <a:r>
              <a:rPr sz="1600" b="1" dirty="0">
                <a:solidFill>
                  <a:srgbClr val="111827"/>
                </a:solidFill>
                <a:latin typeface="Microsoft YaHei"/>
              </a:rPr>
              <a:t> 4.79pp，Bucket HR@1 </a:t>
            </a:r>
            <a:r>
              <a:rPr sz="1600" b="1" dirty="0" err="1">
                <a:solidFill>
                  <a:srgbClr val="111827"/>
                </a:solidFill>
                <a:latin typeface="Microsoft YaHei"/>
              </a:rPr>
              <a:t>高</a:t>
            </a:r>
            <a:r>
              <a:rPr sz="1600" b="1" dirty="0">
                <a:solidFill>
                  <a:srgbClr val="111827"/>
                </a:solidFill>
                <a:latin typeface="Microsoft YaHei"/>
              </a:rPr>
              <a:t> 4.16pp；但 C&gt;0 </a:t>
            </a:r>
            <a:r>
              <a:rPr sz="1600" b="1" dirty="0" err="1">
                <a:solidFill>
                  <a:srgbClr val="111827"/>
                </a:solidFill>
                <a:latin typeface="Microsoft YaHei"/>
              </a:rPr>
              <a:t>条件准确率低</a:t>
            </a:r>
            <a:r>
              <a:rPr sz="1600" b="1" dirty="0">
                <a:solidFill>
                  <a:srgbClr val="111827"/>
                </a:solidFill>
                <a:latin typeface="Microsoft YaHei"/>
              </a:rPr>
              <a:t> 10.18pp，完整 HR@1 </a:t>
            </a:r>
            <a:r>
              <a:rPr sz="1600" b="1" dirty="0" err="1">
                <a:solidFill>
                  <a:srgbClr val="111827"/>
                </a:solidFill>
                <a:latin typeface="Microsoft YaHei"/>
              </a:rPr>
              <a:t>反而低</a:t>
            </a:r>
            <a:r>
              <a:rPr sz="1600" b="1" dirty="0">
                <a:solidFill>
                  <a:srgbClr val="111827"/>
                </a:solidFill>
                <a:latin typeface="Microsoft YaHei"/>
              </a:rPr>
              <a:t> 1.29pp。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5616020"/>
            <a:ext cx="11247118" cy="3038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20" b="1" dirty="0" err="1">
                <a:solidFill>
                  <a:srgbClr val="1A3A6B"/>
                </a:solidFill>
                <a:latin typeface="Microsoft YaHei"/>
              </a:rPr>
              <a:t>不是前三层语义桶没有召回，而是热点碰撞更多、无语义</a:t>
            </a:r>
            <a:r>
              <a:rPr sz="1720" b="1" dirty="0">
                <a:solidFill>
                  <a:srgbClr val="1A3A6B"/>
                </a:solidFill>
                <a:latin typeface="Microsoft YaHei"/>
              </a:rPr>
              <a:t> C </a:t>
            </a:r>
            <a:r>
              <a:rPr sz="1720" b="1" dirty="0" err="1">
                <a:solidFill>
                  <a:srgbClr val="1A3A6B"/>
                </a:solidFill>
                <a:latin typeface="Microsoft YaHei"/>
              </a:rPr>
              <a:t>难预测，导致正确实体无法作为完整</a:t>
            </a:r>
            <a:r>
              <a:rPr sz="1720" b="1" dirty="0">
                <a:solidFill>
                  <a:srgbClr val="1A3A6B"/>
                </a:solidFill>
                <a:latin typeface="Microsoft YaHei"/>
              </a:rPr>
              <a:t> SID </a:t>
            </a:r>
            <a:r>
              <a:rPr sz="1720" b="1" dirty="0" err="1">
                <a:solidFill>
                  <a:srgbClr val="1A3A6B"/>
                </a:solidFill>
                <a:latin typeface="Microsoft YaHei"/>
              </a:rPr>
              <a:t>进入</a:t>
            </a:r>
            <a:r>
              <a:rPr sz="1720" b="1" dirty="0">
                <a:solidFill>
                  <a:srgbClr val="1A3A6B"/>
                </a:solidFill>
                <a:latin typeface="Microsoft YaHei"/>
              </a:rPr>
              <a:t> Top-K。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" y="139198"/>
            <a:ext cx="10881360" cy="4714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1" dirty="0">
                <a:solidFill>
                  <a:srgbClr val="FFFFFF"/>
                </a:solidFill>
                <a:latin typeface="Microsoft YaHei"/>
              </a:rPr>
              <a:t>GHR </a:t>
            </a:r>
            <a:r>
              <a:rPr sz="2800" b="1" dirty="0" err="1">
                <a:solidFill>
                  <a:srgbClr val="FFFFFF"/>
                </a:solidFill>
                <a:latin typeface="Microsoft YaHei"/>
              </a:rPr>
              <a:t>关系碰撞表示</a:t>
            </a:r>
            <a:endParaRPr sz="2800" b="1" dirty="0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045952" y="6455664"/>
            <a:ext cx="56692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Microsoft YaHei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832104"/>
            <a:ext cx="1106424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dirty="0" err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方法：在</a:t>
            </a:r>
            <a:r>
              <a:rPr sz="1600" b="0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G6 </a:t>
            </a:r>
            <a:r>
              <a:rPr sz="1600" b="0" dirty="0" err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空间桶内，用楼栋、门牌、父子等实体关系替代随机</a:t>
            </a:r>
            <a:r>
              <a:rPr sz="1600" b="0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C。</a:t>
            </a:r>
            <a:r>
              <a:rPr lang="en-US" altLang="zh-CN" sz="1600" b="0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GHR</a:t>
            </a:r>
            <a:r>
              <a:rPr lang="zh-CN" altLang="en-US" sz="1600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关系层级</a:t>
            </a:r>
            <a:r>
              <a:rPr sz="1600" b="0" dirty="0" err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取最短可区分描述；</a:t>
            </a:r>
            <a:r>
              <a:rPr lang="en-US" altLang="zh-CN" sz="1600" dirty="0" err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GHR</a:t>
            </a:r>
            <a:r>
              <a:rPr lang="zh-CN" altLang="en-US" sz="1600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关系结构</a:t>
            </a:r>
            <a:r>
              <a:rPr sz="1600" b="0" dirty="0" err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构建</a:t>
            </a:r>
            <a:r>
              <a:rPr sz="1600" b="0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21 </a:t>
            </a:r>
            <a:r>
              <a:rPr sz="1600" b="0" dirty="0" err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类共享关系树</a:t>
            </a:r>
            <a:r>
              <a:rPr sz="1600" b="0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3601431"/>
              </p:ext>
            </p:extLst>
          </p:nvPr>
        </p:nvGraphicFramePr>
        <p:xfrm>
          <a:off x="420624" y="1609344"/>
          <a:ext cx="11365989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40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81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78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84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79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99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995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 err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方法</a:t>
                      </a:r>
                      <a:endParaRPr sz="1400" b="1" dirty="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Identifier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平均 / 最大长度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 err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固定</a:t>
                      </a: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HR@1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 err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固定</a:t>
                      </a: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HR@10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固定 NDCG@10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泛化 HR@10 / NDCG@10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TIGER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S1 / S2 / S3 / C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 / 4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51.87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87.16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70.4190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51.3700 / 37.6949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GHR</a:t>
                      </a:r>
                      <a:r>
                        <a:rPr lang="zh-CN" altLang="en-US" sz="14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关系层级</a:t>
                      </a:r>
                      <a:endParaRPr sz="1400" b="1" dirty="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G6 → </a:t>
                      </a:r>
                      <a:r>
                        <a:rPr sz="1400" b="0" dirty="0" err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最短实体关系</a:t>
                      </a:r>
                      <a:r>
                        <a:rPr sz="14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→ D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3.8689 / 13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50.42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82.61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67.2405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47.5350 / 35.6002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GHR</a:t>
                      </a:r>
                      <a:r>
                        <a:rPr lang="zh-CN" altLang="en-US" sz="14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关系结构</a:t>
                      </a:r>
                      <a:endParaRPr sz="1400" b="1" dirty="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G6 → </a:t>
                      </a:r>
                      <a:r>
                        <a:rPr sz="1400" b="0" dirty="0" err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共享关系树</a:t>
                      </a:r>
                      <a:r>
                        <a:rPr sz="14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→ D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4.1466 / 20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49.10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79.70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65.2636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45.6150 / 34.3402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370832"/>
            <a:ext cx="3511296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A3A6B"/>
                </a:solidFill>
                <a:latin typeface="Microsoft YaHei"/>
              </a:rPr>
              <a:t>长度代价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873752"/>
            <a:ext cx="3511296" cy="84414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lang="en-US" altLang="zh-CN" sz="1600" dirty="0" err="1">
                <a:solidFill>
                  <a:srgbClr val="111827"/>
                </a:solidFill>
                <a:latin typeface="Microsoft YaHei"/>
              </a:rPr>
              <a:t>GHR</a:t>
            </a:r>
            <a:r>
              <a:rPr sz="1600" b="0" dirty="0" err="1">
                <a:solidFill>
                  <a:srgbClr val="111827"/>
                </a:solidFill>
                <a:latin typeface="Microsoft YaHei"/>
              </a:rPr>
              <a:t>的关系结构更完整，但长尾路径显著增加；Token</a:t>
            </a:r>
            <a:r>
              <a:rPr sz="1600" b="0" dirty="0">
                <a:solidFill>
                  <a:srgbClr val="111827"/>
                </a:solidFill>
                <a:latin typeface="Microsoft YaHei"/>
              </a:rPr>
              <a:t> Loss </a:t>
            </a:r>
            <a:r>
              <a:rPr sz="1600" b="0" dirty="0" err="1">
                <a:solidFill>
                  <a:srgbClr val="111827"/>
                </a:solidFill>
                <a:latin typeface="Microsoft YaHei"/>
              </a:rPr>
              <a:t>更低也没有换来更高召回</a:t>
            </a:r>
            <a:r>
              <a:rPr sz="1600" b="0" dirty="0">
                <a:solidFill>
                  <a:srgbClr val="111827"/>
                </a:solidFill>
                <a:latin typeface="Microsoft YaHei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4370832"/>
            <a:ext cx="3511296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A3A6B"/>
                </a:solidFill>
                <a:latin typeface="Microsoft YaHei"/>
              </a:rPr>
              <a:t>可观测性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4873752"/>
            <a:ext cx="3511296" cy="103327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 b="0" dirty="0" err="1">
                <a:solidFill>
                  <a:srgbClr val="111827"/>
                </a:solidFill>
                <a:latin typeface="Microsoft YaHei"/>
              </a:rPr>
              <a:t>大量关系不出现在</a:t>
            </a:r>
            <a:r>
              <a:rPr sz="1600" b="0" dirty="0">
                <a:solidFill>
                  <a:srgbClr val="111827"/>
                </a:solidFill>
                <a:latin typeface="Microsoft YaHei"/>
              </a:rPr>
              <a:t> Query </a:t>
            </a:r>
            <a:r>
              <a:rPr sz="1600" b="0" dirty="0" err="1">
                <a:solidFill>
                  <a:srgbClr val="111827"/>
                </a:solidFill>
                <a:latin typeface="Microsoft YaHei"/>
              </a:rPr>
              <a:t>中；模型更倾向输出短路径，合法</a:t>
            </a:r>
            <a:r>
              <a:rPr sz="1600" b="0" dirty="0">
                <a:solidFill>
                  <a:srgbClr val="111827"/>
                </a:solidFill>
                <a:latin typeface="Microsoft YaHei"/>
              </a:rPr>
              <a:t> Trie </a:t>
            </a:r>
            <a:r>
              <a:rPr sz="1600" b="0" dirty="0" err="1">
                <a:solidFill>
                  <a:srgbClr val="111827"/>
                </a:solidFill>
                <a:latin typeface="Microsoft YaHei"/>
              </a:rPr>
              <a:t>进一步放大短路径偏置</a:t>
            </a:r>
            <a:r>
              <a:rPr sz="1600" b="0" dirty="0">
                <a:solidFill>
                  <a:srgbClr val="111827"/>
                </a:solidFill>
                <a:latin typeface="Microsoft YaHei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80" y="4370832"/>
            <a:ext cx="3511296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A3A6B"/>
                </a:solidFill>
                <a:latin typeface="Microsoft YaHei"/>
              </a:rPr>
              <a:t>结论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0" y="4873752"/>
            <a:ext cx="3511296" cy="56836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lang="zh-CN" altLang="en-US" sz="1600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不应该把</a:t>
            </a:r>
            <a:r>
              <a:rPr sz="1600" b="0" dirty="0" err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更多关系继续追加为硬生成目标；关系保留为辅助监督或条件特征</a:t>
            </a:r>
            <a:r>
              <a:rPr sz="1600" b="0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" y="139198"/>
            <a:ext cx="10881360" cy="4714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1" dirty="0">
                <a:solidFill>
                  <a:srgbClr val="FFFFFF"/>
                </a:solidFill>
                <a:latin typeface="Microsoft YaHei"/>
              </a:rPr>
              <a:t>GHR </a:t>
            </a:r>
            <a:r>
              <a:rPr sz="2800" b="1" dirty="0" err="1">
                <a:solidFill>
                  <a:srgbClr val="FFFFFF"/>
                </a:solidFill>
                <a:latin typeface="Microsoft YaHei"/>
              </a:rPr>
              <a:t>固定后缀</a:t>
            </a:r>
            <a:endParaRPr sz="2800" b="1" dirty="0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045952" y="6455664"/>
            <a:ext cx="56692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Microsoft YaHe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4340" y="1061816"/>
            <a:ext cx="11201400" cy="61549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b="1" dirty="0">
                <a:solidFill>
                  <a:srgbClr val="1A3A6B"/>
                </a:solidFill>
                <a:latin typeface="Microsoft YaHei"/>
              </a:rPr>
              <a:t>TIGER  [S1,S2,S3]   →   </a:t>
            </a:r>
            <a:r>
              <a:rPr b="1" dirty="0" err="1">
                <a:solidFill>
                  <a:srgbClr val="1A3A6B"/>
                </a:solidFill>
                <a:latin typeface="Microsoft YaHei"/>
              </a:rPr>
              <a:t>末端</a:t>
            </a:r>
            <a:r>
              <a:rPr b="1" dirty="0">
                <a:solidFill>
                  <a:srgbClr val="1A3A6B"/>
                </a:solidFill>
                <a:latin typeface="Microsoft YaHei"/>
              </a:rPr>
              <a:t> 256D residual + GeoPE32   →   </a:t>
            </a:r>
            <a:r>
              <a:rPr b="1" dirty="0" err="1">
                <a:solidFill>
                  <a:srgbClr val="1A3A6B"/>
                </a:solidFill>
                <a:latin typeface="Microsoft YaHei"/>
              </a:rPr>
              <a:t>全局</a:t>
            </a:r>
            <a:r>
              <a:rPr b="1" dirty="0">
                <a:solidFill>
                  <a:srgbClr val="1A3A6B"/>
                </a:solidFill>
                <a:latin typeface="Microsoft YaHei"/>
              </a:rPr>
              <a:t> R1/R2 </a:t>
            </a:r>
            <a:r>
              <a:rPr b="1" dirty="0" err="1">
                <a:solidFill>
                  <a:srgbClr val="1A3A6B"/>
                </a:solidFill>
                <a:latin typeface="Microsoft YaHei"/>
              </a:rPr>
              <a:t>各</a:t>
            </a:r>
            <a:r>
              <a:rPr b="1" dirty="0">
                <a:solidFill>
                  <a:srgbClr val="1A3A6B"/>
                </a:solidFill>
                <a:latin typeface="Microsoft YaHei"/>
              </a:rPr>
              <a:t> 32 </a:t>
            </a:r>
            <a:r>
              <a:rPr b="1" dirty="0" err="1">
                <a:solidFill>
                  <a:srgbClr val="1A3A6B"/>
                </a:solidFill>
                <a:latin typeface="Microsoft YaHei"/>
              </a:rPr>
              <a:t>个</a:t>
            </a:r>
            <a:r>
              <a:rPr b="1" dirty="0">
                <a:solidFill>
                  <a:srgbClr val="1A3A6B"/>
                </a:solidFill>
                <a:latin typeface="Microsoft YaHei"/>
              </a:rPr>
              <a:t> anchor   →   </a:t>
            </a:r>
            <a:r>
              <a:rPr b="1" dirty="0" err="1">
                <a:solidFill>
                  <a:srgbClr val="1A3A6B"/>
                </a:solidFill>
                <a:latin typeface="Microsoft YaHei"/>
              </a:rPr>
              <a:t>桶内</a:t>
            </a:r>
            <a:r>
              <a:rPr b="1" dirty="0">
                <a:solidFill>
                  <a:srgbClr val="1A3A6B"/>
                </a:solidFill>
                <a:latin typeface="Microsoft YaHei"/>
              </a:rPr>
              <a:t> Hungarian </a:t>
            </a:r>
            <a:r>
              <a:rPr b="1" dirty="0" err="1">
                <a:solidFill>
                  <a:srgbClr val="1A3A6B"/>
                </a:solidFill>
                <a:latin typeface="Microsoft YaHei"/>
              </a:rPr>
              <a:t>唯一分配</a:t>
            </a:r>
            <a:r>
              <a:rPr b="1" dirty="0">
                <a:solidFill>
                  <a:srgbClr val="1A3A6B"/>
                </a:solidFill>
                <a:latin typeface="Microsoft YaHei"/>
              </a:rPr>
              <a:t>   →   [S1,S2,S3,R1,R2]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119640"/>
              </p:ext>
            </p:extLst>
          </p:nvPr>
        </p:nvGraphicFramePr>
        <p:xfrm>
          <a:off x="502920" y="1915049"/>
          <a:ext cx="11173967" cy="41963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28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53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75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939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环节</a:t>
                      </a:r>
                      <a:endParaRPr sz="1600" b="1" dirty="0">
                        <a:solidFill>
                          <a:srgbClr val="111827"/>
                        </a:solidFill>
                        <a:latin typeface="Microsoft YaHei"/>
                      </a:endParaRP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实现</a:t>
                      </a:r>
                      <a:endParaRPr sz="1600" b="1" dirty="0">
                        <a:solidFill>
                          <a:srgbClr val="111827"/>
                        </a:solidFill>
                        <a:latin typeface="Microsoft YaHei"/>
                      </a:endParaRP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目的</a:t>
                      </a:r>
                      <a:endParaRPr sz="1600" b="1" dirty="0">
                        <a:solidFill>
                          <a:srgbClr val="111827"/>
                        </a:solidFill>
                        <a:latin typeface="Microsoft YaHei"/>
                      </a:endParaRP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939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11827"/>
                          </a:solidFill>
                          <a:latin typeface="Microsoft YaHei"/>
                        </a:rPr>
                        <a:t>语义前缀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冻结</a:t>
                      </a: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 TIGER epoch-20 </a:t>
                      </a:r>
                      <a:r>
                        <a:rPr sz="1600" b="0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的</a:t>
                      </a: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 S1/S2/S3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</a:rPr>
                        <a:t>保证改动只发生在碰撞层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939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11827"/>
                          </a:solidFill>
                          <a:latin typeface="Microsoft YaHei"/>
                        </a:rPr>
                        <a:t>Residual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Encoder latent − 三层码本和；桶内中心化、L2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保留基础</a:t>
                      </a: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 SID </a:t>
                      </a:r>
                      <a:r>
                        <a:rPr sz="1600" b="0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未表达的局部差异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/>
                      </a:endParaRP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939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11827"/>
                          </a:solidFill>
                          <a:latin typeface="Microsoft YaHei"/>
                        </a:rPr>
                        <a:t>多尺度地理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0.5</a:t>
                      </a:r>
                      <a:r>
                        <a:rPr lang="en-US" altLang="zh-CN"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-</a:t>
                      </a: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64 km </a:t>
                      </a:r>
                      <a:r>
                        <a:rPr sz="1600" b="0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八个尺度，经纬</a:t>
                      </a: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 sin/cos </a:t>
                      </a:r>
                      <a:r>
                        <a:rPr sz="1600" b="0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共</a:t>
                      </a: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 32D；权重 0.5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缓解固定网格边界与尺度单一问题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/>
                      </a:endParaRP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939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11827"/>
                          </a:solidFill>
                          <a:latin typeface="Microsoft YaHei"/>
                        </a:rPr>
                        <a:t>全局量化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</a:rPr>
                        <a:t>两层共享 32 anchors；每层 Top-8 组成 64 个候选 pair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让相同</a:t>
                      </a: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 Token </a:t>
                      </a:r>
                      <a:r>
                        <a:rPr sz="1600" b="0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在不同桶内保持共享含义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/>
                      </a:endParaRP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939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11827"/>
                          </a:solidFill>
                          <a:latin typeface="Microsoft YaHei"/>
                        </a:rPr>
                        <a:t>桶内唯一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最小代价</a:t>
                      </a: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Hungarian；非碰撞桶固定</a:t>
                      </a: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 [0,0]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在</a:t>
                      </a: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 32×32 </a:t>
                      </a:r>
                      <a:r>
                        <a:rPr sz="1600" b="0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容量内消除重复且保持固定长度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/>
                      </a:endParaRP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" y="139198"/>
            <a:ext cx="10881360" cy="4714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GHR </a:t>
            </a:r>
            <a:r>
              <a:rPr lang="zh-CN" altLang="en-US" sz="28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</a:t>
            </a:r>
            <a:r>
              <a:rPr sz="2800" b="1" dirty="0" err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</a:t>
            </a:r>
            <a:endParaRPr sz="28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045952" y="6455664"/>
            <a:ext cx="56692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Microsoft YaHei"/>
              </a:rPr>
              <a:t>10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8931232"/>
              </p:ext>
            </p:extLst>
          </p:nvPr>
        </p:nvGraphicFramePr>
        <p:xfrm>
          <a:off x="457200" y="950976"/>
          <a:ext cx="11274551" cy="2542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27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27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27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29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538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531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840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 err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固定随机</a:t>
                      </a:r>
                      <a:r>
                        <a:rPr sz="16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10k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HR@1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HR@3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HR@5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HR@10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NDCG@10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Valid ID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40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TIGER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51.87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76.00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82.26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87.16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70.4190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74.105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40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GHR </a:t>
                      </a:r>
                      <a:r>
                        <a:rPr lang="zh-CN" altLang="en-US" sz="16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关系层级</a:t>
                      </a:r>
                      <a:endParaRPr sz="1600" b="1" dirty="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50.42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72.01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77.99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82.61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67.2405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70.088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40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GHR </a:t>
                      </a:r>
                      <a:r>
                        <a:rPr lang="zh-CN" altLang="en-US" sz="16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关系结构</a:t>
                      </a:r>
                      <a:endParaRPr sz="1600" b="1" dirty="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49.10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70.28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75.75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79.70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65.2636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68.884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40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GHR </a:t>
                      </a:r>
                      <a:r>
                        <a:rPr lang="zh-CN" altLang="en-US" sz="16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固定后缀</a:t>
                      </a:r>
                      <a:endParaRPr sz="1600" b="1" dirty="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292" marR="50292" marT="22860" marB="22860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50.48</a:t>
                      </a:r>
                    </a:p>
                  </a:txBody>
                  <a:tcPr marL="50292" marR="50292" marT="22860" marB="22860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74.43</a:t>
                      </a:r>
                    </a:p>
                  </a:txBody>
                  <a:tcPr marL="50292" marR="50292" marT="22860" marB="22860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80.35</a:t>
                      </a:r>
                    </a:p>
                  </a:txBody>
                  <a:tcPr marL="50292" marR="50292" marT="22860" marB="22860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84.94</a:t>
                      </a:r>
                    </a:p>
                  </a:txBody>
                  <a:tcPr marL="50292" marR="50292" marT="22860" marB="22860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68.6728</a:t>
                      </a:r>
                    </a:p>
                  </a:txBody>
                  <a:tcPr marL="50292" marR="50292" marT="22860" marB="22860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68.229</a:t>
                      </a:r>
                    </a:p>
                  </a:txBody>
                  <a:tcPr marL="50292" marR="50292" marT="22860" marB="22860" anchor="ctr">
                    <a:solidFill>
                      <a:srgbClr val="EA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E8169A9-138E-995D-3150-E684B20209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005172"/>
              </p:ext>
            </p:extLst>
          </p:nvPr>
        </p:nvGraphicFramePr>
        <p:xfrm>
          <a:off x="984433" y="3740175"/>
          <a:ext cx="9467506" cy="29349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5916">
                  <a:extLst>
                    <a:ext uri="{9D8B030D-6E8A-4147-A177-3AD203B41FA5}">
                      <a16:colId xmlns:a16="http://schemas.microsoft.com/office/drawing/2014/main" val="65424861"/>
                    </a:ext>
                  </a:extLst>
                </a:gridCol>
                <a:gridCol w="2795244">
                  <a:extLst>
                    <a:ext uri="{9D8B030D-6E8A-4147-A177-3AD203B41FA5}">
                      <a16:colId xmlns:a16="http://schemas.microsoft.com/office/drawing/2014/main" val="1901690353"/>
                    </a:ext>
                  </a:extLst>
                </a:gridCol>
                <a:gridCol w="2786603">
                  <a:extLst>
                    <a:ext uri="{9D8B030D-6E8A-4147-A177-3AD203B41FA5}">
                      <a16:colId xmlns:a16="http://schemas.microsoft.com/office/drawing/2014/main" val="2372268057"/>
                    </a:ext>
                  </a:extLst>
                </a:gridCol>
                <a:gridCol w="1999743">
                  <a:extLst>
                    <a:ext uri="{9D8B030D-6E8A-4147-A177-3AD203B41FA5}">
                      <a16:colId xmlns:a16="http://schemas.microsoft.com/office/drawing/2014/main" val="192178351"/>
                    </a:ext>
                  </a:extLst>
                </a:gridCol>
              </a:tblGrid>
              <a:tr h="56534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方法</a:t>
                      </a:r>
                      <a:endParaRPr sz="1600" b="1" dirty="0">
                        <a:solidFill>
                          <a:srgbClr val="111827"/>
                        </a:solidFill>
                        <a:latin typeface="Microsoft YaHei"/>
                      </a:endParaRP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rgbClr val="111827"/>
                          </a:solidFill>
                          <a:latin typeface="Microsoft YaHei"/>
                        </a:rPr>
                        <a:t>TF </a:t>
                      </a:r>
                      <a:r>
                        <a:rPr sz="1600" b="1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累计</a:t>
                      </a:r>
                      <a:r>
                        <a:rPr sz="1600" b="1" dirty="0">
                          <a:solidFill>
                            <a:srgbClr val="111827"/>
                          </a:solidFill>
                          <a:latin typeface="Microsoft YaHei"/>
                        </a:rPr>
                        <a:t> S1–S3 Top-1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rgbClr val="111827"/>
                          </a:solidFill>
                          <a:latin typeface="Microsoft YaHei"/>
                        </a:rPr>
                        <a:t>Bucket HR@1 / HR@10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rgbClr val="111827"/>
                          </a:solidFill>
                          <a:latin typeface="Microsoft YaHei"/>
                        </a:rPr>
                        <a:t>C&gt;0 </a:t>
                      </a:r>
                      <a:r>
                        <a:rPr sz="1600" b="1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条件</a:t>
                      </a:r>
                      <a:r>
                        <a:rPr sz="1600" b="1" dirty="0">
                          <a:solidFill>
                            <a:srgbClr val="111827"/>
                          </a:solidFill>
                          <a:latin typeface="Microsoft YaHei"/>
                        </a:rPr>
                        <a:t> C Top-1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339403"/>
                  </a:ext>
                </a:extLst>
              </a:tr>
              <a:tr h="59240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TIGER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53.98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</a:rPr>
                        <a:t>55.53 / 88.06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</a:rPr>
                        <a:t>81.03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107801"/>
                  </a:ext>
                </a:extLst>
              </a:tr>
              <a:tr h="59240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GHR </a:t>
                      </a:r>
                      <a:r>
                        <a:rPr lang="zh-CN" altLang="en-US" sz="16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关系层级</a:t>
                      </a:r>
                      <a:endParaRPr sz="1600" b="1" dirty="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5</a:t>
                      </a:r>
                      <a:r>
                        <a:rPr lang="en-US" altLang="zh-CN"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4.07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/>
                      </a:endParaRP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5</a:t>
                      </a:r>
                      <a:r>
                        <a:rPr lang="en-US" altLang="zh-CN"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4.15</a:t>
                      </a: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 / 8</a:t>
                      </a:r>
                      <a:r>
                        <a:rPr lang="en-US" altLang="zh-CN"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5.43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/>
                      </a:endParaRP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82.26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/>
                      </a:endParaRP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4091500"/>
                  </a:ext>
                </a:extLst>
              </a:tr>
              <a:tr h="59240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GHR </a:t>
                      </a:r>
                      <a:r>
                        <a:rPr lang="zh-CN" altLang="en-US" sz="16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关系结构</a:t>
                      </a:r>
                      <a:endParaRPr sz="1600" b="1" dirty="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5</a:t>
                      </a:r>
                      <a:r>
                        <a:rPr lang="en-US" altLang="zh-CN"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3.72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/>
                      </a:endParaRP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5</a:t>
                      </a:r>
                      <a:r>
                        <a:rPr lang="en-US" altLang="zh-CN"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3.06</a:t>
                      </a: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 / 8</a:t>
                      </a:r>
                      <a:r>
                        <a:rPr lang="en-US" altLang="zh-CN"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4.70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/>
                      </a:endParaRP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81.66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/>
                      </a:endParaRP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2783306"/>
                  </a:ext>
                </a:extLst>
              </a:tr>
              <a:tr h="59240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GHR </a:t>
                      </a:r>
                      <a:r>
                        <a:rPr lang="zh-CN" altLang="en-US" sz="16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固定后缀</a:t>
                      </a:r>
                      <a:endParaRPr sz="1600" b="1" dirty="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292" marR="50292" marT="22860" marB="22860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5</a:t>
                      </a:r>
                      <a:r>
                        <a:rPr lang="en-US" altLang="zh-CN"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2.42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/>
                      </a:endParaRPr>
                    </a:p>
                  </a:txBody>
                  <a:tcPr marL="50292" marR="50292" marT="22860" marB="22860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5</a:t>
                      </a:r>
                      <a:r>
                        <a:rPr lang="en-US" altLang="zh-CN"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4.31</a:t>
                      </a: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 / 8</a:t>
                      </a:r>
                      <a:r>
                        <a:rPr lang="en-US" altLang="zh-CN"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5.97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/>
                      </a:endParaRPr>
                    </a:p>
                  </a:txBody>
                  <a:tcPr marL="50292" marR="50292" marT="22860" marB="22860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80.35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/>
                      </a:endParaRPr>
                    </a:p>
                  </a:txBody>
                  <a:tcPr marL="50292" marR="50292" marT="22860" marB="22860" anchor="ctr">
                    <a:solidFill>
                      <a:srgbClr val="EA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89546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" y="139198"/>
            <a:ext cx="10881360" cy="4714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1" dirty="0">
                <a:solidFill>
                  <a:srgbClr val="FFFFFF"/>
                </a:solidFill>
                <a:latin typeface="Microsoft YaHei"/>
              </a:rPr>
              <a:t>MMBERT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6455664"/>
            <a:ext cx="56692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Microsoft YaHei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069848"/>
            <a:ext cx="11064240" cy="31630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b="0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问题：BGE-M3 </a:t>
            </a:r>
            <a:r>
              <a:rPr b="0" dirty="0" err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更偏静态文本语义，能否用线上</a:t>
            </a:r>
            <a:r>
              <a:rPr lang="zh-CN" altLang="en-US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向量模型</a:t>
            </a:r>
            <a:r>
              <a:rPr b="0" dirty="0" err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学到更贴近</a:t>
            </a:r>
            <a:r>
              <a:rPr b="0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Query–POI </a:t>
            </a:r>
            <a:r>
              <a:rPr b="0" dirty="0" err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相关性的</a:t>
            </a:r>
            <a:r>
              <a:rPr b="0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POI </a:t>
            </a:r>
            <a:r>
              <a:rPr b="0" dirty="0" err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向量</a:t>
            </a:r>
            <a:r>
              <a:rPr b="0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？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3822438"/>
              </p:ext>
            </p:extLst>
          </p:nvPr>
        </p:nvGraphicFramePr>
        <p:xfrm>
          <a:off x="475488" y="1678761"/>
          <a:ext cx="11247120" cy="25823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37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2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20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6078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输入表征</a:t>
                      </a:r>
                      <a:endParaRPr sz="1600" b="1" dirty="0">
                        <a:solidFill>
                          <a:srgbClr val="111827"/>
                        </a:solidFill>
                        <a:latin typeface="Microsoft YaHei"/>
                      </a:endParaRP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6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向量</a:t>
                      </a:r>
                      <a:r>
                        <a:rPr sz="16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Hit@10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6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向量</a:t>
                      </a:r>
                      <a:r>
                        <a:rPr sz="16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NDCG@10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11827"/>
                          </a:solidFill>
                          <a:latin typeface="Microsoft YaHei"/>
                        </a:rPr>
                        <a:t>三层 SID 唯一率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11827"/>
                          </a:solidFill>
                          <a:latin typeface="Microsoft YaHei"/>
                        </a:rPr>
                        <a:t>碰撞 POI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11827"/>
                          </a:solidFill>
                          <a:latin typeface="Microsoft YaHei"/>
                        </a:rPr>
                        <a:t>最大桶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11827"/>
                          </a:solidFill>
                          <a:latin typeface="Microsoft YaHei"/>
                        </a:rPr>
                        <a:t>D1 类别纯度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078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rgbClr val="111827"/>
                          </a:solidFill>
                          <a:latin typeface="Microsoft YaHei"/>
                        </a:rPr>
                        <a:t>BGE-M3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32.39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21.2113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</a:rPr>
                        <a:t>71.6766%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</a:rPr>
                        <a:t>40.7894%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</a:rPr>
                        <a:t>306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</a:rPr>
                        <a:t>69.2751%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078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rgbClr val="111827"/>
                          </a:solidFill>
                          <a:latin typeface="Microsoft YaHei"/>
                        </a:rPr>
                        <a:t>MMBERT </a:t>
                      </a:r>
                    </a:p>
                  </a:txBody>
                  <a:tcPr marL="50292" marR="50292" marT="22860" marB="22860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</a:rPr>
                        <a:t>41.43</a:t>
                      </a:r>
                    </a:p>
                  </a:txBody>
                  <a:tcPr marL="50292" marR="50292" marT="22860" marB="22860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</a:rPr>
                        <a:t>28.2718</a:t>
                      </a:r>
                    </a:p>
                  </a:txBody>
                  <a:tcPr marL="50292" marR="50292" marT="22860" marB="22860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83.3988%</a:t>
                      </a:r>
                    </a:p>
                  </a:txBody>
                  <a:tcPr marL="50292" marR="50292" marT="22860" marB="22860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25.5070%</a:t>
                      </a:r>
                    </a:p>
                  </a:txBody>
                  <a:tcPr marL="50292" marR="50292" marT="22860" marB="22860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154</a:t>
                      </a:r>
                    </a:p>
                  </a:txBody>
                  <a:tcPr marL="50292" marR="50292" marT="22860" marB="22860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52.1307%</a:t>
                      </a:r>
                    </a:p>
                  </a:txBody>
                  <a:tcPr marL="50292" marR="50292" marT="22860" marB="22860" anchor="ctr">
                    <a:solidFill>
                      <a:srgbClr val="EA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18666" y="5056632"/>
            <a:ext cx="9092493" cy="94673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 b="0" dirty="0" err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连续</a:t>
            </a:r>
            <a:r>
              <a:rPr sz="1600" b="0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Hit@10 +9.04pp；三层唯一率 +11.72pp；碰撞 POI −15.28pp。</a:t>
            </a:r>
            <a:r>
              <a:rPr lang="en" altLang="zh-CN" sz="1600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D1 </a:t>
            </a:r>
            <a:r>
              <a:rPr lang="zh-CN" altLang="en-US" sz="1600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类别纯度 −</a:t>
            </a:r>
            <a:r>
              <a:rPr lang="en-US" altLang="zh-CN" sz="1600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17.14</a:t>
            </a:r>
            <a:r>
              <a:rPr lang="en" altLang="zh-CN" sz="1600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pp</a:t>
            </a:r>
            <a:r>
              <a:rPr lang="zh-CN" altLang="en" sz="1600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en-US" sz="1600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粗层不再按静态类别组织，首层预测可能更难。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endParaRPr sz="1600" b="0" dirty="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" y="139198"/>
            <a:ext cx="10881360" cy="4714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MMBERT </a:t>
            </a:r>
            <a:r>
              <a:rPr lang="zh-CN" altLang="en-US" sz="28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</a:t>
            </a:r>
            <a:r>
              <a:rPr sz="2800" b="1" dirty="0" err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</a:t>
            </a:r>
            <a:endParaRPr sz="28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045952" y="6455664"/>
            <a:ext cx="56692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Microsoft YaHei"/>
              </a:rPr>
              <a:t>12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289757"/>
              </p:ext>
            </p:extLst>
          </p:nvPr>
        </p:nvGraphicFramePr>
        <p:xfrm>
          <a:off x="475488" y="932688"/>
          <a:ext cx="1122883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69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56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56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56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01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757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固定随机</a:t>
                      </a:r>
                      <a:r>
                        <a:rPr sz="1600" b="1" dirty="0">
                          <a:solidFill>
                            <a:srgbClr val="111827"/>
                          </a:solidFill>
                          <a:latin typeface="Microsoft YaHei"/>
                        </a:rPr>
                        <a:t> 10k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解码</a:t>
                      </a:r>
                      <a:endParaRPr sz="1600" b="1" dirty="0">
                        <a:solidFill>
                          <a:srgbClr val="111827"/>
                        </a:solidFill>
                        <a:latin typeface="Microsoft YaHei"/>
                      </a:endParaRP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11827"/>
                          </a:solidFill>
                          <a:latin typeface="Microsoft YaHei"/>
                        </a:rPr>
                        <a:t>HR@1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11827"/>
                          </a:solidFill>
                          <a:latin typeface="Microsoft YaHei"/>
                        </a:rPr>
                        <a:t>HR@3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11827"/>
                          </a:solidFill>
                          <a:latin typeface="Microsoft YaHei"/>
                        </a:rPr>
                        <a:t>HR@5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11827"/>
                          </a:solidFill>
                          <a:latin typeface="Microsoft YaHei"/>
                        </a:rPr>
                        <a:t>HR@10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11827"/>
                          </a:solidFill>
                          <a:latin typeface="Microsoft YaHei"/>
                        </a:rPr>
                        <a:t>NDCG@10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11827"/>
                          </a:solidFill>
                          <a:latin typeface="Microsoft YaHei"/>
                        </a:rPr>
                        <a:t>TIGER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无约束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/>
                      </a:endParaRP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51.87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</a:rPr>
                        <a:t>76.00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</a:rPr>
                        <a:t>82.26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</a:rPr>
                        <a:t>87.16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</a:rPr>
                        <a:t>70.4190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11827"/>
                          </a:solidFill>
                          <a:latin typeface="Microsoft YaHei"/>
                        </a:rPr>
                        <a:t>MMBERT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</a:rPr>
                        <a:t>无约束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49.89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73.56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</a:rPr>
                        <a:t>79.79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</a:rPr>
                        <a:t>83.84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</a:rPr>
                        <a:t>67.8842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11827"/>
                          </a:solidFill>
                          <a:latin typeface="Microsoft YaHei"/>
                        </a:rPr>
                        <a:t>TIGER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合法路径</a:t>
                      </a:r>
                      <a:endParaRPr sz="1600" b="0" dirty="0">
                        <a:solidFill>
                          <a:srgbClr val="111827"/>
                        </a:solidFill>
                        <a:latin typeface="Microsoft YaHei"/>
                      </a:endParaRP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</a:rPr>
                        <a:t>52.17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</a:rPr>
                        <a:t>76.52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83.01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87.99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70.9493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11827"/>
                          </a:solidFill>
                          <a:latin typeface="Microsoft YaHei"/>
                        </a:rPr>
                        <a:t>MMBERT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</a:rPr>
                        <a:t>合法路径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</a:rPr>
                        <a:t>50.13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</a:rPr>
                        <a:t>73.91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</a:rPr>
                        <a:t>80.26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</a:rPr>
                        <a:t>84.76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68.3631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3639312"/>
            <a:ext cx="4389120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 dirty="0" err="1">
                <a:solidFill>
                  <a:srgbClr val="1A3A6B"/>
                </a:solidFill>
                <a:latin typeface="Microsoft YaHei"/>
              </a:rPr>
              <a:t>泛化宏平均与冷目标</a:t>
            </a:r>
            <a:endParaRPr sz="1800" b="1" dirty="0">
              <a:solidFill>
                <a:srgbClr val="1A3A6B"/>
              </a:solidFill>
              <a:latin typeface="Microsoft YaHei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7944306"/>
              </p:ext>
            </p:extLst>
          </p:nvPr>
        </p:nvGraphicFramePr>
        <p:xfrm>
          <a:off x="475487" y="4178808"/>
          <a:ext cx="10069050" cy="2187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2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0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54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2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885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745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切片</a:t>
                      </a:r>
                      <a:endParaRPr sz="1600" b="1" dirty="0">
                        <a:solidFill>
                          <a:srgbClr val="111827"/>
                        </a:solidFill>
                        <a:latin typeface="Microsoft YaHei"/>
                      </a:endParaRP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方法</a:t>
                      </a:r>
                      <a:endParaRPr sz="1600" b="1" dirty="0">
                        <a:solidFill>
                          <a:srgbClr val="111827"/>
                        </a:solidFill>
                        <a:latin typeface="Microsoft YaHei"/>
                      </a:endParaRP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11827"/>
                          </a:solidFill>
                          <a:latin typeface="Microsoft YaHei"/>
                        </a:rPr>
                        <a:t>HR@1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11827"/>
                          </a:solidFill>
                          <a:latin typeface="Microsoft YaHei"/>
                        </a:rPr>
                        <a:t>HR@10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11827"/>
                          </a:solidFill>
                          <a:latin typeface="Microsoft YaHei"/>
                        </a:rPr>
                        <a:t>NDCG@10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745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四类宏平均</a:t>
                      </a:r>
                      <a:endParaRPr sz="1600" b="1" dirty="0">
                        <a:solidFill>
                          <a:srgbClr val="111827"/>
                        </a:solidFill>
                        <a:latin typeface="Microsoft YaHei"/>
                      </a:endParaRP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TIGER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24.9925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</a:rPr>
                        <a:t>51.3700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37.6949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745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11827"/>
                          </a:solidFill>
                          <a:latin typeface="Microsoft YaHei"/>
                        </a:rPr>
                        <a:t>四类宏平均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MMBERT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22.6125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</a:rPr>
                        <a:t>44.5925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</a:rPr>
                        <a:t>33.2601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745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11827"/>
                          </a:solidFill>
                          <a:latin typeface="Microsoft YaHei"/>
                        </a:rPr>
                        <a:t>冷目标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TIGER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Microsoft YaHei"/>
                        </a:rPr>
                        <a:t>7.08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17.78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11.8127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745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11827"/>
                          </a:solidFill>
                          <a:latin typeface="Microsoft YaHei"/>
                        </a:rPr>
                        <a:t>冷目标</a:t>
                      </a:r>
                    </a:p>
                  </a:txBody>
                  <a:tcPr marL="50292" marR="50292" marT="22860" marB="22860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MMBERT</a:t>
                      </a:r>
                    </a:p>
                  </a:txBody>
                  <a:tcPr marL="50292" marR="50292" marT="22860" marB="22860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7.93</a:t>
                      </a:r>
                    </a:p>
                  </a:txBody>
                  <a:tcPr marL="50292" marR="50292" marT="22860" marB="22860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18.39</a:t>
                      </a:r>
                    </a:p>
                  </a:txBody>
                  <a:tcPr marL="50292" marR="50292" marT="22860" marB="22860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12.6800</a:t>
                      </a:r>
                    </a:p>
                  </a:txBody>
                  <a:tcPr marL="50292" marR="50292" marT="22860" marB="22860" anchor="ctr">
                    <a:solidFill>
                      <a:srgbClr val="EA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" y="139198"/>
            <a:ext cx="10881360" cy="4714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1" dirty="0" err="1">
                <a:solidFill>
                  <a:srgbClr val="FFFFFF"/>
                </a:solidFill>
                <a:latin typeface="Microsoft YaHei"/>
              </a:rPr>
              <a:t>固定随机</a:t>
            </a:r>
            <a:r>
              <a:rPr sz="2800" b="1" dirty="0">
                <a:solidFill>
                  <a:srgbClr val="FFFFFF"/>
                </a:solidFill>
                <a:latin typeface="Microsoft YaHei"/>
              </a:rPr>
              <a:t> Validation 10k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6455664"/>
            <a:ext cx="56692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Microsoft YaHei"/>
              </a:rPr>
              <a:t>13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8025520"/>
              </p:ext>
            </p:extLst>
          </p:nvPr>
        </p:nvGraphicFramePr>
        <p:xfrm>
          <a:off x="274320" y="822960"/>
          <a:ext cx="11649452" cy="55431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42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79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05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22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22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22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1932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105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63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方法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SID / 主要改动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解码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HR@1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HR@3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HR@5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HR@10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NDCG@10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3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TIGER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BGE + RQ-VAE 1024³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无约束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51.87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76.00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82.26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87.16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70.4190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3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GNPR-SID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Content-Geo + DRQ 512³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无约束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49.66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72.61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78.62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83.07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67.2390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3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 err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GenPOI</a:t>
                      </a:r>
                      <a:endParaRPr sz="1400" b="1" dirty="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292" marR="50292" marT="22860" marB="22860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GID6 + Centered SID</a:t>
                      </a:r>
                    </a:p>
                  </a:txBody>
                  <a:tcPr marL="50292" marR="50292" marT="22860" marB="22860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SSP+TCG</a:t>
                      </a:r>
                    </a:p>
                  </a:txBody>
                  <a:tcPr marL="50292" marR="50292" marT="22860" marB="22860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51.98</a:t>
                      </a:r>
                    </a:p>
                  </a:txBody>
                  <a:tcPr marL="50292" marR="50292" marT="22860" marB="22860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76.31</a:t>
                      </a:r>
                    </a:p>
                  </a:txBody>
                  <a:tcPr marL="50292" marR="50292" marT="22860" marB="22860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82.77</a:t>
                      </a:r>
                    </a:p>
                  </a:txBody>
                  <a:tcPr marL="50292" marR="50292" marT="22860" marB="22860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87.83</a:t>
                      </a:r>
                    </a:p>
                  </a:txBody>
                  <a:tcPr marL="50292" marR="50292" marT="22860" marB="22860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70.7430</a:t>
                      </a:r>
                    </a:p>
                  </a:txBody>
                  <a:tcPr marL="50292" marR="50292" marT="22860" marB="22860" anchor="ctr">
                    <a:solidFill>
                      <a:srgbClr val="EA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3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BGE + RQ-KMeans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1024³ + C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无约束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51.83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75.76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81.97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86.72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70.1553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3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E4 + RQ-VAE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1024³ + C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无约束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49.81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74.79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81.28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86.16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68.9340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3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E4 + RQ-</a:t>
                      </a:r>
                      <a:r>
                        <a:rPr sz="1400" b="1" dirty="0" err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KMeans</a:t>
                      </a: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后移</a:t>
                      </a:r>
                      <a:endParaRPr sz="1400" b="1" dirty="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512×1024×2048 + C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无约束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50.67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75.50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82.03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87.08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69.8064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63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E4 + RQ-KMeans 前移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2048×1024×512 + C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无约束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50.47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75.34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82.00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87.01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69.6711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63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E4 + RQ-KMeans 对称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1024³ + C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无约束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47.99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71.52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78.35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83.42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66.4329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63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GHR</a:t>
                      </a:r>
                      <a:r>
                        <a:rPr lang="zh-CN" altLang="en-US" sz="14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关系层级</a:t>
                      </a:r>
                      <a:endParaRPr sz="1400" b="1" dirty="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 err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最短实体关系</a:t>
                      </a:r>
                      <a:endParaRPr sz="1400" b="0" dirty="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无约束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50.42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72.01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77.99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82.61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67.2405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63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GHR</a:t>
                      </a:r>
                      <a:r>
                        <a:rPr lang="zh-CN" altLang="en-US" sz="14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关系结构</a:t>
                      </a:r>
                      <a:endParaRPr sz="1400" b="1" dirty="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 err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共享关系树</a:t>
                      </a:r>
                      <a:endParaRPr sz="1400" b="0" dirty="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无约束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49.10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70.28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75.75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79.70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65.2636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63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GHR</a:t>
                      </a:r>
                      <a:r>
                        <a:rPr lang="zh-CN" altLang="en-US" sz="14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固定后缀</a:t>
                      </a:r>
                      <a:endParaRPr sz="1400" b="1" dirty="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TIGER + residual/geo 32×32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无约束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50.48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74.43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80.35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84.94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68.6728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263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MMBERT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Recall</a:t>
                      </a:r>
                      <a:r>
                        <a:rPr lang="zh-CN" altLang="en-US" sz="14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sz="14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128 + RQ-VAE 1024³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无约束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49.89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73.56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79.79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83.84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67.8842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" y="140994"/>
            <a:ext cx="10881360" cy="4678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dirty="0" err="1">
                <a:solidFill>
                  <a:srgbClr val="FFFFFF"/>
                </a:solidFill>
                <a:latin typeface="Microsoft YaHei"/>
              </a:rPr>
              <a:t>固定随机</a:t>
            </a:r>
            <a:r>
              <a:rPr sz="2800" b="1" dirty="0">
                <a:solidFill>
                  <a:srgbClr val="FFFFFF"/>
                </a:solidFill>
                <a:latin typeface="Microsoft YaHei"/>
              </a:rPr>
              <a:t> Validation 10k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0438618"/>
              </p:ext>
            </p:extLst>
          </p:nvPr>
        </p:nvGraphicFramePr>
        <p:xfrm>
          <a:off x="256031" y="841248"/>
          <a:ext cx="11179756" cy="55303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8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51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35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35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5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59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292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240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 err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方法</a:t>
                      </a:r>
                      <a:endParaRPr sz="1400" b="1" dirty="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41148" marR="41148" marT="16459" marB="16459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约束方式</a:t>
                      </a:r>
                    </a:p>
                  </a:txBody>
                  <a:tcPr marL="41148" marR="41148" marT="16459" marB="16459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HR@1</a:t>
                      </a:r>
                    </a:p>
                  </a:txBody>
                  <a:tcPr marL="41148" marR="41148" marT="16459" marB="16459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HR@3</a:t>
                      </a:r>
                    </a:p>
                  </a:txBody>
                  <a:tcPr marL="41148" marR="41148" marT="16459" marB="16459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HR@5</a:t>
                      </a:r>
                    </a:p>
                  </a:txBody>
                  <a:tcPr marL="41148" marR="41148" marT="16459" marB="16459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HR@10</a:t>
                      </a:r>
                    </a:p>
                  </a:txBody>
                  <a:tcPr marL="41148" marR="41148" marT="16459" marB="16459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NDCG@10</a:t>
                      </a:r>
                    </a:p>
                  </a:txBody>
                  <a:tcPr marL="41148" marR="41148" marT="16459" marB="16459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0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TIGER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全库合法路径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52.17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76.52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83.01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87.99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70.9493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0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GNPR-SID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 err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未评测</a:t>
                      </a:r>
                      <a:endParaRPr sz="1400" b="0" dirty="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—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—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—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—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—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0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 err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GenPOI</a:t>
                      </a:r>
                      <a:endParaRPr sz="1400" b="1" dirty="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SSP+TCG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51.98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76.31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82.77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87.83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70.7430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0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BGE + RQ-</a:t>
                      </a:r>
                      <a:r>
                        <a:rPr sz="1400" b="1" dirty="0" err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KMeans</a:t>
                      </a:r>
                      <a:endParaRPr sz="1400" b="1" dirty="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 err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全库合法路径</a:t>
                      </a:r>
                      <a:endParaRPr sz="1400" b="0" dirty="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52.20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76.09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82.46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87.41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70.6185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22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E4 + RQ-VAE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 err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全库合法路径</a:t>
                      </a:r>
                      <a:endParaRPr sz="1400" b="0" dirty="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50.08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75.18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81.77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87.04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69.4523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40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E4 + RQ-KMeans 后移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全库合法路径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50.65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76.07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82.87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88.12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70.3083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40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E4 + RQ-</a:t>
                      </a:r>
                      <a:r>
                        <a:rPr sz="1400" b="1" dirty="0" err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KMeans</a:t>
                      </a: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前移</a:t>
                      </a:r>
                      <a:endParaRPr sz="1400" b="1" dirty="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全库合法路径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50.93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75.96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82.92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88.08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70.4071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40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E4 + RQ-KMeans 对称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全库合法路径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50.51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75.67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82.58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87.90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70.1027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40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GHR</a:t>
                      </a:r>
                      <a:r>
                        <a:rPr lang="zh-CN" altLang="en-US" sz="14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关系层级</a:t>
                      </a:r>
                      <a:endParaRPr sz="1400" b="1" dirty="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全库合法路径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47.20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66.24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71.28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75.05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61.8429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40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GHR</a:t>
                      </a:r>
                      <a:r>
                        <a:rPr lang="zh-CN" altLang="en-US" sz="14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关系结构</a:t>
                      </a:r>
                      <a:endParaRPr sz="1400" b="1" dirty="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全库合法路径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45.92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63.62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68.03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71.35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59.3719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40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GHR</a:t>
                      </a:r>
                      <a:r>
                        <a:rPr lang="zh-CN" altLang="en-US" sz="14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固定后缀</a:t>
                      </a:r>
                      <a:endParaRPr sz="1400" b="1" dirty="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全库合法路径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50.77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75.12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81.33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86.27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69.4426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240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MMBERT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全库合法路径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50.13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73.91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80.26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84.76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68.3631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045952" y="6455664"/>
            <a:ext cx="56692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" y="139198"/>
            <a:ext cx="10881360" cy="4714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1" dirty="0" err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四类泛化</a:t>
            </a:r>
            <a:r>
              <a:rPr lang="zh-CN" altLang="en-US" sz="28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集宏平均</a:t>
            </a:r>
            <a:endParaRPr sz="28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045952" y="6455664"/>
            <a:ext cx="56692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Microsoft YaHei"/>
              </a:rPr>
              <a:t>15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7624852"/>
              </p:ext>
            </p:extLst>
          </p:nvPr>
        </p:nvGraphicFramePr>
        <p:xfrm>
          <a:off x="256031" y="822960"/>
          <a:ext cx="10881358" cy="5468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82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94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94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94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53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21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方法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解码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HR@1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HR@3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HR@5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HR@10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NDCG@10</a:t>
                      </a:r>
                    </a:p>
                  </a:txBody>
                  <a:tcPr marL="50292" marR="50292" marT="22860" marB="22860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 err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GenPOI</a:t>
                      </a:r>
                      <a:endParaRPr sz="1400" b="1" dirty="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292" marR="50292" marT="22860" marB="22860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SSP+TCG</a:t>
                      </a:r>
                    </a:p>
                  </a:txBody>
                  <a:tcPr marL="50292" marR="50292" marT="22860" marB="22860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25.2525</a:t>
                      </a:r>
                    </a:p>
                  </a:txBody>
                  <a:tcPr marL="50292" marR="50292" marT="22860" marB="22860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40.0525</a:t>
                      </a:r>
                    </a:p>
                  </a:txBody>
                  <a:tcPr marL="50292" marR="50292" marT="22860" marB="22860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46.5775</a:t>
                      </a:r>
                    </a:p>
                  </a:txBody>
                  <a:tcPr marL="50292" marR="50292" marT="22860" marB="22860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54.1375</a:t>
                      </a:r>
                    </a:p>
                  </a:txBody>
                  <a:tcPr marL="50292" marR="50292" marT="22860" marB="22860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39.0484</a:t>
                      </a:r>
                    </a:p>
                  </a:txBody>
                  <a:tcPr marL="50292" marR="50292" marT="22860" marB="22860" anchor="ctr">
                    <a:solidFill>
                      <a:srgbClr val="EA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TIGER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无约束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24.9925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38.9850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44.7575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51.3700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37.6949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GNPR-SID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 err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无约束</a:t>
                      </a:r>
                      <a:endParaRPr sz="1400" b="0" dirty="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19.0725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29.4775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33.6600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37.7675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28.2409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BGE + RQ-</a:t>
                      </a:r>
                      <a:r>
                        <a:rPr sz="1400" b="1" dirty="0" err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KMeans</a:t>
                      </a:r>
                      <a:endParaRPr sz="1400" b="1" dirty="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无约束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24.6500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38.2125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44.0275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50.4625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37.0584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E4 + RQ-VAE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无约束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22.4350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35.8550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41.4475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47.9150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34.6673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E4 + RQ-KMeans 后移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 err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无约束</a:t>
                      </a:r>
                      <a:endParaRPr sz="1400" b="0" dirty="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23.6225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37.7650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43.6875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50.4100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36.5115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E4 + RQ-KMeans 前移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无约束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24.0325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37.7550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43.5750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50.0825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36.5579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E4 + RQ-KMeans 对称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 err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无约束</a:t>
                      </a:r>
                      <a:endParaRPr sz="1400" b="0" dirty="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22.6700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35.8500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41.4750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47.8250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34.7579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GHR </a:t>
                      </a:r>
                      <a:r>
                        <a:rPr lang="zh-CN" altLang="en-US" sz="14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关系层级</a:t>
                      </a:r>
                      <a:endParaRPr sz="1400" b="1" dirty="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无约束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24.4050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36.8425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41.9600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47.5350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35.6002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GHR </a:t>
                      </a:r>
                      <a:r>
                        <a:rPr lang="zh-CN" altLang="en-US" sz="14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关系结构</a:t>
                      </a:r>
                      <a:endParaRPr sz="1400" b="1" dirty="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无约束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23.7125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35.5875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40.4425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45.6150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34.3402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GHR </a:t>
                      </a:r>
                      <a:r>
                        <a:rPr lang="zh-CN" altLang="en-US" sz="14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固定后缀</a:t>
                      </a:r>
                      <a:endParaRPr sz="1400" b="1" dirty="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无约束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22.5025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34.6525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39.7125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45.1850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33.4979</a:t>
                      </a: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MMBERT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 err="1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无约束</a:t>
                      </a:r>
                      <a:endParaRPr sz="1400" b="0" dirty="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22.6125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34.5600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39.3175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44.5925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33.2601</a:t>
                      </a: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" y="140994"/>
            <a:ext cx="11503152" cy="4678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dirty="0" err="1">
                <a:solidFill>
                  <a:srgbClr val="FFFFFF"/>
                </a:solidFill>
                <a:latin typeface="Microsoft YaHei"/>
              </a:rPr>
              <a:t>泛化集一：已见</a:t>
            </a:r>
            <a:r>
              <a:rPr sz="2800" b="1" dirty="0">
                <a:solidFill>
                  <a:srgbClr val="FFFFFF"/>
                </a:solidFill>
                <a:latin typeface="Microsoft YaHei"/>
              </a:rPr>
              <a:t> Query / </a:t>
            </a:r>
            <a:r>
              <a:rPr sz="2800" b="1" dirty="0" err="1">
                <a:solidFill>
                  <a:srgbClr val="FFFFFF"/>
                </a:solidFill>
                <a:latin typeface="Microsoft YaHei"/>
              </a:rPr>
              <a:t>未见</a:t>
            </a:r>
            <a:r>
              <a:rPr sz="2800" b="1" dirty="0">
                <a:solidFill>
                  <a:srgbClr val="FFFFFF"/>
                </a:solidFill>
                <a:latin typeface="Microsoft YaHei"/>
              </a:rPr>
              <a:t> Query–POI Pair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5413184"/>
              </p:ext>
            </p:extLst>
          </p:nvPr>
        </p:nvGraphicFramePr>
        <p:xfrm>
          <a:off x="252986" y="922271"/>
          <a:ext cx="11686028" cy="5351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1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4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23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23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23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860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404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3419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163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/>
                        </a:rPr>
                        <a:t>方法</a:t>
                      </a:r>
                    </a:p>
                  </a:txBody>
                  <a:tcPr marL="41148" marR="41148" marT="16459" marB="16459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/>
                        </a:rPr>
                        <a:t>解码</a:t>
                      </a:r>
                    </a:p>
                  </a:txBody>
                  <a:tcPr marL="41148" marR="41148" marT="16459" marB="16459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/>
                        </a:rPr>
                        <a:t>HR@1</a:t>
                      </a:r>
                    </a:p>
                  </a:txBody>
                  <a:tcPr marL="41148" marR="41148" marT="16459" marB="16459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/>
                        </a:rPr>
                        <a:t>HR@3</a:t>
                      </a:r>
                    </a:p>
                  </a:txBody>
                  <a:tcPr marL="41148" marR="41148" marT="16459" marB="16459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/>
                        </a:rPr>
                        <a:t>HR@5</a:t>
                      </a:r>
                    </a:p>
                  </a:txBody>
                  <a:tcPr marL="41148" marR="41148" marT="16459" marB="16459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/>
                        </a:rPr>
                        <a:t>HR@10</a:t>
                      </a:r>
                    </a:p>
                  </a:txBody>
                  <a:tcPr marL="41148" marR="41148" marT="16459" marB="16459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/>
                        </a:rPr>
                        <a:t>NDCG@10</a:t>
                      </a:r>
                    </a:p>
                  </a:txBody>
                  <a:tcPr marL="41148" marR="41148" marT="16459" marB="16459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/>
                        </a:rPr>
                        <a:t>Valid ID</a:t>
                      </a:r>
                    </a:p>
                  </a:txBody>
                  <a:tcPr marL="41148" marR="41148" marT="16459" marB="16459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63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/>
                        </a:rPr>
                        <a:t>TIGER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无约束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17.29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39.66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49.72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60.07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37.8330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75.324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63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/>
                        </a:rPr>
                        <a:t>GNPR-SID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无约束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15.09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33.01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41.54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49.76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31.7397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78.415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63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GenPOI</a:t>
                      </a:r>
                      <a:endParaRPr sz="1400" b="1" dirty="0">
                        <a:solidFill>
                          <a:srgbClr val="111827"/>
                        </a:solidFill>
                        <a:latin typeface="Microsoft YaHei"/>
                      </a:endParaRPr>
                    </a:p>
                  </a:txBody>
                  <a:tcPr marL="41148" marR="41148" marT="16459" marB="16459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SSP+TCG</a:t>
                      </a:r>
                    </a:p>
                  </a:txBody>
                  <a:tcPr marL="41148" marR="41148" marT="16459" marB="16459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/>
                        </a:rPr>
                        <a:t>18.93</a:t>
                      </a:r>
                    </a:p>
                  </a:txBody>
                  <a:tcPr marL="41148" marR="41148" marT="16459" marB="16459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/>
                        </a:rPr>
                        <a:t>41.87</a:t>
                      </a:r>
                    </a:p>
                  </a:txBody>
                  <a:tcPr marL="41148" marR="41148" marT="16459" marB="16459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/>
                        </a:rPr>
                        <a:t>52.41</a:t>
                      </a:r>
                    </a:p>
                  </a:txBody>
                  <a:tcPr marL="41148" marR="41148" marT="16459" marB="16459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/>
                        </a:rPr>
                        <a:t>63.89</a:t>
                      </a:r>
                    </a:p>
                  </a:txBody>
                  <a:tcPr marL="41148" marR="41148" marT="16459" marB="16459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/>
                        </a:rPr>
                        <a:t>40.3454</a:t>
                      </a:r>
                    </a:p>
                  </a:txBody>
                  <a:tcPr marL="41148" marR="41148" marT="16459" marB="16459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100.000</a:t>
                      </a:r>
                    </a:p>
                  </a:txBody>
                  <a:tcPr marL="41148" marR="41148" marT="16459" marB="16459" anchor="ctr">
                    <a:solidFill>
                      <a:srgbClr val="EA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63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/>
                        </a:rPr>
                        <a:t>BGE + RQ-KMeans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无约束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17.12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38.16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48.11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58.55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36.8369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74.748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63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/>
                        </a:rPr>
                        <a:t>E4 + RQ-VAE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无约束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16.20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37.35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46.95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57.46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35.8282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77.062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63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/>
                        </a:rPr>
                        <a:t>E4 + RQ-KMeans 后移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无约束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16.43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39.54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49.48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60.39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37.5333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76.024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63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/>
                        </a:rPr>
                        <a:t>E4 + RQ-</a:t>
                      </a:r>
                      <a:r>
                        <a:rPr sz="1400" b="1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KMeans</a:t>
                      </a: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前移</a:t>
                      </a:r>
                      <a:endParaRPr sz="1400" b="1" dirty="0">
                        <a:solidFill>
                          <a:srgbClr val="111827"/>
                        </a:solidFill>
                        <a:latin typeface="Microsoft YaHei"/>
                      </a:endParaRP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无约束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17.33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39.08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49.50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59.93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37.6794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75.580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63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/>
                        </a:rPr>
                        <a:t>E4 + RQ-</a:t>
                      </a:r>
                      <a:r>
                        <a:rPr sz="1400" b="1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KMeans</a:t>
                      </a: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对称</a:t>
                      </a:r>
                      <a:endParaRPr sz="1400" b="1" dirty="0">
                        <a:solidFill>
                          <a:srgbClr val="111827"/>
                        </a:solidFill>
                        <a:latin typeface="Microsoft YaHei"/>
                      </a:endParaRP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无约束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15.15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36.18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45.61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56.01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34.6673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70.712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63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GHR </a:t>
                      </a:r>
                      <a:r>
                        <a:rPr lang="zh-CN" altLang="en-US" sz="14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关系层级</a:t>
                      </a:r>
                      <a:endParaRPr sz="1400" b="1" dirty="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无约束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18.13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38.35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47.46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56.79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36.7032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70.964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163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GHR </a:t>
                      </a:r>
                      <a:r>
                        <a:rPr lang="zh-CN" altLang="en-US" sz="14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关系结构</a:t>
                      </a:r>
                      <a:endParaRPr sz="1400" b="1" dirty="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无约束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17.68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36.39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44.96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53.49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34.8938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69.493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163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GHR </a:t>
                      </a:r>
                      <a:r>
                        <a:rPr lang="zh-CN" altLang="en-US" sz="14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固定后缀</a:t>
                      </a:r>
                      <a:endParaRPr sz="1400" b="1" dirty="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无约束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17.50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37.46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46.44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55.90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35.9345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67.425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1163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/>
                        </a:rPr>
                        <a:t>MMBERT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无约束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16.62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35.83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43.41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51.85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33.6101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67.651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045952" y="6455664"/>
            <a:ext cx="56692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" y="54864"/>
            <a:ext cx="10881360" cy="6400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泛化集二：新 Query / 已见目标 POI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973871"/>
              </p:ext>
            </p:extLst>
          </p:nvPr>
        </p:nvGraphicFramePr>
        <p:xfrm>
          <a:off x="256032" y="841248"/>
          <a:ext cx="11686028" cy="53859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1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4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23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23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23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860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404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3419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430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/>
                        </a:rPr>
                        <a:t>方法</a:t>
                      </a:r>
                    </a:p>
                  </a:txBody>
                  <a:tcPr marL="41148" marR="41148" marT="16459" marB="16459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/>
                        </a:rPr>
                        <a:t>解码</a:t>
                      </a:r>
                    </a:p>
                  </a:txBody>
                  <a:tcPr marL="41148" marR="41148" marT="16459" marB="16459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/>
                        </a:rPr>
                        <a:t>HR@1</a:t>
                      </a:r>
                    </a:p>
                  </a:txBody>
                  <a:tcPr marL="41148" marR="41148" marT="16459" marB="16459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/>
                        </a:rPr>
                        <a:t>HR@3</a:t>
                      </a:r>
                    </a:p>
                  </a:txBody>
                  <a:tcPr marL="41148" marR="41148" marT="16459" marB="16459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/>
                        </a:rPr>
                        <a:t>HR@5</a:t>
                      </a:r>
                    </a:p>
                  </a:txBody>
                  <a:tcPr marL="41148" marR="41148" marT="16459" marB="16459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/>
                        </a:rPr>
                        <a:t>HR@10</a:t>
                      </a:r>
                    </a:p>
                  </a:txBody>
                  <a:tcPr marL="41148" marR="41148" marT="16459" marB="16459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/>
                        </a:rPr>
                        <a:t>NDCG@10</a:t>
                      </a:r>
                    </a:p>
                  </a:txBody>
                  <a:tcPr marL="41148" marR="41148" marT="16459" marB="16459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/>
                        </a:rPr>
                        <a:t>Valid ID</a:t>
                      </a:r>
                    </a:p>
                  </a:txBody>
                  <a:tcPr marL="41148" marR="41148" marT="16459" marB="16459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30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/>
                        </a:rPr>
                        <a:t>TIGER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无约束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/>
                        </a:rPr>
                        <a:t>49.59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66.32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71.08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75.30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62.8133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57.566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30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/>
                        </a:rPr>
                        <a:t>GNPR-SID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无约束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41.71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56.90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61.38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65.11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53.8012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65.616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430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GenPOI</a:t>
                      </a:r>
                      <a:endParaRPr sz="1400" b="1" dirty="0">
                        <a:solidFill>
                          <a:srgbClr val="111827"/>
                        </a:solidFill>
                        <a:latin typeface="Microsoft YaHei"/>
                      </a:endParaRPr>
                    </a:p>
                  </a:txBody>
                  <a:tcPr marL="41148" marR="41148" marT="16459" marB="16459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SSP+TCG</a:t>
                      </a:r>
                    </a:p>
                  </a:txBody>
                  <a:tcPr marL="41148" marR="41148" marT="16459" marB="16459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49.07</a:t>
                      </a:r>
                    </a:p>
                  </a:txBody>
                  <a:tcPr marL="41148" marR="41148" marT="16459" marB="16459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/>
                        </a:rPr>
                        <a:t>66.49</a:t>
                      </a:r>
                    </a:p>
                  </a:txBody>
                  <a:tcPr marL="41148" marR="41148" marT="16459" marB="16459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/>
                        </a:rPr>
                        <a:t>71.72</a:t>
                      </a:r>
                    </a:p>
                  </a:txBody>
                  <a:tcPr marL="41148" marR="41148" marT="16459" marB="16459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/>
                        </a:rPr>
                        <a:t>76.74</a:t>
                      </a:r>
                    </a:p>
                  </a:txBody>
                  <a:tcPr marL="41148" marR="41148" marT="16459" marB="16459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/>
                        </a:rPr>
                        <a:t>63.2055</a:t>
                      </a:r>
                    </a:p>
                  </a:txBody>
                  <a:tcPr marL="41148" marR="41148" marT="16459" marB="16459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100.000</a:t>
                      </a:r>
                    </a:p>
                  </a:txBody>
                  <a:tcPr marL="41148" marR="41148" marT="16459" marB="16459" anchor="ctr">
                    <a:solidFill>
                      <a:srgbClr val="EA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30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/>
                        </a:rPr>
                        <a:t>BGE + RQ-KMeans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无约束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48.69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64.27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69.39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73.70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61.4121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56.479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430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/>
                        </a:rPr>
                        <a:t>E4 + RQ-VAE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无约束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45.09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62.09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67.20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72.79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59.0478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57.263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430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/>
                        </a:rPr>
                        <a:t>E4 + RQ-KMeans 后移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无约束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46.78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63.76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69.60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74.71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60.8654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55.983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430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/>
                        </a:rPr>
                        <a:t>E4 + RQ-KMeans 前移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无约束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47.67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64.71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69.87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74.85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61.4296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54.104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430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/>
                        </a:rPr>
                        <a:t>E4 + RQ-KMeans 对称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无约束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45.17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61.26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66.73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71.81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58.5774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50.477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430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GHR </a:t>
                      </a:r>
                      <a:r>
                        <a:rPr lang="zh-CN" altLang="en-US" sz="14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关系层级</a:t>
                      </a:r>
                      <a:endParaRPr sz="1400" b="1" dirty="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无约束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48.23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63.43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67.91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71.80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60.3179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52.844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430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GHR </a:t>
                      </a:r>
                      <a:r>
                        <a:rPr lang="zh-CN" altLang="en-US" sz="14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关系结构</a:t>
                      </a:r>
                      <a:endParaRPr sz="1400" b="1" dirty="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无约束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46.45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60.92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65.20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69.00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58.0058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51.678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430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GHR </a:t>
                      </a:r>
                      <a:r>
                        <a:rPr lang="zh-CN" altLang="en-US" sz="14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固定后缀</a:t>
                      </a:r>
                      <a:endParaRPr sz="1400" b="1" dirty="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无约束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46.55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62.58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67.37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71.65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59.4397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48.135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1430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/>
                        </a:rPr>
                        <a:t>MMBERT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无约束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45.58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60.76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65.49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69.45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57.8077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46.685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045952" y="6455664"/>
            <a:ext cx="56692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" y="54864"/>
            <a:ext cx="10881360" cy="6400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泛化集三：长尾目标 POI（Train 1—5）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3550428"/>
              </p:ext>
            </p:extLst>
          </p:nvPr>
        </p:nvGraphicFramePr>
        <p:xfrm>
          <a:off x="256032" y="841248"/>
          <a:ext cx="11686028" cy="54553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1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4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23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23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23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860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404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3419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964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/>
                        </a:rPr>
                        <a:t>方法</a:t>
                      </a:r>
                    </a:p>
                  </a:txBody>
                  <a:tcPr marL="41148" marR="41148" marT="16459" marB="16459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/>
                        </a:rPr>
                        <a:t>解码</a:t>
                      </a:r>
                    </a:p>
                  </a:txBody>
                  <a:tcPr marL="41148" marR="41148" marT="16459" marB="16459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/>
                        </a:rPr>
                        <a:t>HR@1</a:t>
                      </a:r>
                    </a:p>
                  </a:txBody>
                  <a:tcPr marL="41148" marR="41148" marT="16459" marB="16459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/>
                        </a:rPr>
                        <a:t>HR@3</a:t>
                      </a:r>
                    </a:p>
                  </a:txBody>
                  <a:tcPr marL="41148" marR="41148" marT="16459" marB="16459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/>
                        </a:rPr>
                        <a:t>HR@5</a:t>
                      </a:r>
                    </a:p>
                  </a:txBody>
                  <a:tcPr marL="41148" marR="41148" marT="16459" marB="16459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/>
                        </a:rPr>
                        <a:t>HR@10</a:t>
                      </a:r>
                    </a:p>
                  </a:txBody>
                  <a:tcPr marL="41148" marR="41148" marT="16459" marB="16459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/>
                        </a:rPr>
                        <a:t>NDCG@10</a:t>
                      </a:r>
                    </a:p>
                  </a:txBody>
                  <a:tcPr marL="41148" marR="41148" marT="16459" marB="16459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/>
                        </a:rPr>
                        <a:t>Valid ID</a:t>
                      </a:r>
                    </a:p>
                  </a:txBody>
                  <a:tcPr marL="41148" marR="41148" marT="16459" marB="16459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64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/>
                        </a:rPr>
                        <a:t>TIGER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无约束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26.01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38.67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44.49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52.33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38.3206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50.844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64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/>
                        </a:rPr>
                        <a:t>GNPR-SID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无约束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15.96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24.05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27.58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31.93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23.5276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57.101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64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GenPOI</a:t>
                      </a:r>
                      <a:endParaRPr sz="1400" b="1" dirty="0">
                        <a:solidFill>
                          <a:srgbClr val="111827"/>
                        </a:solidFill>
                        <a:latin typeface="Microsoft YaHei"/>
                      </a:endParaRPr>
                    </a:p>
                  </a:txBody>
                  <a:tcPr marL="41148" marR="41148" marT="16459" marB="16459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SSP+TCG</a:t>
                      </a:r>
                    </a:p>
                  </a:txBody>
                  <a:tcPr marL="41148" marR="41148" marT="16459" marB="16459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25.73</a:t>
                      </a:r>
                    </a:p>
                  </a:txBody>
                  <a:tcPr marL="41148" marR="41148" marT="16459" marB="16459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/>
                        </a:rPr>
                        <a:t>39.84</a:t>
                      </a:r>
                    </a:p>
                  </a:txBody>
                  <a:tcPr marL="41148" marR="41148" marT="16459" marB="16459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/>
                        </a:rPr>
                        <a:t>46.79</a:t>
                      </a:r>
                    </a:p>
                  </a:txBody>
                  <a:tcPr marL="41148" marR="41148" marT="16459" marB="16459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/>
                        </a:rPr>
                        <a:t>55.11</a:t>
                      </a:r>
                    </a:p>
                  </a:txBody>
                  <a:tcPr marL="41148" marR="41148" marT="16459" marB="16459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/>
                        </a:rPr>
                        <a:t>39.5168</a:t>
                      </a:r>
                    </a:p>
                  </a:txBody>
                  <a:tcPr marL="41148" marR="41148" marT="16459" marB="16459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100.000</a:t>
                      </a:r>
                    </a:p>
                  </a:txBody>
                  <a:tcPr marL="41148" marR="41148" marT="16459" marB="16459" anchor="ctr">
                    <a:solidFill>
                      <a:srgbClr val="EA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64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/>
                        </a:rPr>
                        <a:t>BGE + RQ-KMeans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无约束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25.72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38.57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44.10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51.29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37.7998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48.269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64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/>
                        </a:rPr>
                        <a:t>E4 + RQ-VAE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无约束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24.09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37.02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42.98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50.30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36.4523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48.504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64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/>
                        </a:rPr>
                        <a:t>E4 + RQ-KMeans 后移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无约束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26.07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39.20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45.27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53.05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38.7430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47.371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964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/>
                        </a:rPr>
                        <a:t>E4 + RQ-KMeans 前移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无约束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/>
                        </a:rPr>
                        <a:t>26.30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39.20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45.24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52.77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38.7741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45.211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964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/>
                        </a:rPr>
                        <a:t>E4 + RQ-KMeans 对称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无约束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25.21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37.80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43.69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50.98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37.3417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44.998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964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GHR </a:t>
                      </a:r>
                      <a:r>
                        <a:rPr lang="zh-CN" altLang="en-US" sz="14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关系层级</a:t>
                      </a:r>
                      <a:endParaRPr sz="1400" b="1" dirty="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无约束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24.79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36.08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41.34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47.70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35.6145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41.977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964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GHR </a:t>
                      </a:r>
                      <a:r>
                        <a:rPr lang="zh-CN" altLang="en-US" sz="14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关系结构</a:t>
                      </a:r>
                      <a:endParaRPr sz="1400" b="1" dirty="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无约束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24.45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35.76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40.53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46.31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34.8868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41.661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964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GHR </a:t>
                      </a:r>
                      <a:r>
                        <a:rPr lang="zh-CN" altLang="en-US" sz="14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固定后缀</a:t>
                      </a:r>
                      <a:endParaRPr sz="1400" b="1" dirty="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无约束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19.50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29.10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33.77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39.79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28.9804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37.338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1964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/>
                        </a:rPr>
                        <a:t>MMBERT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无约束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20.32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29.27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33.38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38.68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28.9425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37.801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045952" y="6455664"/>
            <a:ext cx="56692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Microsoft Ya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" y="54864"/>
            <a:ext cx="10881360" cy="6400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泛化集四：冷目标 POI（Train 0）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183693"/>
              </p:ext>
            </p:extLst>
          </p:nvPr>
        </p:nvGraphicFramePr>
        <p:xfrm>
          <a:off x="256032" y="841248"/>
          <a:ext cx="11686028" cy="5432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1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4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23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23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23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860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404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3419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786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/>
                        </a:rPr>
                        <a:t>方法</a:t>
                      </a:r>
                    </a:p>
                  </a:txBody>
                  <a:tcPr marL="41148" marR="41148" marT="16459" marB="16459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/>
                        </a:rPr>
                        <a:t>解码</a:t>
                      </a:r>
                    </a:p>
                  </a:txBody>
                  <a:tcPr marL="41148" marR="41148" marT="16459" marB="16459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/>
                        </a:rPr>
                        <a:t>HR@1</a:t>
                      </a:r>
                    </a:p>
                  </a:txBody>
                  <a:tcPr marL="41148" marR="41148" marT="16459" marB="16459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/>
                        </a:rPr>
                        <a:t>HR@3</a:t>
                      </a:r>
                    </a:p>
                  </a:txBody>
                  <a:tcPr marL="41148" marR="41148" marT="16459" marB="16459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/>
                        </a:rPr>
                        <a:t>HR@5</a:t>
                      </a:r>
                    </a:p>
                  </a:txBody>
                  <a:tcPr marL="41148" marR="41148" marT="16459" marB="16459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/>
                        </a:rPr>
                        <a:t>HR@10</a:t>
                      </a:r>
                    </a:p>
                  </a:txBody>
                  <a:tcPr marL="41148" marR="41148" marT="16459" marB="16459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/>
                        </a:rPr>
                        <a:t>NDCG@10</a:t>
                      </a:r>
                    </a:p>
                  </a:txBody>
                  <a:tcPr marL="41148" marR="41148" marT="16459" marB="16459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/>
                        </a:rPr>
                        <a:t>Valid ID</a:t>
                      </a:r>
                    </a:p>
                  </a:txBody>
                  <a:tcPr marL="41148" marR="41148" marT="16459" marB="16459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86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/>
                        </a:rPr>
                        <a:t>TIGER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无约束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7.08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11.29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13.74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17.78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11.8127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44.943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86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/>
                        </a:rPr>
                        <a:t>GNPR-SID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无约束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3.53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3.95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4.14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4.27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3.8952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51.433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86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 err="1">
                          <a:solidFill>
                            <a:srgbClr val="111827"/>
                          </a:solidFill>
                          <a:latin typeface="Microsoft YaHei"/>
                        </a:rPr>
                        <a:t>GenPOI</a:t>
                      </a:r>
                      <a:endParaRPr sz="1400" b="1" dirty="0">
                        <a:solidFill>
                          <a:srgbClr val="111827"/>
                        </a:solidFill>
                        <a:latin typeface="Microsoft YaHei"/>
                      </a:endParaRPr>
                    </a:p>
                  </a:txBody>
                  <a:tcPr marL="41148" marR="41148" marT="16459" marB="16459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SSP+TCG</a:t>
                      </a:r>
                    </a:p>
                  </a:txBody>
                  <a:tcPr marL="41148" marR="41148" marT="16459" marB="16459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7.28</a:t>
                      </a:r>
                    </a:p>
                  </a:txBody>
                  <a:tcPr marL="41148" marR="41148" marT="16459" marB="16459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12.01</a:t>
                      </a:r>
                    </a:p>
                  </a:txBody>
                  <a:tcPr marL="41148" marR="41148" marT="16459" marB="16459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/>
                        </a:rPr>
                        <a:t>15.39</a:t>
                      </a:r>
                    </a:p>
                  </a:txBody>
                  <a:tcPr marL="41148" marR="41148" marT="16459" marB="16459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/>
                        </a:rPr>
                        <a:t>20.81</a:t>
                      </a:r>
                    </a:p>
                  </a:txBody>
                  <a:tcPr marL="41148" marR="41148" marT="16459" marB="16459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/>
                        </a:rPr>
                        <a:t>13.1261</a:t>
                      </a:r>
                    </a:p>
                  </a:txBody>
                  <a:tcPr marL="41148" marR="41148" marT="16459" marB="16459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100.000</a:t>
                      </a:r>
                    </a:p>
                  </a:txBody>
                  <a:tcPr marL="41148" marR="41148" marT="16459" marB="16459" anchor="ctr">
                    <a:solidFill>
                      <a:srgbClr val="EA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86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/>
                        </a:rPr>
                        <a:t>BGE + RQ-KMeans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无约束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7.07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11.85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14.51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18.31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12.1847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42.274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786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/>
                        </a:rPr>
                        <a:t>E4 + RQ-VAE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无约束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4.36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6.96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8.66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11.11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7.3409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40.888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786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/>
                        </a:rPr>
                        <a:t>E4 + RQ-KMeans 后移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无约束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5.21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8.56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10.40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13.49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8.9042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39.534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786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/>
                        </a:rPr>
                        <a:t>E4 + RQ-KMeans 前移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无约束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4.83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8.03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9.69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12.78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8.3486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37.053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786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/>
                        </a:rPr>
                        <a:t>E4 + RQ-KMeans 对称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无约束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5.15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8.16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9.87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12.50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8.4450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37.136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786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GHR </a:t>
                      </a:r>
                      <a:r>
                        <a:rPr lang="zh-CN" altLang="en-US" sz="14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关系层级</a:t>
                      </a:r>
                      <a:endParaRPr sz="1400" b="1" dirty="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无约束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6.47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9.51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11.13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13.85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9.7652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34.531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786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GHR </a:t>
                      </a:r>
                      <a:r>
                        <a:rPr lang="zh-CN" altLang="en-US" sz="14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关系结构</a:t>
                      </a:r>
                      <a:endParaRPr sz="1400" b="1" dirty="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292" marR="50292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无约束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6.27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9.28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11.08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13.66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9.5746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34.379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786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GHR </a:t>
                      </a:r>
                      <a:r>
                        <a:rPr lang="zh-CN" altLang="en-US" sz="1400" b="1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固定后缀</a:t>
                      </a:r>
                      <a:endParaRPr sz="1400" b="1" dirty="0">
                        <a:solidFill>
                          <a:srgbClr val="111827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292" marR="50292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无约束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6.46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9.47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11.27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13.40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9.6369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30.278</a:t>
                      </a:r>
                    </a:p>
                  </a:txBody>
                  <a:tcPr marL="41148" marR="41148" marT="16459" marB="16459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1786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11827"/>
                          </a:solidFill>
                          <a:latin typeface="Microsoft YaHei"/>
                        </a:rPr>
                        <a:t>MMBERT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无约束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/>
                        </a:rPr>
                        <a:t>7.93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111827"/>
                          </a:solidFill>
                          <a:latin typeface="Microsoft YaHei"/>
                        </a:rPr>
                        <a:t>12.38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14.99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18.39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11827"/>
                          </a:solidFill>
                          <a:latin typeface="Microsoft YaHei"/>
                        </a:rPr>
                        <a:t>12.6800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11827"/>
                          </a:solidFill>
                          <a:latin typeface="Microsoft YaHei"/>
                        </a:rPr>
                        <a:t>31.944</a:t>
                      </a:r>
                    </a:p>
                  </a:txBody>
                  <a:tcPr marL="41148" marR="41148" marT="16459" marB="16459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045952" y="6455664"/>
            <a:ext cx="56692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Microsoft Ya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" y="54864"/>
            <a:ext cx="10881360" cy="6400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实验总结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5952" y="6455664"/>
            <a:ext cx="56692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Microsoft YaHei"/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3511296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A3A6B"/>
                </a:solidFill>
                <a:latin typeface="Microsoft YaHei"/>
              </a:rPr>
              <a:t>实验结论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45920"/>
            <a:ext cx="3420898" cy="335816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marL="285750" indent="-285750">
              <a:lnSpc>
                <a:spcPct val="112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600" b="0" dirty="0" err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论文复现中</a:t>
            </a:r>
            <a:r>
              <a:rPr sz="1600" b="0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GenPOI</a:t>
            </a:r>
            <a:r>
              <a:rPr sz="1600" b="0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的泛化</a:t>
            </a:r>
            <a:r>
              <a:rPr sz="1600" b="0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Top-K </a:t>
            </a:r>
            <a:r>
              <a:rPr sz="1600" b="0" dirty="0" err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最好，TIGER</a:t>
            </a:r>
            <a:r>
              <a:rPr sz="1600" b="0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是当前无约束生成基线</a:t>
            </a:r>
            <a:r>
              <a:rPr sz="1600" b="0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  <a:p>
            <a:pPr marL="285750" indent="-285750">
              <a:lnSpc>
                <a:spcPct val="112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600" b="0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BGE+RQ-</a:t>
            </a:r>
            <a:r>
              <a:rPr sz="1600" b="0" dirty="0" err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KMeans</a:t>
            </a:r>
            <a:r>
              <a:rPr sz="1600" b="0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最接近</a:t>
            </a:r>
            <a:r>
              <a:rPr sz="1600" b="0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TIGER；容量后移进一步提高前三层</a:t>
            </a:r>
            <a:r>
              <a:rPr sz="1600" b="0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TF </a:t>
            </a:r>
            <a:r>
              <a:rPr sz="1600" b="0" dirty="0" err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</a:t>
            </a:r>
            <a:r>
              <a:rPr sz="1600" b="0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Bucket </a:t>
            </a:r>
            <a:r>
              <a:rPr sz="1600" b="0" dirty="0" err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召回</a:t>
            </a:r>
            <a:r>
              <a:rPr sz="1600" b="0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  <a:p>
            <a:pPr marL="285750" indent="-285750">
              <a:lnSpc>
                <a:spcPct val="112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600" b="0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GHR </a:t>
            </a:r>
            <a:r>
              <a:rPr sz="1600" b="0" dirty="0" err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固定</a:t>
            </a:r>
            <a:r>
              <a:rPr sz="1600" b="0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32×32 </a:t>
            </a:r>
            <a:r>
              <a:rPr sz="1600" b="0" dirty="0" err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短后缀优于变长关系树，说明碰撞表示应保持短而稳定</a:t>
            </a:r>
            <a:r>
              <a:rPr sz="1600" b="0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  <a:p>
            <a:pPr marL="285750" indent="-285750">
              <a:lnSpc>
                <a:spcPct val="112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600" b="0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MMBERT </a:t>
            </a:r>
            <a:r>
              <a:rPr sz="1600" b="0" dirty="0" err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改善连续召回与冷目标，但完整</a:t>
            </a:r>
            <a:r>
              <a:rPr sz="1600" b="0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SID </a:t>
            </a:r>
            <a:r>
              <a:rPr sz="1600" b="0" dirty="0" err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生成</a:t>
            </a:r>
            <a:r>
              <a:rPr lang="zh-CN" altLang="en-US" sz="1600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未有提升</a:t>
            </a:r>
            <a:r>
              <a:rPr sz="1600" b="0" dirty="0" err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收益</a:t>
            </a:r>
            <a:r>
              <a:rPr sz="1600" b="0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1143000"/>
            <a:ext cx="3511296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A3A6B"/>
                </a:solidFill>
                <a:latin typeface="Microsoft YaHei"/>
              </a:rPr>
              <a:t>存在问题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1645920"/>
            <a:ext cx="3319041" cy="36339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marL="285750" indent="-285750">
              <a:lnSpc>
                <a:spcPct val="112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600" b="0" dirty="0" err="1">
                <a:solidFill>
                  <a:srgbClr val="111827"/>
                </a:solidFill>
                <a:latin typeface="Microsoft YaHei"/>
              </a:rPr>
              <a:t>现有方法在固定随机集和四类泛化集上，尚未整体超过</a:t>
            </a:r>
            <a:r>
              <a:rPr sz="1600" b="0" dirty="0">
                <a:solidFill>
                  <a:srgbClr val="111827"/>
                </a:solidFill>
                <a:latin typeface="Microsoft YaHei"/>
              </a:rPr>
              <a:t> TIGER / </a:t>
            </a:r>
            <a:r>
              <a:rPr sz="1600" b="0" dirty="0" err="1">
                <a:solidFill>
                  <a:srgbClr val="111827"/>
                </a:solidFill>
                <a:latin typeface="Microsoft YaHei"/>
              </a:rPr>
              <a:t>GenPOI</a:t>
            </a:r>
            <a:r>
              <a:rPr sz="1600" b="0" dirty="0">
                <a:solidFill>
                  <a:srgbClr val="111827"/>
                </a:solidFill>
                <a:latin typeface="Microsoft YaHei"/>
              </a:rPr>
              <a:t>。</a:t>
            </a:r>
          </a:p>
          <a:p>
            <a:pPr marL="285750" indent="-285750">
              <a:lnSpc>
                <a:spcPct val="112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600" b="0" dirty="0" err="1">
                <a:solidFill>
                  <a:srgbClr val="111827"/>
                </a:solidFill>
                <a:latin typeface="Microsoft YaHei"/>
              </a:rPr>
              <a:t>连续向量召回、全库唯一率和</a:t>
            </a:r>
            <a:r>
              <a:rPr sz="1600" b="0" dirty="0">
                <a:solidFill>
                  <a:srgbClr val="111827"/>
                </a:solidFill>
                <a:latin typeface="Microsoft YaHei"/>
              </a:rPr>
              <a:t> Validation Loss </a:t>
            </a:r>
            <a:r>
              <a:rPr sz="1600" b="0" dirty="0" err="1">
                <a:solidFill>
                  <a:srgbClr val="111827"/>
                </a:solidFill>
                <a:latin typeface="Microsoft YaHei"/>
              </a:rPr>
              <a:t>均不能代表完整</a:t>
            </a:r>
            <a:r>
              <a:rPr sz="1600" b="0" dirty="0">
                <a:solidFill>
                  <a:srgbClr val="111827"/>
                </a:solidFill>
                <a:latin typeface="Microsoft YaHei"/>
              </a:rPr>
              <a:t> SID </a:t>
            </a:r>
            <a:r>
              <a:rPr sz="1600" b="0" dirty="0" err="1">
                <a:solidFill>
                  <a:srgbClr val="111827"/>
                </a:solidFill>
                <a:latin typeface="Microsoft YaHei"/>
              </a:rPr>
              <a:t>可生成性</a:t>
            </a:r>
            <a:r>
              <a:rPr sz="1600" b="0" dirty="0">
                <a:solidFill>
                  <a:srgbClr val="111827"/>
                </a:solidFill>
                <a:latin typeface="Microsoft YaHei"/>
              </a:rPr>
              <a:t>。</a:t>
            </a:r>
          </a:p>
          <a:p>
            <a:pPr marL="285750" indent="-285750">
              <a:lnSpc>
                <a:spcPct val="112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600" b="0" dirty="0" err="1">
                <a:solidFill>
                  <a:srgbClr val="111827"/>
                </a:solidFill>
                <a:latin typeface="Microsoft YaHei"/>
              </a:rPr>
              <a:t>前三层收益会被热点碰撞与无语义</a:t>
            </a:r>
            <a:r>
              <a:rPr sz="1600" b="0" dirty="0">
                <a:solidFill>
                  <a:srgbClr val="111827"/>
                </a:solidFill>
                <a:latin typeface="Microsoft YaHei"/>
              </a:rPr>
              <a:t> C </a:t>
            </a:r>
            <a:r>
              <a:rPr sz="1600" b="0" dirty="0" err="1">
                <a:solidFill>
                  <a:srgbClr val="111827"/>
                </a:solidFill>
                <a:latin typeface="Microsoft YaHei"/>
              </a:rPr>
              <a:t>抵消；变长关系后缀又增加闭合和误差传播</a:t>
            </a:r>
            <a:r>
              <a:rPr sz="1600" b="0" dirty="0">
                <a:solidFill>
                  <a:srgbClr val="111827"/>
                </a:solidFill>
                <a:latin typeface="Microsoft YaHei"/>
              </a:rPr>
              <a:t>。</a:t>
            </a:r>
          </a:p>
          <a:p>
            <a:pPr marL="285750" indent="-285750">
              <a:lnSpc>
                <a:spcPct val="112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600" b="0" dirty="0" err="1">
                <a:solidFill>
                  <a:srgbClr val="111827"/>
                </a:solidFill>
                <a:latin typeface="Microsoft YaHei"/>
              </a:rPr>
              <a:t>长尾与冷目标仍受</a:t>
            </a:r>
            <a:r>
              <a:rPr sz="1600" b="0" dirty="0">
                <a:solidFill>
                  <a:srgbClr val="111827"/>
                </a:solidFill>
                <a:latin typeface="Microsoft YaHei"/>
              </a:rPr>
              <a:t> Train </a:t>
            </a:r>
            <a:r>
              <a:rPr sz="1600" b="0" dirty="0" err="1">
                <a:solidFill>
                  <a:srgbClr val="111827"/>
                </a:solidFill>
                <a:latin typeface="Microsoft YaHei"/>
              </a:rPr>
              <a:t>覆盖限制，单纯修改码本无法解决监督不足</a:t>
            </a:r>
            <a:r>
              <a:rPr sz="1600" b="0" dirty="0">
                <a:solidFill>
                  <a:srgbClr val="111827"/>
                </a:solidFill>
                <a:latin typeface="Microsoft YaHei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80" y="1143000"/>
            <a:ext cx="3511296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A3A6B"/>
                </a:solidFill>
                <a:latin typeface="Microsoft YaHei"/>
              </a:rPr>
              <a:t>后续优化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1645920"/>
            <a:ext cx="3319041" cy="149829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marL="285750" indent="-285750">
              <a:lnSpc>
                <a:spcPct val="112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加强前三层 </a:t>
            </a:r>
            <a:r>
              <a:rPr lang="en" sz="1600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SID </a:t>
            </a:r>
            <a:r>
              <a:rPr lang="zh-CN" altLang="en-US" sz="1600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训练，优先提高正确语义桶进入 </a:t>
            </a:r>
            <a:r>
              <a:rPr lang="en" sz="1600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Beam Top-10 </a:t>
            </a:r>
            <a:r>
              <a:rPr lang="zh-CN" altLang="en-US" sz="1600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的概率。</a:t>
            </a:r>
            <a:endParaRPr lang="en-US" altLang="zh-CN" sz="1600" dirty="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lnSpc>
                <a:spcPct val="112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600" b="0" dirty="0" err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加入</a:t>
            </a:r>
            <a:r>
              <a:rPr lang="en-US" sz="1600" dirty="0" err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SID</a:t>
            </a:r>
            <a:r>
              <a:rPr lang="en-US" altLang="zh-CN" sz="1600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-POI</a:t>
            </a:r>
            <a:r>
              <a:rPr lang="zh-CN" altLang="en-US" sz="1600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训练任务，优化</a:t>
            </a:r>
            <a:r>
              <a:rPr lang="en-US" altLang="zh-CN" sz="1600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SFT</a:t>
            </a:r>
            <a:r>
              <a:rPr lang="zh-CN" altLang="en-US" sz="1600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训练。</a:t>
            </a:r>
            <a:endParaRPr lang="en-US" altLang="zh-CN" sz="1600" dirty="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TRkYTBlMGFkODI3ZDFhOWRjMTg5ZjcxNDZhYWMwYzQ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4897</TotalTime>
  <Words>2290</Words>
  <Application>Microsoft Macintosh PowerPoint</Application>
  <PresentationFormat>宽屏</PresentationFormat>
  <Paragraphs>1163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6" baseType="lpstr">
      <vt:lpstr>Microsoft YaHei</vt:lpstr>
      <vt:lpstr>Noto Sans CJK SC</vt:lpstr>
      <vt:lpstr>Arial</vt:lpstr>
      <vt:lpstr>Calibri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生成式 POI 检索项目方案与实验进展（汇报版）</dc:title>
  <dc:subject>内容讲解与实验指标混合排版</dc:subject>
  <dc:creator>POI Generative Retrieval</dc:creator>
  <dc:description>generated using python-pptx</dc:description>
  <cp:lastModifiedBy>didi</cp:lastModifiedBy>
  <cp:revision>331</cp:revision>
  <dcterms:created xsi:type="dcterms:W3CDTF">2013-01-27T09:14:00Z</dcterms:created>
  <dcterms:modified xsi:type="dcterms:W3CDTF">2026-08-24T06:02:05Z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DE24D9AFC49D4824B665D83DF2C9688F_13</vt:lpwstr>
  </property>
  <property fmtid="{D5CDD505-2E9C-101B-9397-08002B2CF9AE}" pid="3" name="KSOProductBuildVer">
    <vt:lpwstr>2052-12.1.0.17827</vt:lpwstr>
  </property>
</Properties>
</file>