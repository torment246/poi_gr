
<file path=[Content_Types].xml><?xml version="1.0" encoding="utf-8"?>
<Types xmlns="http://schemas.openxmlformats.org/package/2006/content-types">
  <Default Extension="p5kbEjYoh1hkOoUeUA6qk-QkJZosv0HF9AV4bB1fde4&amp;x-s3-process=image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CCFD"/>
    <a:srgbClr val="EBF4FF"/>
    <a:srgbClr val="2E7CF6"/>
    <a:srgbClr val="93C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6143"/>
  </p:normalViewPr>
  <p:slideViewPr>
    <p:cSldViewPr snapToGrid="0" snapToObjects="1" showGuides="1">
      <p:cViewPr>
        <p:scale>
          <a:sx n="109" d="100"/>
          <a:sy n="109" d="100"/>
        </p:scale>
        <p:origin x="872" y="464"/>
      </p:cViewPr>
      <p:guideLst>
        <p:guide orient="horz" pos="2226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092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330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094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47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73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440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446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CN" sz="1200" b="0" dirty="0">
              <a:latin typeface="微软雅黑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631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dirty="0">
              <a:latin typeface="微软雅黑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dirty="0">
              <a:latin typeface="微软雅黑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457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b="0" dirty="0">
              <a:effectLst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224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312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07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719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dirty="0">
              <a:solidFill>
                <a:srgbClr val="64748B"/>
              </a:solidFill>
              <a:latin typeface="微软雅黑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256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63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8015-DF84-41FA-9E94-BA51DE2E4658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3B06F-833C-4282-8B21-93F195BE9DCF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21281-1D44-441C-9DDE-B4936627E1FE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97AF-337D-4308-80A8-0E4FAAFEF77A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E11C-AF29-404B-84BD-C97916AD109A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B016-4D35-4FFA-AAB2-911F490527D3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8FBFD-206E-4DB4-97C7-5AD8A1A0F586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EDB8-0579-4265-A8F4-6EA70868C754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3B87-9435-4C0A-8A1E-F5BBFA32C3C5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2101-079D-4F99-B83B-6106A3082DC1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800F-0336-42AD-AB4C-E188E73DB4FB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结束页">
    <p:bg>
      <p:bgPr>
        <a:solidFill>
          <a:srgbClr val="0252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349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311" y="6615448"/>
            <a:ext cx="207699" cy="17656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46" y="6473952"/>
            <a:ext cx="11201983" cy="0"/>
          </a:xfrm>
          <a:prstGeom prst="line">
            <a:avLst/>
          </a:prstGeom>
          <a:noFill/>
          <a:ln w="9525">
            <a:solidFill>
              <a:srgbClr val="E6E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3145" y="6519672"/>
            <a:ext cx="201178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MobilityBench POI, N=109385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9207" y="6519672"/>
            <a:ext cx="800042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AA8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A3A6B"/>
              </a:gs>
              <a:gs pos="100000">
                <a:srgbClr val="2E7CF6"/>
              </a:gs>
            </a:gsLst>
            <a:lin ang="0" scaled="1"/>
          </a:gradFill>
          <a:ln>
            <a:noFill/>
          </a:ln>
        </p:spPr>
      </p:sp>
      <p:sp>
        <p:nvSpPr>
          <p:cNvPr id="8" name="Rectangle 4"/>
          <p:cNvSpPr/>
          <p:nvPr userDrawn="1"/>
        </p:nvSpPr>
        <p:spPr>
          <a:xfrm>
            <a:off x="0" y="0"/>
            <a:ext cx="57150" cy="762000"/>
          </a:xfrm>
          <a:prstGeom prst="rect">
            <a:avLst/>
          </a:prstGeom>
          <a:solidFill>
            <a:srgbClr val="00C2A8"/>
          </a:solidFill>
          <a:ln>
            <a:noFill/>
          </a:ln>
        </p:spPr>
      </p:sp>
      <p:sp>
        <p:nvSpPr>
          <p:cNvPr id="9" name="Rectangle 8"/>
          <p:cNvSpPr/>
          <p:nvPr userDrawn="1"/>
        </p:nvSpPr>
        <p:spPr>
          <a:xfrm>
            <a:off x="0" y="762000"/>
            <a:ext cx="12192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" y="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614C7-14EB-4084-AC4C-AAFA56794DEF}" type="datetime1">
              <a:rPr lang="en-US" altLang="zh-CN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 baseline="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5kbEjYoh1hkOoUeUA6qk-QkJZosv0HF9AV4bB1fde4&amp;x-s3-process=image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52278" y="2536050"/>
            <a:ext cx="2687444" cy="108337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3400" noProof="1">
                <a:solidFill>
                  <a:srgbClr val="111827"/>
                </a:solidFill>
                <a:latin typeface="微软雅黑"/>
                <a:ea typeface="微软雅黑"/>
              </a:rPr>
              <a:t>生成式检索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3400" noProof="1">
                <a:solidFill>
                  <a:srgbClr val="111827"/>
                </a:solidFill>
                <a:latin typeface="微软雅黑"/>
                <a:ea typeface="微软雅黑"/>
              </a:rPr>
              <a:t> 26.07.27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970D6-28A9-A204-E4BB-D202BFF2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FD03A1-0C34-BBC7-6F46-C7564D052C63}"/>
              </a:ext>
            </a:extLst>
          </p:cNvPr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900" b="1" noProof="1">
                <a:solidFill>
                  <a:srgbClr val="64748B"/>
                </a:solidFill>
                <a:latin typeface="微软雅黑"/>
                <a:ea typeface="微软雅黑"/>
              </a:rPr>
              <a:t>01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3D40482-CFE2-5E83-FB97-60A3BC4B9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523" y="838257"/>
            <a:ext cx="7923625" cy="592525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1C8971F-529B-E3A2-4F94-D275BEB33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altLang="en-US" sz="2800" b="1" noProof="1">
                <a:solidFill>
                  <a:srgbClr val="FFFFFF"/>
                </a:solidFill>
                <a:latin typeface="微软雅黑"/>
                <a:ea typeface="微软雅黑"/>
              </a:rPr>
              <a:t>生成式检索</a:t>
            </a:r>
            <a:endParaRPr lang="zh-CN" sz="2800" b="1" noProof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C87AB5-09A7-0312-82B3-7624705373AB}"/>
              </a:ext>
            </a:extLst>
          </p:cNvPr>
          <p:cNvSpPr txBox="1"/>
          <p:nvPr/>
        </p:nvSpPr>
        <p:spPr>
          <a:xfrm>
            <a:off x="287570" y="1019908"/>
            <a:ext cx="28714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OneSearch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框架包括四个部分：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关键字增强的层次量化编码，它采用对齐的表示和核心关键字来构建精细的层次量化表征模式；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多视角行为序列注入，利用序列推理用户画像和偏好；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融合生成特征进行生成式检索的统一编码器解码器架构；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偏好感知奖励制度，它包含一个多级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过程和一个自适应奖励制度，以增强模型的个性化排序能力。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1176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800" b="1" noProof="1">
                <a:solidFill>
                  <a:srgbClr val="FFFFFF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505107"/>
            <a:ext cx="621792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zh-CN" sz="900" b="1" noProof="1"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85004"/>
            <a:ext cx="438912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400" b="1" noProof="1">
                <a:latin typeface="微软雅黑"/>
                <a:ea typeface="微软雅黑"/>
              </a:rPr>
              <a:t>现有地图检索链路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45643"/>
            <a:ext cx="233172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600" noProof="1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" y="1550954"/>
            <a:ext cx="2148839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600" b="1" noProof="1">
                <a:latin typeface="微软雅黑"/>
                <a:ea typeface="微软雅黑"/>
              </a:rPr>
              <a:t>1 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12142"/>
            <a:ext cx="203911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600" b="0" noProof="1">
                <a:latin typeface="微软雅黑"/>
                <a:ea typeface="微软雅黑"/>
              </a:rPr>
              <a:t>用户输入</a:t>
            </a:r>
          </a:p>
        </p:txBody>
      </p:sp>
      <p:sp>
        <p:nvSpPr>
          <p:cNvPr id="10" name="Chevron 9"/>
          <p:cNvSpPr/>
          <p:nvPr/>
        </p:nvSpPr>
        <p:spPr>
          <a:xfrm>
            <a:off x="3163824" y="1729107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600" noProof="1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83863" y="1445643"/>
            <a:ext cx="233172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600" noProof="1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5303" y="1550954"/>
            <a:ext cx="2148839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600" b="1" noProof="1">
                <a:latin typeface="微软雅黑"/>
                <a:ea typeface="微软雅黑"/>
              </a:rPr>
              <a:t>2  多路召回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912142"/>
            <a:ext cx="203911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600" b="0" noProof="1">
                <a:latin typeface="微软雅黑"/>
                <a:ea typeface="微软雅黑"/>
              </a:rPr>
              <a:t>倒排 / 向量 / 热门</a:t>
            </a:r>
          </a:p>
        </p:txBody>
      </p:sp>
      <p:sp>
        <p:nvSpPr>
          <p:cNvPr id="14" name="Chevron 13"/>
          <p:cNvSpPr/>
          <p:nvPr/>
        </p:nvSpPr>
        <p:spPr>
          <a:xfrm>
            <a:off x="5934456" y="1729107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600" noProof="1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54496" y="1445643"/>
            <a:ext cx="233172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600" noProof="1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45936" y="1550954"/>
            <a:ext cx="2148839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600" b="1" noProof="1">
                <a:latin typeface="微软雅黑"/>
                <a:ea typeface="微软雅黑"/>
              </a:rPr>
              <a:t>3  MTL 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12142"/>
            <a:ext cx="203911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600" b="0" noProof="1">
                <a:latin typeface="微软雅黑"/>
                <a:ea typeface="微软雅黑"/>
              </a:rPr>
              <a:t>相关性与转化</a:t>
            </a:r>
          </a:p>
        </p:txBody>
      </p:sp>
      <p:sp>
        <p:nvSpPr>
          <p:cNvPr id="18" name="Chevron 17"/>
          <p:cNvSpPr/>
          <p:nvPr/>
        </p:nvSpPr>
        <p:spPr>
          <a:xfrm>
            <a:off x="8705088" y="1729107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600" noProof="1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25128" y="1445643"/>
            <a:ext cx="233172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600" noProof="1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16567" y="1550954"/>
            <a:ext cx="2148839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600" b="1" noProof="1">
                <a:latin typeface="微软雅黑"/>
                <a:ea typeface="微软雅黑"/>
              </a:rPr>
              <a:t>4  多样性与规则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912142"/>
            <a:ext cx="203911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600" b="0" noProof="1">
                <a:latin typeface="微软雅黑"/>
                <a:ea typeface="微软雅黑"/>
              </a:rPr>
              <a:t>业务约束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79542"/>
            <a:ext cx="438912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400" b="1" noProof="1">
                <a:latin typeface="微软雅黑"/>
                <a:ea typeface="微软雅黑"/>
              </a:rPr>
              <a:t>主要问题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134425"/>
            <a:ext cx="324612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000" b="1" noProof="1">
                <a:latin typeface="微软雅黑"/>
                <a:ea typeface="微软雅黑"/>
              </a:rPr>
              <a:t>复杂 Query 理解不足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681684"/>
            <a:ext cx="3246120" cy="1268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000" b="0" noProof="1">
                <a:latin typeface="微软雅黑"/>
                <a:ea typeface="微软雅黑"/>
              </a:rPr>
              <a:t>错别字、拼音混输、别名省略、地址差异和 Where-What 限定等表达，传统关键词链路难统一理解。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96512" y="3169620"/>
            <a:ext cx="10972" cy="19933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2000" noProof="1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15968" y="3134425"/>
            <a:ext cx="3401568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000" b="1" noProof="1">
                <a:latin typeface="微软雅黑"/>
                <a:ea typeface="微软雅黑"/>
              </a:rPr>
              <a:t>长尾 / 新 POI 欠召回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3681684"/>
            <a:ext cx="3401568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000" b="0" noProof="1">
                <a:latin typeface="微软雅黑"/>
                <a:ea typeface="微软雅黑"/>
              </a:rPr>
              <a:t>低频实体缺少历史行为和曝光；同名门店、入口、楼栋与数字门牌又要求实体级区分。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7848" y="3169620"/>
            <a:ext cx="10972" cy="19933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2000" noProof="1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56448" y="3134425"/>
            <a:ext cx="3364992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000" b="1" noProof="1">
                <a:latin typeface="微软雅黑"/>
                <a:ea typeface="微软雅黑"/>
              </a:rPr>
              <a:t>多阶段目标割裂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681684"/>
            <a:ext cx="3364992" cy="1268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000" b="0" noProof="1">
                <a:latin typeface="微软雅黑"/>
                <a:ea typeface="微软雅黑"/>
              </a:rPr>
              <a:t>召回追求覆盖、排序优化点击、规则补充约束，难整体建模 Query、用户位置与 POI 的复杂关系。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63072" cy="585216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5826109"/>
            <a:ext cx="1065276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2000" b="1" noProof="1">
                <a:latin typeface="微软雅黑"/>
                <a:ea typeface="微软雅黑"/>
              </a:rPr>
              <a:t>生成式检索定位：作为补充召回通道，理解 Query 与空间上下文，直接生成合法 POI 标识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 err="1">
                <a:solidFill>
                  <a:srgbClr val="FFFFFF"/>
                </a:solidFill>
                <a:latin typeface="微软雅黑"/>
                <a:ea typeface="微软雅黑"/>
              </a:rPr>
              <a:t>问题</a:t>
            </a:r>
            <a:r>
              <a:rPr lang="zh-CN" altLang="en-US" sz="2800" b="1" dirty="0">
                <a:solidFill>
                  <a:srgbClr val="FFFFFF"/>
                </a:solidFill>
                <a:latin typeface="微软雅黑"/>
                <a:ea typeface="微软雅黑"/>
              </a:rPr>
              <a:t>定位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C4854E7F-ADE6-AA38-47ED-EB01A69F50D4}"/>
              </a:ext>
            </a:extLst>
          </p:cNvPr>
          <p:cNvSpPr txBox="1"/>
          <p:nvPr/>
        </p:nvSpPr>
        <p:spPr>
          <a:xfrm>
            <a:off x="566928" y="919532"/>
            <a:ext cx="3012613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dirty="0">
                <a:latin typeface="微软雅黑"/>
                <a:ea typeface="微软雅黑"/>
              </a:rPr>
              <a:t>“</a:t>
            </a:r>
            <a:r>
              <a:rPr sz="2400" b="1" dirty="0" err="1">
                <a:latin typeface="微软雅黑"/>
                <a:ea typeface="微软雅黑"/>
              </a:rPr>
              <a:t>搜不到”问题分类</a:t>
            </a:r>
            <a:endParaRPr sz="2400" b="1" dirty="0">
              <a:latin typeface="微软雅黑"/>
              <a:ea typeface="微软雅黑"/>
            </a:endParaRP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2C7AC85A-5291-555C-8CE6-1ACF77169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37370"/>
              </p:ext>
            </p:extLst>
          </p:nvPr>
        </p:nvGraphicFramePr>
        <p:xfrm>
          <a:off x="566928" y="1585763"/>
          <a:ext cx="11045951" cy="1919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7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855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典型原因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现有解决方案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数据问题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数据缺失、错误、不规范、状态或标签缺失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依赖数据治理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策略问题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纠错、分词、省略、别名、限定词、向量欠召回</a:t>
                      </a:r>
                      <a:endParaRPr sz="1600" b="1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用户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意图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基本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明确，但现有链路未找回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，对应优化链路</a:t>
                      </a:r>
                      <a:endParaRPr sz="1600" b="1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其他问题</a:t>
                      </a:r>
                      <a:endParaRPr sz="1600" b="1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意图不明确、换意图、无法复现、非出行意图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需意图识别与交互，不由单一召回模型解决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5" name="图片 34">
            <a:extLst>
              <a:ext uri="{FF2B5EF4-FFF2-40B4-BE49-F238E27FC236}">
                <a16:creationId xmlns:a16="http://schemas.microsoft.com/office/drawing/2014/main" id="{1540F72B-627E-1C17-A4F5-F47C8FED7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13" y="3870182"/>
            <a:ext cx="6053256" cy="2068286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EA24B7B9-6FA7-3D68-59E0-79E658C70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023" y="3465014"/>
            <a:ext cx="3937498" cy="29895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 err="1">
                <a:solidFill>
                  <a:srgbClr val="FFFFFF"/>
                </a:solidFill>
                <a:latin typeface="微软雅黑"/>
                <a:ea typeface="微软雅黑"/>
              </a:rPr>
              <a:t>项目目标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701841"/>
            <a:ext cx="10881360" cy="694944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" y="5867814"/>
            <a:ext cx="10405872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dirty="0" err="1">
                <a:latin typeface="微软雅黑"/>
                <a:ea typeface="微软雅黑"/>
              </a:rPr>
              <a:t>后续扩展：限定词搜索、泛搜、多</a:t>
            </a:r>
            <a:r>
              <a:rPr sz="2000" b="1" dirty="0">
                <a:latin typeface="微软雅黑"/>
                <a:ea typeface="微软雅黑"/>
              </a:rPr>
              <a:t> POI </a:t>
            </a:r>
            <a:r>
              <a:rPr sz="2000" b="1" dirty="0" err="1">
                <a:latin typeface="微软雅黑"/>
                <a:ea typeface="微软雅黑"/>
              </a:rPr>
              <a:t>候选、多城市、用户历史与</a:t>
            </a:r>
            <a:r>
              <a:rPr sz="2000" b="1" dirty="0">
                <a:latin typeface="微软雅黑"/>
                <a:ea typeface="微软雅黑"/>
              </a:rPr>
              <a:t> Session </a:t>
            </a:r>
            <a:r>
              <a:rPr sz="2000" b="1" dirty="0" err="1">
                <a:latin typeface="微软雅黑"/>
                <a:ea typeface="微软雅黑"/>
              </a:rPr>
              <a:t>上下文</a:t>
            </a:r>
            <a:endParaRPr sz="2000" b="1" dirty="0">
              <a:latin typeface="微软雅黑"/>
              <a:ea typeface="微软雅黑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F6B6DA60-4DAE-41F7-6848-4532A535CEC3}"/>
              </a:ext>
            </a:extLst>
          </p:cNvPr>
          <p:cNvSpPr txBox="1"/>
          <p:nvPr/>
        </p:nvSpPr>
        <p:spPr>
          <a:xfrm>
            <a:off x="658368" y="1016562"/>
            <a:ext cx="438912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dirty="0">
                <a:latin typeface="微软雅黑"/>
                <a:ea typeface="微软雅黑"/>
              </a:rPr>
              <a:t>POI </a:t>
            </a:r>
            <a:r>
              <a:rPr sz="2000" b="1" dirty="0" err="1">
                <a:latin typeface="微软雅黑"/>
                <a:ea typeface="微软雅黑"/>
              </a:rPr>
              <a:t>检索与其他场景的差异</a:t>
            </a:r>
            <a:endParaRPr sz="2000" b="1" dirty="0">
              <a:latin typeface="微软雅黑"/>
              <a:ea typeface="微软雅黑"/>
            </a:endParaRPr>
          </a:p>
        </p:txBody>
      </p:sp>
      <p:graphicFrame>
        <p:nvGraphicFramePr>
          <p:cNvPr id="31" name="Table 9">
            <a:extLst>
              <a:ext uri="{FF2B5EF4-FFF2-40B4-BE49-F238E27FC236}">
                <a16:creationId xmlns:a16="http://schemas.microsoft.com/office/drawing/2014/main" id="{8F53CE3C-ECF8-8286-9222-E6B18E295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94529"/>
              </p:ext>
            </p:extLst>
          </p:nvPr>
        </p:nvGraphicFramePr>
        <p:xfrm>
          <a:off x="658368" y="1532725"/>
          <a:ext cx="9623056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2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3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视频推荐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电商搜索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地址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 / POI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空间约束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弱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较弱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强地理约束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文本形态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相对稳定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口语、前缀、错拼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别名、地址、门牌、前缀、错拼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实时性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秒级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毫秒级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毫秒级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错误代价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较低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较低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较高，可能导致导航错误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5D70E4C0-B45C-3757-0233-2E733FF6320A}"/>
              </a:ext>
            </a:extLst>
          </p:cNvPr>
          <p:cNvSpPr txBox="1"/>
          <p:nvPr/>
        </p:nvSpPr>
        <p:spPr>
          <a:xfrm>
            <a:off x="896112" y="3668388"/>
            <a:ext cx="8834406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目标场景：目标明确的单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难例搜索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重点问题：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纠错、拼音混输、别名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省略、数字地址、语义差异、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Where-What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限定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模型输入：</a:t>
            </a:r>
            <a:r>
              <a:rPr lang="zh-CN" altLang="en-US" dirty="0">
                <a:latin typeface="微软雅黑"/>
                <a:ea typeface="微软雅黑"/>
              </a:rPr>
              <a:t>原始 </a:t>
            </a:r>
            <a:r>
              <a:rPr lang="en" altLang="zh-CN" dirty="0">
                <a:latin typeface="微软雅黑"/>
                <a:ea typeface="微软雅黑"/>
              </a:rPr>
              <a:t>Query + </a:t>
            </a:r>
            <a:r>
              <a:rPr lang="zh-CN" altLang="en-US" dirty="0">
                <a:latin typeface="微软雅黑"/>
                <a:ea typeface="微软雅黑"/>
              </a:rPr>
              <a:t>用户位置上下文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模型输出：</a:t>
            </a:r>
            <a:r>
              <a:rPr lang="en" altLang="zh-CN" dirty="0">
                <a:latin typeface="微软雅黑"/>
                <a:ea typeface="微软雅黑"/>
              </a:rPr>
              <a:t>Top-K </a:t>
            </a:r>
            <a:r>
              <a:rPr lang="zh-CN" altLang="en-US" dirty="0">
                <a:latin typeface="微软雅黑"/>
                <a:ea typeface="微软雅黑"/>
              </a:rPr>
              <a:t>合法 </a:t>
            </a:r>
            <a:r>
              <a:rPr lang="en" altLang="zh-CN" dirty="0">
                <a:latin typeface="微软雅黑"/>
                <a:ea typeface="微软雅黑"/>
              </a:rPr>
              <a:t>PID</a:t>
            </a:r>
            <a:r>
              <a:rPr lang="zh-CN" altLang="en" dirty="0">
                <a:latin typeface="微软雅黑"/>
                <a:ea typeface="微软雅黑"/>
              </a:rPr>
              <a:t>，</a:t>
            </a:r>
            <a:r>
              <a:rPr lang="zh-CN" altLang="en-US" dirty="0">
                <a:latin typeface="微软雅黑"/>
                <a:ea typeface="微软雅黑"/>
              </a:rPr>
              <a:t>并映射为 </a:t>
            </a:r>
            <a:r>
              <a:rPr lang="en" altLang="zh-CN" dirty="0">
                <a:latin typeface="微软雅黑"/>
                <a:ea typeface="微软雅黑"/>
              </a:rPr>
              <a:t>POI </a:t>
            </a:r>
            <a:r>
              <a:rPr lang="zh-CN" altLang="en-US" dirty="0">
                <a:latin typeface="微软雅黑"/>
                <a:ea typeface="微软雅黑"/>
              </a:rPr>
              <a:t>候选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微软雅黑"/>
                <a:ea typeface="微软雅黑"/>
              </a:rPr>
              <a:t>初步</a:t>
            </a:r>
            <a:r>
              <a:rPr sz="2800" b="1" dirty="0" err="1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7494"/>
            <a:ext cx="438912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dirty="0">
                <a:latin typeface="微软雅黑"/>
                <a:ea typeface="微软雅黑"/>
              </a:rPr>
              <a:t>POI </a:t>
            </a:r>
            <a:r>
              <a:rPr sz="2000" b="1" dirty="0" err="1">
                <a:latin typeface="微软雅黑"/>
                <a:ea typeface="微软雅黑"/>
              </a:rPr>
              <a:t>离线编码</a:t>
            </a:r>
            <a:endParaRPr sz="2000" b="1" dirty="0"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1458623"/>
            <a:ext cx="173736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dirty="0">
                <a:latin typeface="微软雅黑"/>
                <a:ea typeface="微软雅黑"/>
              </a:rPr>
              <a:t>1  POI </a:t>
            </a:r>
            <a:r>
              <a:rPr sz="1600" b="1" dirty="0" err="1">
                <a:latin typeface="微软雅黑"/>
                <a:ea typeface="微软雅黑"/>
              </a:rPr>
              <a:t>文本</a:t>
            </a:r>
            <a:endParaRPr sz="1600" b="1" dirty="0"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4973" y="1865530"/>
            <a:ext cx="1700784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dirty="0" err="1">
                <a:latin typeface="微软雅黑"/>
                <a:ea typeface="微软雅黑"/>
              </a:rPr>
              <a:t>名称</a:t>
            </a:r>
            <a:r>
              <a:rPr sz="1600" b="0" dirty="0">
                <a:latin typeface="微软雅黑"/>
                <a:ea typeface="微软雅黑"/>
              </a:rPr>
              <a:t> / </a:t>
            </a:r>
            <a:r>
              <a:rPr sz="1600" b="0" dirty="0" err="1">
                <a:latin typeface="微软雅黑"/>
                <a:ea typeface="微软雅黑"/>
              </a:rPr>
              <a:t>地址</a:t>
            </a:r>
            <a:r>
              <a:rPr sz="1600" b="0" dirty="0">
                <a:latin typeface="微软雅黑"/>
                <a:ea typeface="微软雅黑"/>
              </a:rPr>
              <a:t> / </a:t>
            </a:r>
            <a:r>
              <a:rPr sz="1600" b="0" dirty="0" err="1">
                <a:latin typeface="微软雅黑"/>
                <a:ea typeface="微软雅黑"/>
              </a:rPr>
              <a:t>别名</a:t>
            </a:r>
            <a:endParaRPr sz="1600" b="0" dirty="0">
              <a:latin typeface="微软雅黑"/>
              <a:ea typeface="微软雅黑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651760" y="1682496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71215" y="1353312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62656" y="1458623"/>
            <a:ext cx="173736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2  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865531"/>
            <a:ext cx="162763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latin typeface="微软雅黑"/>
                <a:ea typeface="微软雅黑"/>
              </a:rPr>
              <a:t>连续语义向量</a:t>
            </a:r>
          </a:p>
        </p:txBody>
      </p:sp>
      <p:sp>
        <p:nvSpPr>
          <p:cNvPr id="14" name="Chevron 13"/>
          <p:cNvSpPr/>
          <p:nvPr/>
        </p:nvSpPr>
        <p:spPr>
          <a:xfrm>
            <a:off x="4864608" y="1682496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84064" y="1353312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75503" y="1458623"/>
            <a:ext cx="173736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3  RQ-VAE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742419"/>
            <a:ext cx="1627632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latin typeface="微软雅黑"/>
                <a:ea typeface="微软雅黑"/>
              </a:rPr>
              <a:t>三层 Semantic SID</a:t>
            </a:r>
          </a:p>
        </p:txBody>
      </p:sp>
      <p:sp>
        <p:nvSpPr>
          <p:cNvPr id="18" name="Chevron 17"/>
          <p:cNvSpPr/>
          <p:nvPr/>
        </p:nvSpPr>
        <p:spPr>
          <a:xfrm>
            <a:off x="7077456" y="1682496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296912" y="1353312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88352" y="1458623"/>
            <a:ext cx="173736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4  Geohash6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5" y="1865531"/>
            <a:ext cx="162763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latin typeface="微软雅黑"/>
                <a:ea typeface="微软雅黑"/>
              </a:rPr>
              <a:t>空间 GID</a:t>
            </a:r>
          </a:p>
        </p:txBody>
      </p:sp>
      <p:sp>
        <p:nvSpPr>
          <p:cNvPr id="22" name="Chevron 21"/>
          <p:cNvSpPr/>
          <p:nvPr/>
        </p:nvSpPr>
        <p:spPr>
          <a:xfrm>
            <a:off x="9290304" y="1682496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509759" y="1353312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199" y="1458623"/>
            <a:ext cx="173736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5  Dedup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6063" y="1865531"/>
            <a:ext cx="162763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dirty="0" err="1">
                <a:latin typeface="微软雅黑"/>
                <a:ea typeface="微软雅黑"/>
              </a:rPr>
              <a:t>唯一</a:t>
            </a:r>
            <a:r>
              <a:rPr sz="1600" b="0" dirty="0">
                <a:latin typeface="微软雅黑"/>
                <a:ea typeface="微软雅黑"/>
              </a:rPr>
              <a:t> Fin</a:t>
            </a:r>
            <a:r>
              <a:rPr lang="en" sz="1600" b="0" dirty="0">
                <a:latin typeface="微软雅黑"/>
                <a:ea typeface="微软雅黑"/>
              </a:rPr>
              <a:t>al</a:t>
            </a:r>
            <a:r>
              <a:rPr lang="zh-CN" altLang="en-US" sz="1600" b="0" dirty="0">
                <a:latin typeface="微软雅黑"/>
                <a:ea typeface="微软雅黑"/>
              </a:rPr>
              <a:t> </a:t>
            </a:r>
            <a:r>
              <a:rPr sz="1600" b="0" dirty="0">
                <a:latin typeface="微软雅黑"/>
                <a:ea typeface="微软雅黑"/>
              </a:rPr>
              <a:t>PID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732090"/>
            <a:ext cx="438912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dirty="0">
                <a:latin typeface="微软雅黑"/>
                <a:ea typeface="微软雅黑"/>
              </a:rPr>
              <a:t>Query</a:t>
            </a:r>
            <a:r>
              <a:rPr lang="en-US" altLang="zh-CN" sz="2000" b="1" dirty="0">
                <a:latin typeface="微软雅黑"/>
                <a:ea typeface="微软雅黑"/>
              </a:rPr>
              <a:t>-POI</a:t>
            </a:r>
            <a:r>
              <a:rPr lang="zh-CN" altLang="en-US" sz="2000" b="1" dirty="0">
                <a:latin typeface="微软雅黑"/>
                <a:ea typeface="微软雅黑"/>
              </a:rPr>
              <a:t> </a:t>
            </a:r>
            <a:r>
              <a:rPr sz="2000" b="1" dirty="0" err="1">
                <a:latin typeface="微软雅黑"/>
                <a:ea typeface="微软雅黑"/>
              </a:rPr>
              <a:t>生成</a:t>
            </a:r>
            <a:endParaRPr sz="2000" b="1" dirty="0"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8368" y="3187908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9808" y="3170107"/>
            <a:ext cx="173736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1  Query + 用户 GID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700127"/>
            <a:ext cx="162763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latin typeface="微软雅黑"/>
                <a:ea typeface="微软雅黑"/>
              </a:rPr>
              <a:t>原始输入</a:t>
            </a:r>
          </a:p>
        </p:txBody>
      </p:sp>
      <p:sp>
        <p:nvSpPr>
          <p:cNvPr id="31" name="Chevron 30"/>
          <p:cNvSpPr/>
          <p:nvPr/>
        </p:nvSpPr>
        <p:spPr>
          <a:xfrm>
            <a:off x="2651760" y="3517092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871215" y="3187908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62656" y="3170107"/>
            <a:ext cx="173736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2  Qwen3-0.6B SFT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700127"/>
            <a:ext cx="162763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latin typeface="微软雅黑"/>
                <a:ea typeface="微软雅黑"/>
              </a:rPr>
              <a:t>预测目标 PID</a:t>
            </a:r>
          </a:p>
        </p:txBody>
      </p:sp>
      <p:sp>
        <p:nvSpPr>
          <p:cNvPr id="35" name="Chevron 34"/>
          <p:cNvSpPr/>
          <p:nvPr/>
        </p:nvSpPr>
        <p:spPr>
          <a:xfrm>
            <a:off x="4864608" y="3517092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084064" y="3187908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75503" y="3170107"/>
            <a:ext cx="173736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3  Trie Beam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368" y="3700127"/>
            <a:ext cx="162763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latin typeface="微软雅黑"/>
                <a:ea typeface="微软雅黑"/>
              </a:rPr>
              <a:t>限制合法前缀</a:t>
            </a:r>
          </a:p>
        </p:txBody>
      </p:sp>
      <p:sp>
        <p:nvSpPr>
          <p:cNvPr id="39" name="Chevron 38"/>
          <p:cNvSpPr/>
          <p:nvPr/>
        </p:nvSpPr>
        <p:spPr>
          <a:xfrm>
            <a:off x="7077456" y="3517092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96912" y="3187908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88352" y="3170107"/>
            <a:ext cx="173736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4  Top-K Final PID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3215" y="3700127"/>
            <a:ext cx="162763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latin typeface="微软雅黑"/>
                <a:ea typeface="微软雅黑"/>
              </a:rPr>
              <a:t>全部合法</a:t>
            </a:r>
          </a:p>
        </p:txBody>
      </p:sp>
      <p:sp>
        <p:nvSpPr>
          <p:cNvPr id="43" name="Chevron 42"/>
          <p:cNvSpPr/>
          <p:nvPr/>
        </p:nvSpPr>
        <p:spPr>
          <a:xfrm>
            <a:off x="9290304" y="3517092"/>
            <a:ext cx="219456" cy="27432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509759" y="3187908"/>
            <a:ext cx="19202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01199" y="3293218"/>
            <a:ext cx="173736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5  PID → POI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56063" y="3700126"/>
            <a:ext cx="162763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altLang="en-US" sz="1600" dirty="0">
                <a:latin typeface="微软雅黑"/>
                <a:ea typeface="微软雅黑"/>
              </a:rPr>
              <a:t>对应 </a:t>
            </a:r>
            <a:r>
              <a:rPr lang="en-US" altLang="zh-CN" sz="1600" dirty="0">
                <a:latin typeface="微软雅黑"/>
                <a:ea typeface="微软雅黑"/>
              </a:rPr>
              <a:t>POI</a:t>
            </a:r>
            <a:r>
              <a:rPr lang="zh-CN" altLang="en-US" sz="1600" dirty="0">
                <a:latin typeface="微软雅黑"/>
                <a:ea typeface="微软雅黑"/>
              </a:rPr>
              <a:t> </a:t>
            </a:r>
            <a:r>
              <a:rPr sz="1600" b="0" dirty="0" err="1">
                <a:latin typeface="微软雅黑"/>
                <a:ea typeface="微软雅黑"/>
              </a:rPr>
              <a:t>召回</a:t>
            </a:r>
            <a:endParaRPr sz="1600" b="0" dirty="0">
              <a:latin typeface="微软雅黑"/>
              <a:ea typeface="微软雅黑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58368" y="4878882"/>
            <a:ext cx="10881360" cy="106070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9536" y="5020769"/>
            <a:ext cx="196596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Final PID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8608" y="5011625"/>
            <a:ext cx="866851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dirty="0">
                <a:latin typeface="微软雅黑"/>
                <a:ea typeface="微软雅黑"/>
              </a:rPr>
              <a:t>&lt;G1&gt;…&lt;G6&gt;&lt;S1&gt;&lt;S2&gt;&lt;S3&gt;[&lt;D&gt;]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5468825"/>
            <a:ext cx="196596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latin typeface="微软雅黑"/>
                <a:ea typeface="微软雅黑"/>
              </a:rPr>
              <a:t>SFT 输入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5505400"/>
            <a:ext cx="866851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latin typeface="微软雅黑"/>
                <a:ea typeface="微软雅黑"/>
              </a:rPr>
              <a:t>&lt;QUERY&gt;</a:t>
            </a:r>
            <a:r>
              <a:rPr sz="1600" b="0" dirty="0" err="1">
                <a:latin typeface="微软雅黑"/>
                <a:ea typeface="微软雅黑"/>
              </a:rPr>
              <a:t>原始</a:t>
            </a:r>
            <a:r>
              <a:rPr sz="1600" b="0" dirty="0">
                <a:latin typeface="微软雅黑"/>
                <a:ea typeface="微软雅黑"/>
              </a:rPr>
              <a:t> query&lt;/QUERY&gt; + &lt;USER_GID&gt;&lt;G_x1&gt;…&lt;G_x6&gt;&lt;/USER_GID&gt;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 err="1">
                <a:solidFill>
                  <a:srgbClr val="FFFFFF"/>
                </a:solidFill>
                <a:latin typeface="微软雅黑"/>
                <a:ea typeface="微软雅黑"/>
              </a:rPr>
              <a:t>评测方案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C2DFD27E-7C76-48F0-988C-9A7BE14358B4}"/>
              </a:ext>
            </a:extLst>
          </p:cNvPr>
          <p:cNvSpPr txBox="1"/>
          <p:nvPr/>
        </p:nvSpPr>
        <p:spPr>
          <a:xfrm>
            <a:off x="566927" y="1081668"/>
            <a:ext cx="525780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dirty="0" err="1">
                <a:latin typeface="微软雅黑"/>
                <a:ea typeface="微软雅黑"/>
              </a:rPr>
              <a:t>评测指标</a:t>
            </a:r>
            <a:endParaRPr sz="2400" b="1" dirty="0">
              <a:latin typeface="微软雅黑"/>
              <a:ea typeface="微软雅黑"/>
            </a:endParaRPr>
          </a:p>
        </p:txBody>
      </p:sp>
      <p:graphicFrame>
        <p:nvGraphicFramePr>
          <p:cNvPr id="42" name="Table 6">
            <a:extLst>
              <a:ext uri="{FF2B5EF4-FFF2-40B4-BE49-F238E27FC236}">
                <a16:creationId xmlns:a16="http://schemas.microsoft.com/office/drawing/2014/main" id="{8A1AF655-FC66-DFC8-0390-EE9ADB7EA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925025"/>
              </p:ext>
            </p:extLst>
          </p:nvPr>
        </p:nvGraphicFramePr>
        <p:xfrm>
          <a:off x="566927" y="1819656"/>
          <a:ext cx="10550839" cy="3956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5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4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4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  <a:endParaRPr sz="18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  <a:endParaRPr sz="18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  <a:endParaRPr sz="18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4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编码层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重构余弦、码本利用率、唯一率、碰撞率</a:t>
                      </a:r>
                      <a:endParaRPr sz="18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评价 SID 质量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4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生成层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合法</a:t>
                      </a:r>
                      <a:r>
                        <a:rPr sz="1800" b="0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 PID </a:t>
                      </a:r>
                      <a:r>
                        <a:rPr sz="18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生成率</a:t>
                      </a:r>
                      <a:endParaRPr sz="18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评价约束解码稳定性</a:t>
                      </a:r>
                      <a:endParaRPr sz="18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4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SID / POI 层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HR@K、NDCG@K、MRR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评价目标编码与目标实体命中</a:t>
                      </a:r>
                      <a:endParaRPr sz="18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4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专项场景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别名、纠错、省略、数字地址、长尾 / 新 POI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评价困难样本能力</a:t>
                      </a:r>
                      <a:endParaRPr sz="18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4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业务层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no-result Query </a:t>
                      </a:r>
                      <a:r>
                        <a:rPr sz="18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命中率</a:t>
                      </a:r>
                      <a:endParaRPr sz="18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800" b="0" dirty="0" err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评价相对传统召回的增量</a:t>
                      </a:r>
                      <a:endParaRPr sz="1800" b="0" dirty="0">
                        <a:solidFill>
                          <a:srgbClr val="111827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 err="1">
                <a:solidFill>
                  <a:srgbClr val="FFFFFF"/>
                </a:solidFill>
                <a:latin typeface="微软雅黑"/>
                <a:ea typeface="微软雅黑"/>
              </a:rPr>
              <a:t>数据集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505107"/>
            <a:ext cx="621792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latin typeface="微软雅黑"/>
                <a:ea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968091"/>
            <a:ext cx="2162891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dirty="0">
                <a:latin typeface="微软雅黑"/>
                <a:ea typeface="微软雅黑"/>
              </a:rPr>
              <a:t>POI </a:t>
            </a:r>
            <a:r>
              <a:rPr sz="2000" b="1" dirty="0" err="1">
                <a:latin typeface="微软雅黑"/>
                <a:ea typeface="微软雅黑"/>
              </a:rPr>
              <a:t>数据</a:t>
            </a:r>
            <a:r>
              <a:rPr lang="zh-CN" altLang="en-US" sz="2000" b="1" dirty="0">
                <a:latin typeface="微软雅黑"/>
                <a:ea typeface="微软雅黑"/>
              </a:rPr>
              <a:t>（北京市）</a:t>
            </a:r>
            <a:endParaRPr sz="2000" b="1" dirty="0"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465427"/>
            <a:ext cx="521208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r>
              <a:rPr lang="zh-CN" altLang="en-US" sz="1600" b="1" dirty="0">
                <a:latin typeface="微软雅黑"/>
                <a:ea typeface="微软雅黑"/>
              </a:rPr>
              <a:t>固定分区 </a:t>
            </a:r>
            <a:r>
              <a:rPr lang="en-US" altLang="zh-CN" sz="1600" b="1" dirty="0">
                <a:latin typeface="微软雅黑"/>
                <a:ea typeface="微软雅黑"/>
              </a:rPr>
              <a:t>2026-07-15</a:t>
            </a:r>
            <a:r>
              <a:rPr lang="zh-CN" altLang="en-US" sz="1600" b="1" dirty="0">
                <a:latin typeface="微软雅黑"/>
                <a:ea typeface="微软雅黑"/>
              </a:rPr>
              <a:t>，数据量 </a:t>
            </a:r>
            <a:r>
              <a:rPr sz="1600" b="1" dirty="0">
                <a:latin typeface="微软雅黑"/>
                <a:ea typeface="微软雅黑"/>
              </a:rPr>
              <a:t>2,337,178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99041"/>
            <a:ext cx="4419605" cy="104028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latin typeface="微软雅黑"/>
                <a:ea typeface="微软雅黑"/>
              </a:rPr>
              <a:t>• </a:t>
            </a:r>
            <a:r>
              <a:rPr sz="1600" b="0" dirty="0" err="1">
                <a:latin typeface="微软雅黑"/>
                <a:ea typeface="微软雅黑"/>
              </a:rPr>
              <a:t>文本：displayname</a:t>
            </a:r>
            <a:r>
              <a:rPr sz="1600" b="0" dirty="0">
                <a:latin typeface="微软雅黑"/>
                <a:ea typeface="微软雅黑"/>
              </a:rPr>
              <a:t> / address / alias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latin typeface="微软雅黑"/>
                <a:ea typeface="微软雅黑"/>
              </a:rPr>
              <a:t>• </a:t>
            </a:r>
            <a:r>
              <a:rPr sz="1600" b="0" dirty="0" err="1">
                <a:latin typeface="微软雅黑"/>
                <a:ea typeface="微软雅黑"/>
              </a:rPr>
              <a:t>空间：lng</a:t>
            </a:r>
            <a:r>
              <a:rPr sz="1600" b="0" dirty="0">
                <a:latin typeface="微软雅黑"/>
                <a:ea typeface="微软雅黑"/>
              </a:rPr>
              <a:t> / </a:t>
            </a:r>
            <a:r>
              <a:rPr sz="1600" b="0" dirty="0" err="1">
                <a:latin typeface="微软雅黑"/>
                <a:ea typeface="微软雅黑"/>
              </a:rPr>
              <a:t>lat</a:t>
            </a:r>
            <a:r>
              <a:rPr sz="1600" b="0" dirty="0">
                <a:latin typeface="微软雅黑"/>
                <a:ea typeface="微软雅黑"/>
              </a:rPr>
              <a:t> → Geohash6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latin typeface="微软雅黑"/>
                <a:ea typeface="微软雅黑"/>
              </a:rPr>
              <a:t>• </a:t>
            </a:r>
            <a:r>
              <a:rPr sz="1600" b="0" dirty="0" err="1">
                <a:latin typeface="微软雅黑"/>
                <a:ea typeface="微软雅黑"/>
              </a:rPr>
              <a:t>分析：category</a:t>
            </a:r>
            <a:r>
              <a:rPr sz="1600" b="0" dirty="0">
                <a:latin typeface="微软雅黑"/>
                <a:ea typeface="微软雅黑"/>
              </a:rPr>
              <a:t> / layer / </a:t>
            </a:r>
            <a:r>
              <a:rPr sz="1600" b="0" dirty="0" err="1">
                <a:latin typeface="微软雅黑"/>
                <a:ea typeface="微软雅黑"/>
              </a:rPr>
              <a:t>click_score</a:t>
            </a:r>
            <a:endParaRPr sz="1600" b="0" dirty="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latin typeface="微软雅黑"/>
                <a:ea typeface="微软雅黑"/>
              </a:rPr>
              <a:t>• </a:t>
            </a:r>
            <a:r>
              <a:rPr sz="1600" b="0" dirty="0" err="1">
                <a:latin typeface="微软雅黑"/>
                <a:ea typeface="微软雅黑"/>
              </a:rPr>
              <a:t>处理：名称</a:t>
            </a:r>
            <a:r>
              <a:rPr sz="1600" b="0" dirty="0">
                <a:latin typeface="微软雅黑"/>
                <a:ea typeface="微软雅黑"/>
              </a:rPr>
              <a:t>—</a:t>
            </a:r>
            <a:r>
              <a:rPr sz="1600" b="0" dirty="0" err="1">
                <a:latin typeface="微软雅黑"/>
                <a:ea typeface="微软雅黑"/>
              </a:rPr>
              <a:t>地址</a:t>
            </a:r>
            <a:r>
              <a:rPr sz="1600" b="0" dirty="0">
                <a:latin typeface="微软雅黑"/>
                <a:ea typeface="微软雅黑"/>
              </a:rPr>
              <a:t>—</a:t>
            </a:r>
            <a:r>
              <a:rPr sz="1600" b="0" dirty="0" err="1">
                <a:latin typeface="微软雅黑"/>
                <a:ea typeface="微软雅黑"/>
              </a:rPr>
              <a:t>别名固定模板</a:t>
            </a:r>
            <a:endParaRPr sz="1600" b="0" dirty="0"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91072" y="968091"/>
            <a:ext cx="2038889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altLang="en-US" sz="2000" b="1" dirty="0">
                <a:latin typeface="微软雅黑"/>
                <a:ea typeface="微软雅黑"/>
              </a:rPr>
              <a:t>用户</a:t>
            </a:r>
            <a:r>
              <a:rPr sz="2000" b="1" dirty="0" err="1">
                <a:latin typeface="微软雅黑"/>
                <a:ea typeface="微软雅黑"/>
              </a:rPr>
              <a:t>检索</a:t>
            </a:r>
            <a:r>
              <a:rPr lang="zh-CN" altLang="en-US" sz="2000" b="1" dirty="0">
                <a:latin typeface="微软雅黑"/>
                <a:ea typeface="微软雅黑"/>
              </a:rPr>
              <a:t>后发单</a:t>
            </a:r>
            <a:endParaRPr sz="2000" b="1" dirty="0"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91072" y="1465427"/>
            <a:ext cx="523036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r>
              <a:rPr lang="zh-CN" altLang="en-US" sz="1600" b="1" dirty="0">
                <a:latin typeface="微软雅黑"/>
                <a:ea typeface="微软雅黑"/>
              </a:rPr>
              <a:t>两周 </a:t>
            </a:r>
            <a:r>
              <a:rPr lang="en-US" altLang="zh-CN" sz="1600" b="1" dirty="0">
                <a:latin typeface="微软雅黑"/>
                <a:ea typeface="微软雅黑"/>
              </a:rPr>
              <a:t>2026-07-01—07-14</a:t>
            </a:r>
            <a:r>
              <a:rPr lang="zh-CN" altLang="en-US" sz="1600" b="1" dirty="0">
                <a:latin typeface="微软雅黑"/>
                <a:ea typeface="微软雅黑"/>
              </a:rPr>
              <a:t>，数据量 </a:t>
            </a:r>
            <a:r>
              <a:rPr sz="1600" b="1" dirty="0">
                <a:latin typeface="微软雅黑"/>
                <a:ea typeface="微软雅黑"/>
              </a:rPr>
              <a:t>8,790,513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887890"/>
            <a:ext cx="3622362" cy="104028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latin typeface="微软雅黑"/>
                <a:ea typeface="微软雅黑"/>
              </a:rPr>
              <a:t>• </a:t>
            </a:r>
            <a:r>
              <a:rPr sz="1600" b="0" dirty="0" err="1">
                <a:latin typeface="微软雅黑"/>
                <a:ea typeface="微软雅黑"/>
              </a:rPr>
              <a:t>输入：原始</a:t>
            </a:r>
            <a:r>
              <a:rPr sz="1600" b="0" dirty="0">
                <a:latin typeface="微软雅黑"/>
                <a:ea typeface="微软雅黑"/>
              </a:rPr>
              <a:t> Query + </a:t>
            </a:r>
            <a:r>
              <a:rPr sz="1600" b="0" dirty="0" err="1">
                <a:latin typeface="微软雅黑"/>
                <a:ea typeface="微软雅黑"/>
              </a:rPr>
              <a:t>用户位置</a:t>
            </a:r>
            <a:endParaRPr sz="1600" b="0" dirty="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latin typeface="微软雅黑"/>
                <a:ea typeface="微软雅黑"/>
              </a:rPr>
              <a:t>• </a:t>
            </a:r>
            <a:r>
              <a:rPr sz="1600" b="0" dirty="0" err="1">
                <a:latin typeface="微软雅黑"/>
                <a:ea typeface="微软雅黑"/>
              </a:rPr>
              <a:t>标签：最终发单</a:t>
            </a:r>
            <a:r>
              <a:rPr sz="1600" b="0" dirty="0">
                <a:latin typeface="微软雅黑"/>
                <a:ea typeface="微软雅黑"/>
              </a:rPr>
              <a:t> POI </a:t>
            </a:r>
            <a:r>
              <a:rPr sz="1600" b="0" dirty="0" err="1">
                <a:latin typeface="微软雅黑"/>
                <a:ea typeface="微软雅黑"/>
              </a:rPr>
              <a:t>的</a:t>
            </a:r>
            <a:r>
              <a:rPr sz="1600" b="0" dirty="0">
                <a:latin typeface="微软雅黑"/>
                <a:ea typeface="微软雅黑"/>
              </a:rPr>
              <a:t> Final PID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latin typeface="微软雅黑"/>
                <a:ea typeface="微软雅黑"/>
              </a:rPr>
              <a:t>• </a:t>
            </a:r>
            <a:r>
              <a:rPr sz="1600" b="0" dirty="0" err="1">
                <a:latin typeface="微软雅黑"/>
                <a:ea typeface="微软雅黑"/>
              </a:rPr>
              <a:t>按</a:t>
            </a:r>
            <a:r>
              <a:rPr sz="1600" b="0" dirty="0">
                <a:latin typeface="微软雅黑"/>
                <a:ea typeface="微软雅黑"/>
              </a:rPr>
              <a:t> </a:t>
            </a:r>
            <a:r>
              <a:rPr sz="1600" b="0" dirty="0" err="1">
                <a:latin typeface="微软雅黑"/>
                <a:ea typeface="微软雅黑"/>
              </a:rPr>
              <a:t>create_time</a:t>
            </a:r>
            <a:r>
              <a:rPr sz="1600" b="0" dirty="0">
                <a:latin typeface="微软雅黑"/>
                <a:ea typeface="微软雅黑"/>
              </a:rPr>
              <a:t> </a:t>
            </a:r>
            <a:r>
              <a:rPr sz="1600" b="0" dirty="0" err="1">
                <a:latin typeface="微软雅黑"/>
                <a:ea typeface="微软雅黑"/>
              </a:rPr>
              <a:t>时间切分</a:t>
            </a:r>
            <a:endParaRPr sz="1600" b="0" dirty="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latin typeface="微软雅黑"/>
                <a:ea typeface="微软雅黑"/>
              </a:rPr>
              <a:t>• </a:t>
            </a:r>
            <a:r>
              <a:rPr sz="1600" b="0" dirty="0" err="1">
                <a:latin typeface="微软雅黑"/>
                <a:ea typeface="微软雅黑"/>
              </a:rPr>
              <a:t>唯一目标</a:t>
            </a:r>
            <a:r>
              <a:rPr sz="1600" b="0" dirty="0">
                <a:latin typeface="微软雅黑"/>
                <a:ea typeface="微软雅黑"/>
              </a:rPr>
              <a:t> POI：520,333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9B28CC5-18E8-D5BE-CC92-3FE815D23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12" y="3150439"/>
            <a:ext cx="4204461" cy="353614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A8986DD-1FC6-8964-35F8-2C0877245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986" y="3043142"/>
            <a:ext cx="3582876" cy="36373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Embedding </a:t>
            </a:r>
            <a:r>
              <a:rPr sz="2800" b="1" dirty="0" err="1">
                <a:solidFill>
                  <a:srgbClr val="FFFFFF"/>
                </a:solidFill>
                <a:latin typeface="微软雅黑"/>
                <a:ea typeface="微软雅黑"/>
              </a:rPr>
              <a:t>构建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3489481"/>
            <a:ext cx="3547872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r>
              <a:rPr lang="zh-CN" altLang="zh-CN" sz="2000" b="1" dirty="0">
                <a:latin typeface="微软雅黑"/>
                <a:ea typeface="微软雅黑"/>
              </a:rPr>
              <a:t>向量模型faiss召回性能评估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174159"/>
              </p:ext>
            </p:extLst>
          </p:nvPr>
        </p:nvGraphicFramePr>
        <p:xfrm>
          <a:off x="566928" y="4052124"/>
          <a:ext cx="11045946" cy="133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9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15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A3A6B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  <a:endParaRPr sz="1600" b="1" dirty="0">
                        <a:solidFill>
                          <a:srgbClr val="1A3A6B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A3A6B"/>
                          </a:solidFill>
                          <a:latin typeface="微软雅黑"/>
                          <a:ea typeface="微软雅黑"/>
                        </a:rPr>
                        <a:t>Hit@1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A3A6B"/>
                          </a:solidFill>
                          <a:latin typeface="微软雅黑"/>
                          <a:ea typeface="微软雅黑"/>
                        </a:rPr>
                        <a:t>Hit@3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微软雅黑"/>
                          <a:ea typeface="微软雅黑"/>
                        </a:rPr>
                        <a:t>Hit@5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微软雅黑"/>
                          <a:ea typeface="微软雅黑"/>
                        </a:rPr>
                        <a:t>Hit@10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微软雅黑"/>
                          <a:ea typeface="微软雅黑"/>
                        </a:rPr>
                        <a:t>Hit@20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微软雅黑"/>
                          <a:ea typeface="微软雅黑"/>
                        </a:rPr>
                        <a:t>MRR@10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60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Qwen3-Embedding-0.6B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12.03%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19.09%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23.13%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28.25%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34.51%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16.6907%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52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Qwen3-Embedding-4B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9.72%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15.07%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17.63%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21.18%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25.12%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13.0759%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05540" y="5780836"/>
            <a:ext cx="10754169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dirty="0">
                <a:latin typeface="微软雅黑"/>
                <a:ea typeface="微软雅黑"/>
              </a:rPr>
              <a:t>结论：0.6B </a:t>
            </a:r>
            <a:r>
              <a:rPr sz="2000" b="1" dirty="0" err="1">
                <a:latin typeface="微软雅黑"/>
                <a:ea typeface="微软雅黑"/>
              </a:rPr>
              <a:t>整体召回更好且编码成本更低，作为</a:t>
            </a:r>
            <a:r>
              <a:rPr lang="zh-CN" altLang="en-US" sz="2000" b="1" dirty="0">
                <a:latin typeface="微软雅黑"/>
                <a:ea typeface="微软雅黑"/>
              </a:rPr>
              <a:t> </a:t>
            </a:r>
            <a:r>
              <a:rPr sz="2000" b="1" dirty="0">
                <a:latin typeface="微软雅黑"/>
                <a:ea typeface="微软雅黑"/>
              </a:rPr>
              <a:t>SID </a:t>
            </a:r>
            <a:r>
              <a:rPr lang="zh-CN" altLang="en-US" sz="2000" b="1" dirty="0">
                <a:latin typeface="微软雅黑"/>
                <a:ea typeface="微软雅黑"/>
              </a:rPr>
              <a:t>向量</a:t>
            </a:r>
            <a:r>
              <a:rPr sz="2000" b="1" dirty="0" err="1">
                <a:latin typeface="微软雅黑"/>
                <a:ea typeface="微软雅黑"/>
              </a:rPr>
              <a:t>输入</a:t>
            </a:r>
            <a:r>
              <a:rPr lang="zh-CN" altLang="en-US" sz="2000" b="1" dirty="0">
                <a:latin typeface="微软雅黑"/>
                <a:ea typeface="微软雅黑"/>
              </a:rPr>
              <a:t>，后续还需对比其他向量模型</a:t>
            </a:r>
            <a:endParaRPr sz="2000" b="1" dirty="0">
              <a:latin typeface="微软雅黑"/>
              <a:ea typeface="微软雅黑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B4D96C5-54B7-235B-3CCE-F81498352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927" y="906387"/>
            <a:ext cx="6959600" cy="22606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790DCFC-1FE7-FA5B-025D-563B801333EF}"/>
              </a:ext>
            </a:extLst>
          </p:cNvPr>
          <p:cNvSpPr txBox="1"/>
          <p:nvPr/>
        </p:nvSpPr>
        <p:spPr>
          <a:xfrm>
            <a:off x="403269" y="1328548"/>
            <a:ext cx="36264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用模型推理所有poi的embedding，faiss构建向量索引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用户的query去检索，看返回的topk是否命中点击的poi。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Embedding </a:t>
            </a:r>
            <a:r>
              <a:rPr sz="2800" b="1" dirty="0" err="1">
                <a:solidFill>
                  <a:srgbClr val="FFFFFF"/>
                </a:solidFill>
                <a:latin typeface="微软雅黑"/>
                <a:ea typeface="微软雅黑"/>
              </a:rPr>
              <a:t>结果分析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505107"/>
            <a:ext cx="621792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latin typeface="微软雅黑"/>
                <a:ea typeface="微软雅黑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7494"/>
            <a:ext cx="438912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dirty="0">
                <a:latin typeface="微软雅黑"/>
                <a:ea typeface="微软雅黑"/>
              </a:rPr>
              <a:t>Query </a:t>
            </a:r>
            <a:r>
              <a:rPr sz="2000" b="1" dirty="0" err="1">
                <a:latin typeface="微软雅黑"/>
                <a:ea typeface="微软雅黑"/>
              </a:rPr>
              <a:t>长度分桶</a:t>
            </a:r>
            <a:endParaRPr sz="2000" b="1" dirty="0">
              <a:latin typeface="微软雅黑"/>
              <a:ea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084342"/>
              </p:ext>
            </p:extLst>
          </p:nvPr>
        </p:nvGraphicFramePr>
        <p:xfrm>
          <a:off x="566928" y="1325880"/>
          <a:ext cx="11073384" cy="183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3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2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3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61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Query 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长度</a:t>
                      </a:r>
                      <a:endParaRPr sz="14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样本数</a:t>
                      </a:r>
                      <a:endParaRPr sz="14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0.6B Hit@1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0.6B Hit@10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4B Hit@1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4B Hit@10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1–2 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字</a:t>
                      </a:r>
                      <a:endParaRPr sz="14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2,927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0.92%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5.06%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0.51%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2.43%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3–5 字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4,552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8.88%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28.12%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6.30%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17.99%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1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6–10 字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1,796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27.56%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54.62%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23.16%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48.22%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1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&gt;10 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字</a:t>
                      </a:r>
                      <a:endParaRPr sz="14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725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38.21%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57.38%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35.03%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49.93%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4">
            <a:extLst>
              <a:ext uri="{FF2B5EF4-FFF2-40B4-BE49-F238E27FC236}">
                <a16:creationId xmlns:a16="http://schemas.microsoft.com/office/drawing/2014/main" id="{4BF5F2B0-078C-6A93-699C-BD06A9C8B254}"/>
              </a:ext>
            </a:extLst>
          </p:cNvPr>
          <p:cNvSpPr txBox="1"/>
          <p:nvPr/>
        </p:nvSpPr>
        <p:spPr>
          <a:xfrm>
            <a:off x="566928" y="3301249"/>
            <a:ext cx="438912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2000" b="1" dirty="0">
                <a:latin typeface="微软雅黑"/>
                <a:ea typeface="微软雅黑"/>
              </a:rPr>
              <a:t>Case </a:t>
            </a:r>
            <a:r>
              <a:rPr lang="zh-CN" altLang="en-US" sz="2000" b="1" dirty="0">
                <a:latin typeface="微软雅黑"/>
                <a:ea typeface="微软雅黑"/>
              </a:rPr>
              <a:t>分析</a:t>
            </a:r>
            <a:endParaRPr sz="2000" b="1" dirty="0">
              <a:latin typeface="微软雅黑"/>
              <a:ea typeface="微软雅黑"/>
            </a:endParaRPr>
          </a:p>
        </p:txBody>
      </p:sp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7AE9D80F-3A2B-91ED-5C5D-476C8F974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809065"/>
              </p:ext>
            </p:extLst>
          </p:nvPr>
        </p:nvGraphicFramePr>
        <p:xfrm>
          <a:off x="566928" y="3805201"/>
          <a:ext cx="11055095" cy="261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3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9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Query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目标 POI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0.6B 排名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4B 排名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现象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双桥万达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万达广场（双桥店）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0.6B 主要返回双桥万达及其入口；4B Top-1 为“万达桥”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9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北京大学东门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北京大学-东门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4B 返回“小东门”等相近入口，没有准确匹配目标实体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9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九品烤鸭店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九品烤鸭店（角门店）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4B 更偏向“烤鸭京味”等语义相关餐饮 POI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9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国家博物馆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中国国家博物馆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4B 能较好处理简称与完整名称之间的对应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9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万寿路二十号院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万寿路20号院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4B 更好地处理中文数字与阿拉伯数字的归一化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626879"/>
                  </a:ext>
                </a:extLst>
              </a:tr>
              <a:tr h="3739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北京西站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北京西站-2F北进站口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Query 只指向主站，缺少入口粒度和位置条件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1833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RQ-VAE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944607"/>
            <a:ext cx="699516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endParaRPr lang="zh-CN" altLang="en-US" sz="1150" b="0" dirty="0">
              <a:solidFill>
                <a:srgbClr val="64748B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732586"/>
              </p:ext>
            </p:extLst>
          </p:nvPr>
        </p:nvGraphicFramePr>
        <p:xfrm>
          <a:off x="447295" y="1051559"/>
          <a:ext cx="11297410" cy="5347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0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8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54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码本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Epoch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重构余弦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相似度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Distinct SID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Colliding POI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P99 / Max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Prefix1 / 2 / 3 Micro Purity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256×3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80.36%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26.96%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88.81%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27 / 634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60.34 / 66.58 / 79.14%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256×3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80.46%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27.51%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88.41%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26 / 756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60.13 / 66.49 / 79.27%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256×3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80.57%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27.70%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88.22%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26 / 662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60.70 / 66.74 / 79.56%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256×3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80.58%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28.05%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87.96%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26 / 697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60.67 / 66.74 / 79.71%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512×3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83.00%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56.22%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60.89%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10 / 710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62.67 / 69.59 / 90.40%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512×3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83.03%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55.74%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61.41%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10 / 775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62.71 / 69.57 / 90.23%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512×3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83.03%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56.00%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61.12%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10 / 728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62.97 / 69.68 / 90.32%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512×3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83.03%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55.90%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61.22%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10 / 747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63.00 / 69.74 / 90.31%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1024×3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84.48%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68.53%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46.24%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7 / 322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65.25 / 73.05 / 93.77%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1024×3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84.50%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68.14%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46.70%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7 / 353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65.07 / 72.92 / 93.62%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1024×3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84.51%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68.46%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46.34%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7 / 367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65.37 / 73.09 / 93.73%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1024×3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84.51%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68.42%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46.39%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7 / 361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65.46 / 73.04 / 93.69%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SID </a:t>
            </a:r>
            <a:r>
              <a:rPr lang="zh-CN" altLang="en-US" sz="2800" dirty="0">
                <a:solidFill>
                  <a:srgbClr val="FFFFFF"/>
                </a:solidFill>
                <a:latin typeface="微软雅黑"/>
                <a:ea typeface="微软雅黑"/>
              </a:rPr>
              <a:t>碰撞分析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11</a:t>
            </a: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9D5153EB-92B9-A89A-8E8E-D348D7FB2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925761"/>
              </p:ext>
            </p:extLst>
          </p:nvPr>
        </p:nvGraphicFramePr>
        <p:xfrm>
          <a:off x="451025" y="955496"/>
          <a:ext cx="11289949" cy="5413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996">
                  <a:extLst>
                    <a:ext uri="{9D8B030D-6E8A-4147-A177-3AD203B41FA5}">
                      <a16:colId xmlns:a16="http://schemas.microsoft.com/office/drawing/2014/main" val="2399762133"/>
                    </a:ext>
                  </a:extLst>
                </a:gridCol>
                <a:gridCol w="701263">
                  <a:extLst>
                    <a:ext uri="{9D8B030D-6E8A-4147-A177-3AD203B41FA5}">
                      <a16:colId xmlns:a16="http://schemas.microsoft.com/office/drawing/2014/main" val="2532783110"/>
                    </a:ext>
                  </a:extLst>
                </a:gridCol>
                <a:gridCol w="1810797">
                  <a:extLst>
                    <a:ext uri="{9D8B030D-6E8A-4147-A177-3AD203B41FA5}">
                      <a16:colId xmlns:a16="http://schemas.microsoft.com/office/drawing/2014/main" val="2906014199"/>
                    </a:ext>
                  </a:extLst>
                </a:gridCol>
                <a:gridCol w="7240893">
                  <a:extLst>
                    <a:ext uri="{9D8B030D-6E8A-4147-A177-3AD203B41FA5}">
                      <a16:colId xmlns:a16="http://schemas.microsoft.com/office/drawing/2014/main" val="439139180"/>
                    </a:ext>
                  </a:extLst>
                </a:gridCol>
              </a:tblGrid>
              <a:tr h="3408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碰撞 SID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数量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核心碰撞模式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具体分析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843833"/>
                  </a:ext>
                </a:extLst>
              </a:tr>
              <a:tr h="5937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602-256-324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父子 POI 或入口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主要为京润水上花园别墅内部楼栋、分区、附属点和出入口，类别高度集中、地理位置接近，属于同一父实体下的细粒度 POI。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902283"/>
                  </a:ext>
                </a:extLst>
              </a:tr>
              <a:tr h="53596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165-984-903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262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数字门牌或地址模式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主要为白庙村相关街道、门牌和楼号，文本结构高度相似，差异在数字门牌及局部地址。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344257"/>
                  </a:ext>
                </a:extLst>
              </a:tr>
              <a:tr h="5055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647-412-971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泛化名称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主要为“断桥铝门窗”等品类或服务通名，分布在北京不同区域和独立商户。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57761"/>
                  </a:ext>
                </a:extLst>
              </a:tr>
              <a:tr h="50794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155-498-660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泛化名称</a:t>
                      </a:r>
                      <a:endParaRPr lang="zh-CN" sz="14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主要为不同地点的戴尔销售、售后及维修网点，各网点共享相似的品牌服务同名。</a:t>
                      </a:r>
                      <a:endParaRPr lang="zh-CN" sz="14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200835"/>
                  </a:ext>
                </a:extLst>
              </a:tr>
              <a:tr h="5116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786-238-675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泛化名称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主要为“重庆小面”等餐饮通名及变体，不同门店名称和类别高度相似，地理位置分散。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713445"/>
                  </a:ext>
                </a:extLst>
              </a:tr>
              <a:tr h="4381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430-480-593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同名连锁门店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主要为壳牌充电在不同地点的充电站，品牌和业务类型一致，但属于不同实体网点。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442459"/>
                  </a:ext>
                </a:extLst>
              </a:tr>
              <a:tr h="5154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782-140-746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同名连锁门店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主要为小铁 24 小时自助台球的不同门店，名称带不同门店后缀，品牌和类别高度一致。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731063"/>
                  </a:ext>
                </a:extLst>
              </a:tr>
              <a:tr h="5605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668-950-530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同名连锁门店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主要为华莱士不同门店，类别高度一致且位置分散，纯文本 SID 无法唯一确定具体门店。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65752"/>
                  </a:ext>
                </a:extLst>
              </a:tr>
              <a:tr h="562815"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555-412-1009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188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泛化名称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主要为“云南过桥米线”“过桥米线”等餐饮通名，在全市不同独立餐饮点重复使用。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636365"/>
                  </a:ext>
                </a:extLst>
              </a:tr>
              <a:tr h="3408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284-606-987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182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泛化名称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主要为“沙县小吃”等店型通名，不同经营主体在名称和类别上高度相似。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7988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PID</a:t>
            </a:r>
            <a:r>
              <a:rPr lang="zh-CN" altLang="en-US" sz="2800" b="1" dirty="0">
                <a:solidFill>
                  <a:srgbClr val="FFFFFF"/>
                </a:solidFill>
                <a:latin typeface="微软雅黑"/>
                <a:ea typeface="微软雅黑"/>
              </a:rPr>
              <a:t> 构建</a:t>
            </a:r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7" y="1058101"/>
            <a:ext cx="5429835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r>
              <a:rPr sz="2400" b="1" dirty="0">
                <a:latin typeface="微软雅黑"/>
                <a:ea typeface="微软雅黑"/>
              </a:rPr>
              <a:t>PID</a:t>
            </a:r>
            <a:r>
              <a:rPr lang="zh-CN" altLang="en-US" sz="2400" b="1" dirty="0">
                <a:latin typeface="微软雅黑"/>
                <a:ea typeface="微软雅黑"/>
              </a:rPr>
              <a:t> </a:t>
            </a:r>
            <a:r>
              <a:rPr lang="en-US" altLang="zh-CN" sz="2400" b="1" dirty="0">
                <a:latin typeface="微软雅黑"/>
                <a:ea typeface="微软雅黑"/>
              </a:rPr>
              <a:t>=</a:t>
            </a:r>
            <a:r>
              <a:rPr lang="zh-CN" altLang="en-US" sz="2400" b="1" dirty="0">
                <a:latin typeface="微软雅黑"/>
                <a:ea typeface="微软雅黑"/>
              </a:rPr>
              <a:t> </a:t>
            </a:r>
            <a:r>
              <a:rPr lang="en-US" altLang="zh-CN" sz="2400" b="1" dirty="0">
                <a:latin typeface="微软雅黑"/>
                <a:ea typeface="微软雅黑"/>
              </a:rPr>
              <a:t>GID</a:t>
            </a:r>
            <a:r>
              <a:rPr lang="zh-CN" altLang="en-US" sz="2400" b="1" dirty="0">
                <a:latin typeface="微软雅黑"/>
                <a:ea typeface="微软雅黑"/>
              </a:rPr>
              <a:t> </a:t>
            </a:r>
            <a:r>
              <a:rPr lang="en-US" altLang="zh-CN" sz="2400" b="1" dirty="0">
                <a:latin typeface="微软雅黑"/>
                <a:ea typeface="微软雅黑"/>
              </a:rPr>
              <a:t>+</a:t>
            </a:r>
            <a:r>
              <a:rPr lang="zh-CN" altLang="en-US" sz="2400" b="1" dirty="0">
                <a:latin typeface="微软雅黑"/>
                <a:ea typeface="微软雅黑"/>
              </a:rPr>
              <a:t> </a:t>
            </a:r>
            <a:r>
              <a:rPr lang="en-US" altLang="zh-CN" sz="2400" b="1" dirty="0">
                <a:latin typeface="微软雅黑"/>
                <a:ea typeface="微软雅黑"/>
              </a:rPr>
              <a:t>SID</a:t>
            </a:r>
            <a:r>
              <a:rPr lang="zh-CN" altLang="en-US" sz="2400" b="1" dirty="0">
                <a:latin typeface="微软雅黑"/>
                <a:ea typeface="微软雅黑"/>
              </a:rPr>
              <a:t>，码本</a:t>
            </a:r>
            <a:r>
              <a:rPr lang="en-US" altLang="zh-CN" sz="2400" b="1" dirty="0">
                <a:latin typeface="微软雅黑"/>
                <a:ea typeface="微软雅黑"/>
              </a:rPr>
              <a:t>1024×3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42427"/>
              </p:ext>
            </p:extLst>
          </p:nvPr>
        </p:nvGraphicFramePr>
        <p:xfrm>
          <a:off x="566927" y="1681674"/>
          <a:ext cx="10831175" cy="2099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7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7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85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984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ID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空间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Distinct count / ratio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Colliding POI / ratio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P50 / P90 / P95 / P99 / Max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84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Semantic SID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1,601,774 / 68.5345%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1,080,706 / 46.2398%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 / 2 / 3 / 7 / 322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84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Geohash6 + SID 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1,984,068 / 84.8916%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557,154 / 23.8387%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 / 2 / 2 / 4 / 322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148759"/>
            <a:ext cx="10451592" cy="197592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Top 20 碰撞中最大地理跨度为 0.793 km，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解决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跨区域同名热点的大规模碰撞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Geohash6 有效解决连锁门店、同名异地商户和分散设施的空间碰撞；剩余问题主要来自同一局部空间内的楼栋、门牌、入口、父子 POI 和近重复实体。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 Geohash6+SID 为碰撞 POI 分配Dedup Code，构建出唯一的 POI–PID 映射，PID 唯一率达到 100%，最大 Dedup Code 为 321。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b="1" dirty="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SFT </a:t>
            </a:r>
            <a:r>
              <a:rPr lang="zh-CN" altLang="en-US" sz="2800" b="1" dirty="0">
                <a:solidFill>
                  <a:srgbClr val="FFFFFF"/>
                </a:solidFill>
                <a:latin typeface="微软雅黑"/>
                <a:ea typeface="微软雅黑"/>
              </a:rPr>
              <a:t>训练</a:t>
            </a:r>
            <a:r>
              <a:rPr sz="2800" b="1" dirty="0" err="1">
                <a:solidFill>
                  <a:srgbClr val="FFFFFF"/>
                </a:solidFill>
                <a:latin typeface="微软雅黑"/>
                <a:ea typeface="微软雅黑"/>
              </a:rPr>
              <a:t>结果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A7CAA5-8AB3-6384-BAF5-06FDC54F51FF}"/>
              </a:ext>
            </a:extLst>
          </p:cNvPr>
          <p:cNvSpPr txBox="1"/>
          <p:nvPr/>
        </p:nvSpPr>
        <p:spPr>
          <a:xfrm>
            <a:off x="500333" y="1000948"/>
            <a:ext cx="10676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主任务基于 879 万条真实订单样本，按时间划分训练、验证和测试集，学习从 Query + 用户 GID6 到 PID 的直接生成映射。采用 Qwen3-0.6B 全参数 SFT，新增 3,620 个 POI 原子 Token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A575540-AF8D-F3B1-9F2C-C67C77E8B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165" y="2009456"/>
            <a:ext cx="8346557" cy="45833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Trie </a:t>
            </a:r>
            <a:r>
              <a:rPr sz="2800" b="1" dirty="0" err="1">
                <a:solidFill>
                  <a:srgbClr val="FFFFFF"/>
                </a:solidFill>
                <a:latin typeface="微软雅黑"/>
                <a:ea typeface="微软雅黑"/>
              </a:rPr>
              <a:t>约束生成式检索评测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931951"/>
              </p:ext>
            </p:extLst>
          </p:nvPr>
        </p:nvGraphicFramePr>
        <p:xfrm>
          <a:off x="566926" y="2991898"/>
          <a:ext cx="11045949" cy="203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1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1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13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13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78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Epoch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HR@1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HR@3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HR@5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HR@10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NDCG@1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NDCG@3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NDCG@5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NDCG@10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8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0.5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0.3444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0.5743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0.6472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0.7103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0.3444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0.4815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0.5116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0.5322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8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1.0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0.4119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0.6611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0.7368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0.7975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0.4119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0.5599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0.5912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0.6111</a:t>
                      </a:r>
                    </a:p>
                  </a:txBody>
                  <a:tcPr marL="41148" marR="41148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8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1.5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0.4457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0.6990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0.7750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0.8376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0.4457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0.5961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0.6274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0.6479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8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0.4577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0.7141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0.7878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0.8483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0.4577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0.6096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0.6402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0.6599</a:t>
                      </a:r>
                    </a:p>
                  </a:txBody>
                  <a:tcPr marL="41148" marR="41148" marT="18288" marB="18288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ounded Rectangle 34">
            <a:extLst>
              <a:ext uri="{FF2B5EF4-FFF2-40B4-BE49-F238E27FC236}">
                <a16:creationId xmlns:a16="http://schemas.microsoft.com/office/drawing/2014/main" id="{B7714079-E754-79E6-824B-431CCAF20111}"/>
              </a:ext>
            </a:extLst>
          </p:cNvPr>
          <p:cNvSpPr/>
          <p:nvPr/>
        </p:nvSpPr>
        <p:spPr>
          <a:xfrm>
            <a:off x="626469" y="5564650"/>
            <a:ext cx="10863072" cy="585216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</a:endParaRP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C4A6CADC-2DC0-EB8C-8BA5-4130B624EA54}"/>
              </a:ext>
            </a:extLst>
          </p:cNvPr>
          <p:cNvSpPr txBox="1"/>
          <p:nvPr/>
        </p:nvSpPr>
        <p:spPr>
          <a:xfrm>
            <a:off x="836781" y="5666615"/>
            <a:ext cx="1065276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Trie 约束已解决非法 PID 和重复候选问题，后续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重点</a:t>
            </a: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SI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预测准确率与 Beam 内候选排序</a:t>
            </a:r>
            <a:endParaRPr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B345C75-BD7B-9CCD-3D65-B860ECA1620C}"/>
              </a:ext>
            </a:extLst>
          </p:cNvPr>
          <p:cNvSpPr txBox="1"/>
          <p:nvPr/>
        </p:nvSpPr>
        <p:spPr>
          <a:xfrm>
            <a:off x="658368" y="1275260"/>
            <a:ext cx="101147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离线构建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PID Trie：将全部 PID 按 GID6 → SID3 → Dedup Token 写入前缀树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逐步约束解码：生成每个 token 时，仅保留当前 Trie 节点的合法子节点，其余 token 概率置零 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兼容两类 PID：单例 POI 在九层 SID 后结束；碰撞 POI 继续生成第十层 Dedup Token 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约束 Beam Search：Beam=10 只扩展合法前缀，确保所有候选均可映射到真实 POI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0"/>
            <a:ext cx="11567160" cy="758952"/>
          </a:xfrm>
        </p:spPr>
        <p:txBody>
          <a:bodyPr wrap="square" tIns="91440" bIns="9144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2800" b="1" noProof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900" b="1" noProof="1">
                <a:solidFill>
                  <a:srgbClr val="64748B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36405"/>
            <a:ext cx="324612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2000" b="1" noProof="1">
                <a:latin typeface="微软雅黑"/>
                <a:ea typeface="微软雅黑"/>
              </a:rPr>
              <a:t>完成工作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883664"/>
            <a:ext cx="3246120" cy="16989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342900" indent="-34290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noProof="1">
                <a:latin typeface="微软雅黑"/>
                <a:ea typeface="微软雅黑"/>
              </a:rPr>
              <a:t>北京 POI 与订单数据</a:t>
            </a:r>
          </a:p>
          <a:p>
            <a:pPr marL="342900" indent="-34290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noProof="1">
                <a:latin typeface="微软雅黑"/>
                <a:ea typeface="微软雅黑"/>
              </a:rPr>
              <a:t>0.6B</a:t>
            </a:r>
            <a:r>
              <a:rPr lang="en-US" altLang="zh-CN" b="0" noProof="1">
                <a:latin typeface="微软雅黑"/>
                <a:ea typeface="微软雅黑"/>
              </a:rPr>
              <a:t>/4B</a:t>
            </a:r>
            <a:r>
              <a:rPr lang="en-US" b="0" noProof="1">
                <a:latin typeface="微软雅黑"/>
                <a:ea typeface="微软雅黑"/>
              </a:rPr>
              <a:t> Embedding </a:t>
            </a:r>
          </a:p>
          <a:p>
            <a:pPr marL="342900" indent="-34290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noProof="1">
                <a:latin typeface="微软雅黑"/>
                <a:ea typeface="微软雅黑"/>
              </a:rPr>
              <a:t>RQ-VAE 1024×3 </a:t>
            </a:r>
          </a:p>
          <a:p>
            <a:pPr marL="342900" indent="-34290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noProof="1">
                <a:latin typeface="微软雅黑"/>
                <a:ea typeface="微软雅黑"/>
              </a:rPr>
              <a:t>GID6 + Dedup 唯一 PID</a:t>
            </a:r>
          </a:p>
          <a:p>
            <a:pPr marL="342900" indent="-34290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noProof="1">
                <a:latin typeface="微软雅黑"/>
                <a:ea typeface="微软雅黑"/>
              </a:rPr>
              <a:t>Qwen3-0.6B SFT</a:t>
            </a:r>
          </a:p>
          <a:p>
            <a:pPr marL="342900" indent="-34290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noProof="1">
                <a:latin typeface="微软雅黑"/>
                <a:ea typeface="微软雅黑"/>
              </a:rPr>
              <a:t>Trie 约束 Beam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9005" y="1336405"/>
            <a:ext cx="3401568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2000" b="1" noProof="1">
                <a:latin typeface="微软雅黑"/>
                <a:ea typeface="微软雅黑"/>
              </a:rPr>
              <a:t>当前问题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9005" y="1883664"/>
            <a:ext cx="3401568" cy="3360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SID/PID 同名连锁、门牌号、父子 POI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容易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发生碰撞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Dedup 去重后缀保证唯一，但缺少明确语义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训练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仅覆盖部分POI，长尾、新增和低频实体监督不足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当前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训练主要覆盖精确 Query，对纠错、省略、别名和复杂约束泛化有限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尚未充分评估 no-result、错误分桶、传统召回增量和长尾 POI 效果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50118" y="1336405"/>
            <a:ext cx="3346704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2000" b="1" noProof="1">
                <a:latin typeface="微软雅黑"/>
                <a:ea typeface="微软雅黑"/>
              </a:rPr>
              <a:t>后续优化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0118" y="1883664"/>
            <a:ext cx="3346704" cy="39149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引入品牌、门牌、父子关系和多尺度地理信息，提升实体区分能力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补充长尾 POI、别名、纠错、省略和地址变体等训练样本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扩展训练任务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联合 Query-to-PID、POI-to-PID 和类别前缀等辅助目标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完善约束解码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结合空间、类别和实体关系动态剪枝 Trie，提高候选有效性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推进奖励优化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在 SFT 稳定后，引入命中、合法性、空间一致性和属性满足度奖励</a:t>
            </a:r>
            <a:endParaRPr lang="en-US" noProof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RkYTBlMGFkODI3ZDFhOWRjMTg5ZjcxNDZhYWMw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3630</TotalTime>
  <Words>2141</Words>
  <Application>Microsoft Macintosh PowerPoint</Application>
  <PresentationFormat>宽屏</PresentationFormat>
  <Paragraphs>477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微软雅黑</vt:lpstr>
      <vt:lpstr>微软雅黑</vt:lpstr>
      <vt:lpstr>Noto Sans CJK SC</vt:lpstr>
      <vt:lpstr>Arial</vt:lpstr>
      <vt:lpstr>Calibri</vt:lpstr>
      <vt:lpstr>Times New Roman</vt:lpstr>
      <vt:lpstr>Office Theme</vt:lpstr>
      <vt:lpstr>PowerPoint 演示文稿</vt:lpstr>
      <vt:lpstr>生成式检索</vt:lpstr>
      <vt:lpstr>项目背景</vt:lpstr>
      <vt:lpstr>问题定位</vt:lpstr>
      <vt:lpstr>项目目标</vt:lpstr>
      <vt:lpstr>初步方案</vt:lpstr>
      <vt:lpstr>评测方案</vt:lpstr>
      <vt:lpstr>数据集</vt:lpstr>
      <vt:lpstr>Embedding 构建</vt:lpstr>
      <vt:lpstr>Embedding 结果分析</vt:lpstr>
      <vt:lpstr>RQ-VAE </vt:lpstr>
      <vt:lpstr>SID 碰撞分析</vt:lpstr>
      <vt:lpstr>PID 构建 </vt:lpstr>
      <vt:lpstr>SFT 训练结果</vt:lpstr>
      <vt:lpstr>Trie 约束生成式检索评测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 POI 检索项目方案与实验进展（汇报版）</dc:title>
  <dc:subject>内容讲解与实验指标混合排版</dc:subject>
  <dc:creator>POI Generative Retrieval</dc:creator>
  <dc:description>generated using python-pptx</dc:description>
  <cp:lastModifiedBy>didi</cp:lastModifiedBy>
  <cp:revision>327</cp:revision>
  <dcterms:created xsi:type="dcterms:W3CDTF">2013-01-27T09:14:00Z</dcterms:created>
  <dcterms:modified xsi:type="dcterms:W3CDTF">2026-07-28T02:25:43Z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DE24D9AFC49D4824B665D83DF2C9688F_13</vt:lpwstr>
  </property>
  <property fmtid="{D5CDD505-2E9C-101B-9397-08002B2CF9AE}" pid="3" name="KSOProductBuildVer">
    <vt:lpwstr>2052-12.1.0.17827</vt:lpwstr>
  </property>
</Properties>
</file>